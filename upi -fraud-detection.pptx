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122.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4" r:id="rId16"/>
    <p:sldId id="271" r:id="rId17"/>
    <p:sldId id="272" r:id="rId18"/>
    <p:sldId id="273" r:id="rId19"/>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1" d="100"/>
          <a:sy n="51" d="100"/>
        </p:scale>
        <p:origin x="844"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7T05:58:56.962"/>
    </inkml:context>
    <inkml:brush xml:id="br0">
      <inkml:brushProperty name="width" value="0.1" units="cm"/>
      <inkml:brushProperty name="height" value="0.1" units="cm"/>
      <inkml:brushProperty name="color" value="#849398"/>
      <inkml:brushProperty name="ignorePressure" value="1"/>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7T05:59:18.004"/>
    </inkml:context>
    <inkml:brush xml:id="br0">
      <inkml:brushProperty name="width" value="0.1" units="cm"/>
      <inkml:brushProperty name="height" value="0.1" units="cm"/>
      <inkml:brushProperty name="color" value="#849398"/>
      <inkml:brushProperty name="ignorePressure" value="1"/>
    </inkml:brush>
  </inkml:definitions>
  <inkml:trace contextRef="#ctx0" brushRef="#br0">1 0,'0'3551,"0"-3529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7T05:59:21.726"/>
    </inkml:context>
    <inkml:brush xml:id="br0">
      <inkml:brushProperty name="width" value="0.1" units="cm"/>
      <inkml:brushProperty name="height" value="0.1" units="cm"/>
      <inkml:brushProperty name="color" value="#849398"/>
      <inkml:brushProperty name="ignorePressure" value="1"/>
    </inkml:brush>
  </inkml:definitions>
  <inkml:trace contextRef="#ctx0" brushRef="#br0">1 0,'0'3423,"0"-3393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6E35A36E-DD76-41FE-B981-DA4498154ED5}" type="datetimeFigureOut">
              <a:rPr lang="en-IN" smtClean="0"/>
              <a:t>17-11-2025</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4A73BA71-B575-4232-B70F-A37E86EA0DCD}" type="slidenum">
              <a:rPr lang="en-IN" smtClean="0"/>
              <a:t>‹#›</a:t>
            </a:fld>
            <a:endParaRPr lang="en-IN"/>
          </a:p>
        </p:txBody>
      </p:sp>
    </p:spTree>
    <p:extLst>
      <p:ext uri="{BB962C8B-B14F-4D97-AF65-F5344CB8AC3E}">
        <p14:creationId xmlns:p14="http://schemas.microsoft.com/office/powerpoint/2010/main" val="2076347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73BA71-B575-4232-B70F-A37E86EA0DCD}" type="slidenum">
              <a:rPr lang="en-IN" smtClean="0"/>
              <a:t>3</a:t>
            </a:fld>
            <a:endParaRPr lang="en-IN"/>
          </a:p>
        </p:txBody>
      </p:sp>
    </p:spTree>
    <p:extLst>
      <p:ext uri="{BB962C8B-B14F-4D97-AF65-F5344CB8AC3E}">
        <p14:creationId xmlns:p14="http://schemas.microsoft.com/office/powerpoint/2010/main" val="3390862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73BA71-B575-4232-B70F-A37E86EA0DCD}" type="slidenum">
              <a:rPr lang="en-IN" smtClean="0"/>
              <a:t>6</a:t>
            </a:fld>
            <a:endParaRPr lang="en-IN"/>
          </a:p>
        </p:txBody>
      </p:sp>
    </p:spTree>
    <p:extLst>
      <p:ext uri="{BB962C8B-B14F-4D97-AF65-F5344CB8AC3E}">
        <p14:creationId xmlns:p14="http://schemas.microsoft.com/office/powerpoint/2010/main" val="113694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73BA71-B575-4232-B70F-A37E86EA0DCD}" type="slidenum">
              <a:rPr lang="en-IN" smtClean="0"/>
              <a:t>10</a:t>
            </a:fld>
            <a:endParaRPr lang="en-IN"/>
          </a:p>
        </p:txBody>
      </p:sp>
    </p:spTree>
    <p:extLst>
      <p:ext uri="{BB962C8B-B14F-4D97-AF65-F5344CB8AC3E}">
        <p14:creationId xmlns:p14="http://schemas.microsoft.com/office/powerpoint/2010/main" val="873873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97280" y="2551176"/>
            <a:ext cx="12435840" cy="1728216"/>
          </a:xfrm>
          <a:prstGeom prst="rect">
            <a:avLst/>
          </a:prstGeom>
        </p:spPr>
        <p:txBody>
          <a:bodyPr wrap="square" lIns="0" tIns="0" rIns="0" bIns="0">
            <a:spAutoFit/>
          </a:bodyPr>
          <a:lstStyle>
            <a:lvl1pPr>
              <a:defRPr sz="3500" b="0" i="0">
                <a:solidFill>
                  <a:srgbClr val="EDADF6"/>
                </a:solidFill>
                <a:latin typeface="Calibri"/>
                <a:cs typeface="Calibri"/>
              </a:defRPr>
            </a:lvl1pPr>
          </a:lstStyle>
          <a:p>
            <a:endParaRPr/>
          </a:p>
        </p:txBody>
      </p:sp>
      <p:sp>
        <p:nvSpPr>
          <p:cNvPr id="3" name="Holder 3"/>
          <p:cNvSpPr>
            <a:spLocks noGrp="1"/>
          </p:cNvSpPr>
          <p:nvPr>
            <p:ph type="subTitle" idx="4"/>
          </p:nvPr>
        </p:nvSpPr>
        <p:spPr>
          <a:xfrm>
            <a:off x="2194560" y="4608576"/>
            <a:ext cx="10241280" cy="2057400"/>
          </a:xfrm>
          <a:prstGeom prst="rect">
            <a:avLst/>
          </a:prstGeom>
        </p:spPr>
        <p:txBody>
          <a:bodyPr wrap="square" lIns="0" tIns="0" rIns="0" bIns="0">
            <a:spAutoFit/>
          </a:bodyPr>
          <a:lstStyle>
            <a:lvl1pPr>
              <a:defRPr sz="2000" b="0" i="0">
                <a:solidFill>
                  <a:srgbClr val="E4DCE6"/>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rgbClr val="EDADF6"/>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000" b="0" i="0">
                <a:solidFill>
                  <a:srgbClr val="E4DCE6"/>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4630400" cy="8228965"/>
          </a:xfrm>
          <a:custGeom>
            <a:avLst/>
            <a:gdLst/>
            <a:ahLst/>
            <a:cxnLst/>
            <a:rect l="l" t="t" r="r" b="b"/>
            <a:pathLst>
              <a:path w="14630400" h="8228965">
                <a:moveTo>
                  <a:pt x="14630400" y="0"/>
                </a:moveTo>
                <a:lnTo>
                  <a:pt x="0" y="0"/>
                </a:lnTo>
                <a:lnTo>
                  <a:pt x="0" y="8228964"/>
                </a:lnTo>
                <a:lnTo>
                  <a:pt x="14630400" y="8228964"/>
                </a:lnTo>
                <a:lnTo>
                  <a:pt x="14630400" y="0"/>
                </a:lnTo>
                <a:close/>
              </a:path>
            </a:pathLst>
          </a:custGeom>
          <a:solidFill>
            <a:srgbClr val="090D3E"/>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2837794" y="7750816"/>
            <a:ext cx="1724660" cy="411351"/>
          </a:xfrm>
          <a:prstGeom prst="rect">
            <a:avLst/>
          </a:prstGeom>
        </p:spPr>
      </p:pic>
      <p:sp>
        <p:nvSpPr>
          <p:cNvPr id="2" name="Holder 2"/>
          <p:cNvSpPr>
            <a:spLocks noGrp="1"/>
          </p:cNvSpPr>
          <p:nvPr>
            <p:ph type="title"/>
          </p:nvPr>
        </p:nvSpPr>
        <p:spPr/>
        <p:txBody>
          <a:bodyPr lIns="0" tIns="0" rIns="0" bIns="0"/>
          <a:lstStyle>
            <a:lvl1pPr>
              <a:defRPr sz="3500" b="0" i="0">
                <a:solidFill>
                  <a:srgbClr val="EDADF6"/>
                </a:solidFill>
                <a:latin typeface="Calibri"/>
                <a:cs typeface="Calibri"/>
              </a:defRPr>
            </a:lvl1pPr>
          </a:lstStyle>
          <a:p>
            <a:endParaRPr/>
          </a:p>
        </p:txBody>
      </p:sp>
      <p:sp>
        <p:nvSpPr>
          <p:cNvPr id="3" name="Holder 3"/>
          <p:cNvSpPr>
            <a:spLocks noGrp="1"/>
          </p:cNvSpPr>
          <p:nvPr>
            <p:ph sz="half" idx="2"/>
          </p:nvPr>
        </p:nvSpPr>
        <p:spPr>
          <a:xfrm>
            <a:off x="731520" y="1892808"/>
            <a:ext cx="6364224" cy="543153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534656" y="1892808"/>
            <a:ext cx="6364224" cy="543153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4630400" cy="8228965"/>
          </a:xfrm>
          <a:custGeom>
            <a:avLst/>
            <a:gdLst/>
            <a:ahLst/>
            <a:cxnLst/>
            <a:rect l="l" t="t" r="r" b="b"/>
            <a:pathLst>
              <a:path w="14630400" h="8228965">
                <a:moveTo>
                  <a:pt x="14630400" y="0"/>
                </a:moveTo>
                <a:lnTo>
                  <a:pt x="0" y="0"/>
                </a:lnTo>
                <a:lnTo>
                  <a:pt x="0" y="8228964"/>
                </a:lnTo>
                <a:lnTo>
                  <a:pt x="14630400" y="8228964"/>
                </a:lnTo>
                <a:lnTo>
                  <a:pt x="14630400" y="0"/>
                </a:lnTo>
                <a:close/>
              </a:path>
            </a:pathLst>
          </a:custGeom>
          <a:solidFill>
            <a:srgbClr val="090D3E"/>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2837794" y="7750816"/>
            <a:ext cx="1724660" cy="411351"/>
          </a:xfrm>
          <a:prstGeom prst="rect">
            <a:avLst/>
          </a:prstGeom>
        </p:spPr>
      </p:pic>
      <p:sp>
        <p:nvSpPr>
          <p:cNvPr id="2" name="Holder 2"/>
          <p:cNvSpPr>
            <a:spLocks noGrp="1"/>
          </p:cNvSpPr>
          <p:nvPr>
            <p:ph type="title"/>
          </p:nvPr>
        </p:nvSpPr>
        <p:spPr/>
        <p:txBody>
          <a:bodyPr lIns="0" tIns="0" rIns="0" bIns="0"/>
          <a:lstStyle>
            <a:lvl1pPr>
              <a:defRPr sz="3500" b="0" i="0">
                <a:solidFill>
                  <a:srgbClr val="EDADF6"/>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4630400" cy="8228965"/>
          </a:xfrm>
          <a:custGeom>
            <a:avLst/>
            <a:gdLst/>
            <a:ahLst/>
            <a:cxnLst/>
            <a:rect l="l" t="t" r="r" b="b"/>
            <a:pathLst>
              <a:path w="14630400" h="8228965">
                <a:moveTo>
                  <a:pt x="14630400" y="0"/>
                </a:moveTo>
                <a:lnTo>
                  <a:pt x="0" y="0"/>
                </a:lnTo>
                <a:lnTo>
                  <a:pt x="0" y="8228964"/>
                </a:lnTo>
                <a:lnTo>
                  <a:pt x="14630400" y="8228964"/>
                </a:lnTo>
                <a:lnTo>
                  <a:pt x="14630400" y="0"/>
                </a:lnTo>
                <a:close/>
              </a:path>
            </a:pathLst>
          </a:custGeom>
          <a:solidFill>
            <a:srgbClr val="090D3E"/>
          </a:solidFill>
        </p:spPr>
        <p:txBody>
          <a:bodyPr wrap="square" lIns="0" tIns="0" rIns="0" bIns="0" rtlCol="0"/>
          <a:lstStyle/>
          <a:p>
            <a:endParaRPr/>
          </a:p>
        </p:txBody>
      </p:sp>
      <p:sp>
        <p:nvSpPr>
          <p:cNvPr id="2" name="Holder 2"/>
          <p:cNvSpPr>
            <a:spLocks noGrp="1"/>
          </p:cNvSpPr>
          <p:nvPr>
            <p:ph type="title"/>
          </p:nvPr>
        </p:nvSpPr>
        <p:spPr>
          <a:xfrm>
            <a:off x="522223" y="466421"/>
            <a:ext cx="11939015" cy="1748611"/>
          </a:xfrm>
          <a:prstGeom prst="rect">
            <a:avLst/>
          </a:prstGeom>
        </p:spPr>
        <p:txBody>
          <a:bodyPr wrap="square" lIns="0" tIns="0" rIns="0" bIns="0">
            <a:spAutoFit/>
          </a:bodyPr>
          <a:lstStyle>
            <a:lvl1pPr>
              <a:defRPr sz="3500" b="0" i="0">
                <a:solidFill>
                  <a:srgbClr val="EDADF6"/>
                </a:solidFill>
                <a:latin typeface="Calibri"/>
                <a:cs typeface="Calibri"/>
              </a:defRPr>
            </a:lvl1pPr>
          </a:lstStyle>
          <a:p>
            <a:endParaRPr/>
          </a:p>
        </p:txBody>
      </p:sp>
      <p:sp>
        <p:nvSpPr>
          <p:cNvPr id="3" name="Holder 3"/>
          <p:cNvSpPr>
            <a:spLocks noGrp="1"/>
          </p:cNvSpPr>
          <p:nvPr>
            <p:ph type="body" idx="1"/>
          </p:nvPr>
        </p:nvSpPr>
        <p:spPr>
          <a:xfrm>
            <a:off x="6394830" y="2298319"/>
            <a:ext cx="7121525" cy="4575175"/>
          </a:xfrm>
          <a:prstGeom prst="rect">
            <a:avLst/>
          </a:prstGeom>
        </p:spPr>
        <p:txBody>
          <a:bodyPr wrap="square" lIns="0" tIns="0" rIns="0" bIns="0">
            <a:spAutoFit/>
          </a:bodyPr>
          <a:lstStyle>
            <a:lvl1pPr>
              <a:defRPr sz="2000" b="0" i="0">
                <a:solidFill>
                  <a:srgbClr val="E4DCE6"/>
                </a:solidFill>
                <a:latin typeface="Calibri"/>
                <a:cs typeface="Calibri"/>
              </a:defRPr>
            </a:lvl1pPr>
          </a:lstStyle>
          <a:p>
            <a:endParaRPr/>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6" name="Holder 6"/>
          <p:cNvSpPr>
            <a:spLocks noGrp="1"/>
          </p:cNvSpPr>
          <p:nvPr>
            <p:ph type="sldNum" sz="quarter" idx="7"/>
          </p:nvPr>
        </p:nvSpPr>
        <p:spPr>
          <a:xfrm>
            <a:off x="10533888" y="7653528"/>
            <a:ext cx="3364992" cy="4114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2.xm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8.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1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6" Type="http://schemas.openxmlformats.org/officeDocument/2006/relationships/image" Target="../media/image50.png"/><Relationship Id="rId21" Type="http://schemas.openxmlformats.org/officeDocument/2006/relationships/image" Target="../media/image45.png"/><Relationship Id="rId42" Type="http://schemas.openxmlformats.org/officeDocument/2006/relationships/image" Target="../media/image66.png"/><Relationship Id="rId47" Type="http://schemas.openxmlformats.org/officeDocument/2006/relationships/image" Target="../media/image71.png"/><Relationship Id="rId63" Type="http://schemas.openxmlformats.org/officeDocument/2006/relationships/image" Target="../media/image87.png"/><Relationship Id="rId68" Type="http://schemas.openxmlformats.org/officeDocument/2006/relationships/image" Target="../media/image92.png"/><Relationship Id="rId16" Type="http://schemas.openxmlformats.org/officeDocument/2006/relationships/image" Target="../media/image40.png"/><Relationship Id="rId11" Type="http://schemas.openxmlformats.org/officeDocument/2006/relationships/image" Target="../media/image35.png"/><Relationship Id="rId32" Type="http://schemas.openxmlformats.org/officeDocument/2006/relationships/image" Target="../media/image56.png"/><Relationship Id="rId37" Type="http://schemas.openxmlformats.org/officeDocument/2006/relationships/image" Target="../media/image61.png"/><Relationship Id="rId53" Type="http://schemas.openxmlformats.org/officeDocument/2006/relationships/image" Target="../media/image77.png"/><Relationship Id="rId58" Type="http://schemas.openxmlformats.org/officeDocument/2006/relationships/image" Target="../media/image82.png"/><Relationship Id="rId74" Type="http://schemas.openxmlformats.org/officeDocument/2006/relationships/image" Target="../media/image98.png"/><Relationship Id="rId79" Type="http://schemas.openxmlformats.org/officeDocument/2006/relationships/image" Target="../media/image103.png"/><Relationship Id="rId5" Type="http://schemas.openxmlformats.org/officeDocument/2006/relationships/image" Target="../media/image29.png"/><Relationship Id="rId61" Type="http://schemas.openxmlformats.org/officeDocument/2006/relationships/image" Target="../media/image85.png"/><Relationship Id="rId19" Type="http://schemas.openxmlformats.org/officeDocument/2006/relationships/image" Target="../media/image43.png"/><Relationship Id="rId14" Type="http://schemas.openxmlformats.org/officeDocument/2006/relationships/image" Target="../media/image38.png"/><Relationship Id="rId22" Type="http://schemas.openxmlformats.org/officeDocument/2006/relationships/image" Target="../media/image46.png"/><Relationship Id="rId27" Type="http://schemas.openxmlformats.org/officeDocument/2006/relationships/image" Target="../media/image51.png"/><Relationship Id="rId30" Type="http://schemas.openxmlformats.org/officeDocument/2006/relationships/image" Target="../media/image54.png"/><Relationship Id="rId35" Type="http://schemas.openxmlformats.org/officeDocument/2006/relationships/image" Target="../media/image59.png"/><Relationship Id="rId43" Type="http://schemas.openxmlformats.org/officeDocument/2006/relationships/image" Target="../media/image67.png"/><Relationship Id="rId48" Type="http://schemas.openxmlformats.org/officeDocument/2006/relationships/image" Target="../media/image72.png"/><Relationship Id="rId56" Type="http://schemas.openxmlformats.org/officeDocument/2006/relationships/image" Target="../media/image80.png"/><Relationship Id="rId64" Type="http://schemas.openxmlformats.org/officeDocument/2006/relationships/image" Target="../media/image88.png"/><Relationship Id="rId69" Type="http://schemas.openxmlformats.org/officeDocument/2006/relationships/image" Target="../media/image93.png"/><Relationship Id="rId77" Type="http://schemas.openxmlformats.org/officeDocument/2006/relationships/image" Target="../media/image101.png"/><Relationship Id="rId8" Type="http://schemas.openxmlformats.org/officeDocument/2006/relationships/image" Target="../media/image32.png"/><Relationship Id="rId51" Type="http://schemas.openxmlformats.org/officeDocument/2006/relationships/image" Target="../media/image75.png"/><Relationship Id="rId72" Type="http://schemas.openxmlformats.org/officeDocument/2006/relationships/image" Target="../media/image96.png"/><Relationship Id="rId80" Type="http://schemas.openxmlformats.org/officeDocument/2006/relationships/image" Target="../media/image104.png"/><Relationship Id="rId3" Type="http://schemas.openxmlformats.org/officeDocument/2006/relationships/image" Target="../media/image28.png"/><Relationship Id="rId12" Type="http://schemas.openxmlformats.org/officeDocument/2006/relationships/image" Target="../media/image36.png"/><Relationship Id="rId17" Type="http://schemas.openxmlformats.org/officeDocument/2006/relationships/image" Target="../media/image41.png"/><Relationship Id="rId25" Type="http://schemas.openxmlformats.org/officeDocument/2006/relationships/image" Target="../media/image49.png"/><Relationship Id="rId33" Type="http://schemas.openxmlformats.org/officeDocument/2006/relationships/image" Target="../media/image57.png"/><Relationship Id="rId38" Type="http://schemas.openxmlformats.org/officeDocument/2006/relationships/image" Target="../media/image62.png"/><Relationship Id="rId46" Type="http://schemas.openxmlformats.org/officeDocument/2006/relationships/image" Target="../media/image70.png"/><Relationship Id="rId59" Type="http://schemas.openxmlformats.org/officeDocument/2006/relationships/image" Target="../media/image83.png"/><Relationship Id="rId67" Type="http://schemas.openxmlformats.org/officeDocument/2006/relationships/image" Target="../media/image91.png"/><Relationship Id="rId20" Type="http://schemas.openxmlformats.org/officeDocument/2006/relationships/image" Target="../media/image44.png"/><Relationship Id="rId41" Type="http://schemas.openxmlformats.org/officeDocument/2006/relationships/image" Target="../media/image65.png"/><Relationship Id="rId54" Type="http://schemas.openxmlformats.org/officeDocument/2006/relationships/image" Target="../media/image78.png"/><Relationship Id="rId62" Type="http://schemas.openxmlformats.org/officeDocument/2006/relationships/image" Target="../media/image86.png"/><Relationship Id="rId70" Type="http://schemas.openxmlformats.org/officeDocument/2006/relationships/image" Target="../media/image94.png"/><Relationship Id="rId75"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30.png"/><Relationship Id="rId15" Type="http://schemas.openxmlformats.org/officeDocument/2006/relationships/image" Target="../media/image39.png"/><Relationship Id="rId23" Type="http://schemas.openxmlformats.org/officeDocument/2006/relationships/image" Target="../media/image47.png"/><Relationship Id="rId28" Type="http://schemas.openxmlformats.org/officeDocument/2006/relationships/image" Target="../media/image52.png"/><Relationship Id="rId36" Type="http://schemas.openxmlformats.org/officeDocument/2006/relationships/image" Target="../media/image60.png"/><Relationship Id="rId49" Type="http://schemas.openxmlformats.org/officeDocument/2006/relationships/image" Target="../media/image73.png"/><Relationship Id="rId57" Type="http://schemas.openxmlformats.org/officeDocument/2006/relationships/image" Target="../media/image81.png"/><Relationship Id="rId10" Type="http://schemas.openxmlformats.org/officeDocument/2006/relationships/image" Target="../media/image34.png"/><Relationship Id="rId31" Type="http://schemas.openxmlformats.org/officeDocument/2006/relationships/image" Target="../media/image55.png"/><Relationship Id="rId44" Type="http://schemas.openxmlformats.org/officeDocument/2006/relationships/image" Target="../media/image68.png"/><Relationship Id="rId52" Type="http://schemas.openxmlformats.org/officeDocument/2006/relationships/image" Target="../media/image76.png"/><Relationship Id="rId60" Type="http://schemas.openxmlformats.org/officeDocument/2006/relationships/image" Target="../media/image84.png"/><Relationship Id="rId65" Type="http://schemas.openxmlformats.org/officeDocument/2006/relationships/image" Target="../media/image89.png"/><Relationship Id="rId73" Type="http://schemas.openxmlformats.org/officeDocument/2006/relationships/image" Target="../media/image97.png"/><Relationship Id="rId78" Type="http://schemas.openxmlformats.org/officeDocument/2006/relationships/image" Target="../media/image102.png"/><Relationship Id="rId81" Type="http://schemas.openxmlformats.org/officeDocument/2006/relationships/image" Target="../media/image105.png"/><Relationship Id="rId4" Type="http://schemas.openxmlformats.org/officeDocument/2006/relationships/image" Target="../media/image7.jpg"/><Relationship Id="rId9" Type="http://schemas.openxmlformats.org/officeDocument/2006/relationships/image" Target="../media/image33.png"/><Relationship Id="rId13" Type="http://schemas.openxmlformats.org/officeDocument/2006/relationships/image" Target="../media/image37.png"/><Relationship Id="rId18" Type="http://schemas.openxmlformats.org/officeDocument/2006/relationships/image" Target="../media/image42.png"/><Relationship Id="rId39" Type="http://schemas.openxmlformats.org/officeDocument/2006/relationships/image" Target="../media/image63.png"/><Relationship Id="rId34" Type="http://schemas.openxmlformats.org/officeDocument/2006/relationships/image" Target="../media/image58.png"/><Relationship Id="rId50" Type="http://schemas.openxmlformats.org/officeDocument/2006/relationships/image" Target="../media/image74.png"/><Relationship Id="rId55" Type="http://schemas.openxmlformats.org/officeDocument/2006/relationships/image" Target="../media/image79.png"/><Relationship Id="rId76" Type="http://schemas.openxmlformats.org/officeDocument/2006/relationships/image" Target="../media/image100.png"/><Relationship Id="rId7" Type="http://schemas.openxmlformats.org/officeDocument/2006/relationships/image" Target="../media/image31.png"/><Relationship Id="rId71" Type="http://schemas.openxmlformats.org/officeDocument/2006/relationships/image" Target="../media/image95.png"/><Relationship Id="rId2" Type="http://schemas.openxmlformats.org/officeDocument/2006/relationships/notesSlide" Target="../notesSlides/notesSlide3.xml"/><Relationship Id="rId29" Type="http://schemas.openxmlformats.org/officeDocument/2006/relationships/image" Target="../media/image53.png"/><Relationship Id="rId24" Type="http://schemas.openxmlformats.org/officeDocument/2006/relationships/image" Target="../media/image48.png"/><Relationship Id="rId40" Type="http://schemas.openxmlformats.org/officeDocument/2006/relationships/image" Target="../media/image64.png"/><Relationship Id="rId45" Type="http://schemas.openxmlformats.org/officeDocument/2006/relationships/image" Target="../media/image69.png"/><Relationship Id="rId66" Type="http://schemas.openxmlformats.org/officeDocument/2006/relationships/image" Target="../media/image90.png"/></Relationships>
</file>

<file path=ppt/slides/_rels/slide11.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111.svg"/><Relationship Id="rId5" Type="http://schemas.openxmlformats.org/officeDocument/2006/relationships/image" Target="../media/image110.png"/><Relationship Id="rId4" Type="http://schemas.openxmlformats.org/officeDocument/2006/relationships/image" Target="../media/image109.png"/></Relationships>
</file>

<file path=ppt/slides/_rels/slide1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20.png"/></Relationships>
</file>

<file path=ppt/slides/_rels/slide18.xml.rels><?xml version="1.0" encoding="UTF-8" standalone="yes"?>
<Relationships xmlns="http://schemas.openxmlformats.org/package/2006/relationships"><Relationship Id="rId2" Type="http://schemas.openxmlformats.org/officeDocument/2006/relationships/image" Target="../media/image122.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317318" rIns="0" bIns="0" rtlCol="0">
            <a:spAutoFit/>
          </a:bodyPr>
          <a:lstStyle/>
          <a:p>
            <a:pPr marL="5353050">
              <a:lnSpc>
                <a:spcPct val="100000"/>
              </a:lnSpc>
              <a:spcBef>
                <a:spcPts val="775"/>
              </a:spcBef>
            </a:pPr>
            <a:r>
              <a:rPr sz="4450" dirty="0"/>
              <a:t>UPI</a:t>
            </a:r>
            <a:r>
              <a:rPr sz="4450" spc="-45" dirty="0"/>
              <a:t> </a:t>
            </a:r>
            <a:r>
              <a:rPr sz="4450" dirty="0"/>
              <a:t>-</a:t>
            </a:r>
            <a:r>
              <a:rPr sz="4450" spc="-25" dirty="0"/>
              <a:t> </a:t>
            </a:r>
            <a:r>
              <a:rPr sz="4450" dirty="0"/>
              <a:t>FRAUD</a:t>
            </a:r>
            <a:r>
              <a:rPr sz="4450" spc="-30" dirty="0"/>
              <a:t> </a:t>
            </a:r>
            <a:r>
              <a:rPr sz="4450" spc="-10" dirty="0"/>
              <a:t>DETECTION</a:t>
            </a:r>
            <a:endParaRPr sz="4450"/>
          </a:p>
          <a:p>
            <a:pPr marL="5759450">
              <a:lnSpc>
                <a:spcPct val="100000"/>
              </a:lnSpc>
              <a:spcBef>
                <a:spcPts val="540"/>
              </a:spcBef>
            </a:pPr>
            <a:r>
              <a:rPr sz="3550" dirty="0"/>
              <a:t>Securing</a:t>
            </a:r>
            <a:r>
              <a:rPr sz="3550" spc="-65" dirty="0"/>
              <a:t> </a:t>
            </a:r>
            <a:r>
              <a:rPr sz="3550" dirty="0"/>
              <a:t>Digital</a:t>
            </a:r>
            <a:r>
              <a:rPr sz="3550" spc="-50" dirty="0"/>
              <a:t> </a:t>
            </a:r>
            <a:r>
              <a:rPr sz="3550" spc="-10" dirty="0"/>
              <a:t>Payments</a:t>
            </a:r>
            <a:r>
              <a:rPr sz="3550" spc="-50" dirty="0"/>
              <a:t> </a:t>
            </a:r>
            <a:r>
              <a:rPr sz="3550" dirty="0"/>
              <a:t>in</a:t>
            </a:r>
            <a:r>
              <a:rPr sz="3550" spc="-55" dirty="0"/>
              <a:t> </a:t>
            </a:r>
            <a:r>
              <a:rPr sz="3550" spc="-10" dirty="0"/>
              <a:t>India</a:t>
            </a:r>
            <a:endParaRPr sz="3550"/>
          </a:p>
        </p:txBody>
      </p:sp>
      <p:sp>
        <p:nvSpPr>
          <p:cNvPr id="4" name="object 4"/>
          <p:cNvSpPr txBox="1"/>
          <p:nvPr/>
        </p:nvSpPr>
        <p:spPr>
          <a:xfrm>
            <a:off x="5862954" y="2915538"/>
            <a:ext cx="2648585" cy="2723181"/>
          </a:xfrm>
          <a:prstGeom prst="rect">
            <a:avLst/>
          </a:prstGeom>
        </p:spPr>
        <p:txBody>
          <a:bodyPr vert="horz" wrap="square" lIns="0" tIns="12065" rIns="0" bIns="0" rtlCol="0">
            <a:spAutoFit/>
          </a:bodyPr>
          <a:lstStyle/>
          <a:p>
            <a:pPr marL="419100">
              <a:lnSpc>
                <a:spcPct val="100000"/>
              </a:lnSpc>
              <a:spcBef>
                <a:spcPts val="95"/>
              </a:spcBef>
            </a:pPr>
            <a:r>
              <a:rPr sz="2200" spc="-10" dirty="0">
                <a:solidFill>
                  <a:srgbClr val="E4DCE6"/>
                </a:solidFill>
                <a:latin typeface="Calibri"/>
                <a:cs typeface="Calibri"/>
              </a:rPr>
              <a:t>Presented</a:t>
            </a:r>
            <a:r>
              <a:rPr sz="2200" spc="-90" dirty="0">
                <a:solidFill>
                  <a:srgbClr val="E4DCE6"/>
                </a:solidFill>
                <a:latin typeface="Calibri"/>
                <a:cs typeface="Calibri"/>
              </a:rPr>
              <a:t> </a:t>
            </a:r>
            <a:r>
              <a:rPr sz="2200" spc="-25" dirty="0">
                <a:solidFill>
                  <a:srgbClr val="E4DCE6"/>
                </a:solidFill>
                <a:latin typeface="Calibri"/>
                <a:cs typeface="Calibri"/>
              </a:rPr>
              <a:t>By:</a:t>
            </a:r>
            <a:endParaRPr sz="2200" dirty="0">
              <a:latin typeface="Calibri"/>
              <a:cs typeface="Calibri"/>
            </a:endParaRPr>
          </a:p>
          <a:p>
            <a:pPr marL="417830" indent="-405130">
              <a:lnSpc>
                <a:spcPct val="100000"/>
              </a:lnSpc>
              <a:spcBef>
                <a:spcPts val="2420"/>
              </a:spcBef>
              <a:buChar char="•"/>
              <a:tabLst>
                <a:tab pos="417830" algn="l"/>
              </a:tabLst>
            </a:pPr>
            <a:r>
              <a:rPr sz="1750" dirty="0">
                <a:solidFill>
                  <a:srgbClr val="E4DCE6"/>
                </a:solidFill>
                <a:latin typeface="Calibri"/>
                <a:cs typeface="Calibri"/>
              </a:rPr>
              <a:t>A </a:t>
            </a:r>
            <a:r>
              <a:rPr sz="1750" spc="-10" dirty="0">
                <a:solidFill>
                  <a:srgbClr val="E4DCE6"/>
                </a:solidFill>
                <a:latin typeface="Calibri"/>
                <a:cs typeface="Calibri"/>
              </a:rPr>
              <a:t>Harshini-2203A52134</a:t>
            </a:r>
            <a:endParaRPr sz="1750" dirty="0">
              <a:latin typeface="Calibri"/>
              <a:cs typeface="Calibri"/>
            </a:endParaRPr>
          </a:p>
          <a:p>
            <a:pPr marL="417830" indent="-405130">
              <a:lnSpc>
                <a:spcPct val="100000"/>
              </a:lnSpc>
              <a:spcBef>
                <a:spcPts val="1380"/>
              </a:spcBef>
              <a:buChar char="•"/>
              <a:tabLst>
                <a:tab pos="417830" algn="l"/>
              </a:tabLst>
            </a:pPr>
            <a:r>
              <a:rPr sz="1750" dirty="0">
                <a:solidFill>
                  <a:srgbClr val="E4DCE6"/>
                </a:solidFill>
                <a:latin typeface="Calibri"/>
                <a:cs typeface="Calibri"/>
              </a:rPr>
              <a:t>G</a:t>
            </a:r>
            <a:r>
              <a:rPr sz="1750" spc="-35" dirty="0">
                <a:solidFill>
                  <a:srgbClr val="E4DCE6"/>
                </a:solidFill>
                <a:latin typeface="Calibri"/>
                <a:cs typeface="Calibri"/>
              </a:rPr>
              <a:t> </a:t>
            </a:r>
            <a:r>
              <a:rPr sz="1750" dirty="0">
                <a:solidFill>
                  <a:srgbClr val="E4DCE6"/>
                </a:solidFill>
                <a:latin typeface="Calibri"/>
                <a:cs typeface="Calibri"/>
              </a:rPr>
              <a:t>Jeevan</a:t>
            </a:r>
            <a:r>
              <a:rPr sz="1750" spc="-25" dirty="0">
                <a:solidFill>
                  <a:srgbClr val="E4DCE6"/>
                </a:solidFill>
                <a:latin typeface="Calibri"/>
                <a:cs typeface="Calibri"/>
              </a:rPr>
              <a:t> </a:t>
            </a:r>
            <a:r>
              <a:rPr sz="1750" dirty="0">
                <a:solidFill>
                  <a:srgbClr val="E4DCE6"/>
                </a:solidFill>
                <a:latin typeface="Calibri"/>
                <a:cs typeface="Calibri"/>
              </a:rPr>
              <a:t>-</a:t>
            </a:r>
            <a:r>
              <a:rPr sz="1750" spc="-30" dirty="0">
                <a:solidFill>
                  <a:srgbClr val="E4DCE6"/>
                </a:solidFill>
                <a:latin typeface="Calibri"/>
                <a:cs typeface="Calibri"/>
              </a:rPr>
              <a:t> </a:t>
            </a:r>
            <a:r>
              <a:rPr sz="1750" spc="-10" dirty="0">
                <a:solidFill>
                  <a:srgbClr val="E4DCE6"/>
                </a:solidFill>
                <a:latin typeface="Calibri"/>
                <a:cs typeface="Calibri"/>
              </a:rPr>
              <a:t>2203A52150</a:t>
            </a:r>
            <a:endParaRPr lang="en-US" sz="1750" spc="-10" dirty="0">
              <a:solidFill>
                <a:srgbClr val="E4DCE6"/>
              </a:solidFill>
              <a:latin typeface="Calibri"/>
              <a:cs typeface="Calibri"/>
            </a:endParaRPr>
          </a:p>
          <a:p>
            <a:pPr marL="417830" indent="-405130">
              <a:spcBef>
                <a:spcPts val="1380"/>
              </a:spcBef>
              <a:buFontTx/>
              <a:buChar char="•"/>
              <a:tabLst>
                <a:tab pos="417830" algn="l"/>
              </a:tabLst>
            </a:pPr>
            <a:r>
              <a:rPr lang="en-US" sz="1750" dirty="0">
                <a:solidFill>
                  <a:srgbClr val="E4DCE6"/>
                </a:solidFill>
                <a:latin typeface="Calibri"/>
                <a:cs typeface="Calibri"/>
              </a:rPr>
              <a:t>B</a:t>
            </a:r>
            <a:r>
              <a:rPr lang="en-US" sz="1750" spc="-25" dirty="0">
                <a:solidFill>
                  <a:srgbClr val="E4DCE6"/>
                </a:solidFill>
                <a:latin typeface="Calibri"/>
                <a:cs typeface="Calibri"/>
              </a:rPr>
              <a:t> </a:t>
            </a:r>
            <a:r>
              <a:rPr lang="en-US" sz="1750" dirty="0" err="1">
                <a:solidFill>
                  <a:srgbClr val="E4DCE6"/>
                </a:solidFill>
                <a:latin typeface="Calibri"/>
                <a:cs typeface="Calibri"/>
              </a:rPr>
              <a:t>Manisai</a:t>
            </a:r>
            <a:r>
              <a:rPr lang="en-US" sz="1750" spc="-20" dirty="0">
                <a:solidFill>
                  <a:srgbClr val="E4DCE6"/>
                </a:solidFill>
                <a:latin typeface="Calibri"/>
                <a:cs typeface="Calibri"/>
              </a:rPr>
              <a:t> </a:t>
            </a:r>
            <a:r>
              <a:rPr lang="en-US" sz="1750" dirty="0">
                <a:solidFill>
                  <a:srgbClr val="E4DCE6"/>
                </a:solidFill>
                <a:latin typeface="Calibri"/>
                <a:cs typeface="Calibri"/>
              </a:rPr>
              <a:t>-</a:t>
            </a:r>
            <a:r>
              <a:rPr lang="en-US" sz="1750" spc="-25" dirty="0">
                <a:solidFill>
                  <a:srgbClr val="E4DCE6"/>
                </a:solidFill>
                <a:latin typeface="Calibri"/>
                <a:cs typeface="Calibri"/>
              </a:rPr>
              <a:t> </a:t>
            </a:r>
            <a:r>
              <a:rPr lang="en-US" sz="1750" spc="-10" dirty="0">
                <a:solidFill>
                  <a:srgbClr val="E4DCE6"/>
                </a:solidFill>
                <a:latin typeface="Calibri"/>
                <a:cs typeface="Calibri"/>
              </a:rPr>
              <a:t>2203A52136</a:t>
            </a:r>
            <a:endParaRPr lang="en-US" sz="1750" dirty="0">
              <a:latin typeface="Calibri"/>
              <a:cs typeface="Calibri"/>
            </a:endParaRPr>
          </a:p>
          <a:p>
            <a:pPr marL="417830" indent="-405130">
              <a:lnSpc>
                <a:spcPct val="100000"/>
              </a:lnSpc>
              <a:spcBef>
                <a:spcPts val="1365"/>
              </a:spcBef>
              <a:buChar char="•"/>
              <a:tabLst>
                <a:tab pos="417830" algn="l"/>
              </a:tabLst>
            </a:pPr>
            <a:r>
              <a:rPr sz="1750" dirty="0">
                <a:solidFill>
                  <a:srgbClr val="E4DCE6"/>
                </a:solidFill>
                <a:latin typeface="Calibri"/>
                <a:cs typeface="Calibri"/>
              </a:rPr>
              <a:t>S</a:t>
            </a:r>
            <a:r>
              <a:rPr sz="1750" spc="-30" dirty="0">
                <a:solidFill>
                  <a:srgbClr val="E4DCE6"/>
                </a:solidFill>
                <a:latin typeface="Calibri"/>
                <a:cs typeface="Calibri"/>
              </a:rPr>
              <a:t> </a:t>
            </a:r>
            <a:r>
              <a:rPr sz="1750" spc="-10" dirty="0">
                <a:solidFill>
                  <a:srgbClr val="E4DCE6"/>
                </a:solidFill>
                <a:latin typeface="Calibri"/>
                <a:cs typeface="Calibri"/>
              </a:rPr>
              <a:t>Pavan</a:t>
            </a:r>
            <a:r>
              <a:rPr sz="1750" spc="-35" dirty="0">
                <a:solidFill>
                  <a:srgbClr val="E4DCE6"/>
                </a:solidFill>
                <a:latin typeface="Calibri"/>
                <a:cs typeface="Calibri"/>
              </a:rPr>
              <a:t> </a:t>
            </a:r>
            <a:r>
              <a:rPr sz="1750" dirty="0">
                <a:solidFill>
                  <a:srgbClr val="E4DCE6"/>
                </a:solidFill>
                <a:latin typeface="Calibri"/>
                <a:cs typeface="Calibri"/>
              </a:rPr>
              <a:t>-</a:t>
            </a:r>
            <a:r>
              <a:rPr sz="1750" spc="-25" dirty="0">
                <a:solidFill>
                  <a:srgbClr val="E4DCE6"/>
                </a:solidFill>
                <a:latin typeface="Calibri"/>
                <a:cs typeface="Calibri"/>
              </a:rPr>
              <a:t> </a:t>
            </a:r>
            <a:r>
              <a:rPr sz="1750" spc="-10" dirty="0">
                <a:solidFill>
                  <a:srgbClr val="E4DCE6"/>
                </a:solidFill>
                <a:latin typeface="Calibri"/>
                <a:cs typeface="Calibri"/>
              </a:rPr>
              <a:t>2203A52177</a:t>
            </a:r>
            <a:endParaRPr sz="1750" dirty="0">
              <a:latin typeface="Calibri"/>
              <a:cs typeface="Calibri"/>
            </a:endParaRPr>
          </a:p>
          <a:p>
            <a:pPr marL="417830" indent="-405130">
              <a:lnSpc>
                <a:spcPct val="100000"/>
              </a:lnSpc>
              <a:spcBef>
                <a:spcPts val="1385"/>
              </a:spcBef>
              <a:buChar char="•"/>
              <a:tabLst>
                <a:tab pos="417830" algn="l"/>
              </a:tabLst>
            </a:pPr>
            <a:r>
              <a:rPr sz="1750" dirty="0">
                <a:solidFill>
                  <a:srgbClr val="E4DCE6"/>
                </a:solidFill>
                <a:latin typeface="Calibri"/>
                <a:cs typeface="Calibri"/>
              </a:rPr>
              <a:t>U</a:t>
            </a:r>
            <a:r>
              <a:rPr sz="1750" spc="-30" dirty="0">
                <a:solidFill>
                  <a:srgbClr val="E4DCE6"/>
                </a:solidFill>
                <a:latin typeface="Calibri"/>
                <a:cs typeface="Calibri"/>
              </a:rPr>
              <a:t> </a:t>
            </a:r>
            <a:r>
              <a:rPr sz="1750" dirty="0">
                <a:solidFill>
                  <a:srgbClr val="E4DCE6"/>
                </a:solidFill>
                <a:latin typeface="Calibri"/>
                <a:cs typeface="Calibri"/>
              </a:rPr>
              <a:t>Vignesh</a:t>
            </a:r>
            <a:r>
              <a:rPr sz="1750" spc="-25" dirty="0">
                <a:solidFill>
                  <a:srgbClr val="E4DCE6"/>
                </a:solidFill>
                <a:latin typeface="Calibri"/>
                <a:cs typeface="Calibri"/>
              </a:rPr>
              <a:t> </a:t>
            </a:r>
            <a:r>
              <a:rPr sz="1750" dirty="0">
                <a:solidFill>
                  <a:srgbClr val="E4DCE6"/>
                </a:solidFill>
                <a:latin typeface="Calibri"/>
                <a:cs typeface="Calibri"/>
              </a:rPr>
              <a:t>-</a:t>
            </a:r>
            <a:r>
              <a:rPr sz="1750" spc="-30" dirty="0">
                <a:solidFill>
                  <a:srgbClr val="E4DCE6"/>
                </a:solidFill>
                <a:latin typeface="Calibri"/>
                <a:cs typeface="Calibri"/>
              </a:rPr>
              <a:t> </a:t>
            </a:r>
            <a:r>
              <a:rPr sz="1750" spc="-10" dirty="0">
                <a:solidFill>
                  <a:srgbClr val="E4DCE6"/>
                </a:solidFill>
                <a:latin typeface="Calibri"/>
                <a:cs typeface="Calibri"/>
              </a:rPr>
              <a:t>2203A52184</a:t>
            </a:r>
            <a:endParaRPr sz="1750" dirty="0">
              <a:latin typeface="Calibri"/>
              <a:cs typeface="Calibri"/>
            </a:endParaRPr>
          </a:p>
        </p:txBody>
      </p:sp>
      <p:pic>
        <p:nvPicPr>
          <p:cNvPr id="5" name="object 5"/>
          <p:cNvPicPr/>
          <p:nvPr/>
        </p:nvPicPr>
        <p:blipFill>
          <a:blip r:embed="rId2" cstate="print"/>
          <a:stretch>
            <a:fillRect/>
          </a:stretch>
        </p:blipFill>
        <p:spPr>
          <a:xfrm>
            <a:off x="0" y="-1"/>
            <a:ext cx="5760719" cy="82295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746125" y="1488186"/>
            <a:ext cx="4243070" cy="5163185"/>
            <a:chOff x="746125" y="1488186"/>
            <a:chExt cx="4243070" cy="5163185"/>
          </a:xfrm>
        </p:grpSpPr>
        <p:sp>
          <p:nvSpPr>
            <p:cNvPr id="4" name="object 4"/>
            <p:cNvSpPr/>
            <p:nvPr/>
          </p:nvSpPr>
          <p:spPr>
            <a:xfrm>
              <a:off x="776605" y="1503426"/>
              <a:ext cx="4197350" cy="5132705"/>
            </a:xfrm>
            <a:custGeom>
              <a:avLst/>
              <a:gdLst/>
              <a:ahLst/>
              <a:cxnLst/>
              <a:rect l="l" t="t" r="r" b="b"/>
              <a:pathLst>
                <a:path w="4197350" h="5132705">
                  <a:moveTo>
                    <a:pt x="4050792" y="0"/>
                  </a:moveTo>
                  <a:lnTo>
                    <a:pt x="146316" y="0"/>
                  </a:lnTo>
                  <a:lnTo>
                    <a:pt x="100068" y="7461"/>
                  </a:lnTo>
                  <a:lnTo>
                    <a:pt x="59903" y="28236"/>
                  </a:lnTo>
                  <a:lnTo>
                    <a:pt x="28230" y="59911"/>
                  </a:lnTo>
                  <a:lnTo>
                    <a:pt x="7459" y="100071"/>
                  </a:lnTo>
                  <a:lnTo>
                    <a:pt x="0" y="146303"/>
                  </a:lnTo>
                  <a:lnTo>
                    <a:pt x="0" y="4986401"/>
                  </a:lnTo>
                  <a:lnTo>
                    <a:pt x="7459" y="5032633"/>
                  </a:lnTo>
                  <a:lnTo>
                    <a:pt x="28230" y="5072793"/>
                  </a:lnTo>
                  <a:lnTo>
                    <a:pt x="59903" y="5104468"/>
                  </a:lnTo>
                  <a:lnTo>
                    <a:pt x="100068" y="5125243"/>
                  </a:lnTo>
                  <a:lnTo>
                    <a:pt x="146316" y="5132705"/>
                  </a:lnTo>
                  <a:lnTo>
                    <a:pt x="4050792" y="5132705"/>
                  </a:lnTo>
                  <a:lnTo>
                    <a:pt x="4097024" y="5125243"/>
                  </a:lnTo>
                  <a:lnTo>
                    <a:pt x="4137184" y="5104468"/>
                  </a:lnTo>
                  <a:lnTo>
                    <a:pt x="4168859" y="5072793"/>
                  </a:lnTo>
                  <a:lnTo>
                    <a:pt x="4189634" y="5032633"/>
                  </a:lnTo>
                  <a:lnTo>
                    <a:pt x="4197096" y="4986401"/>
                  </a:lnTo>
                  <a:lnTo>
                    <a:pt x="4197096" y="146303"/>
                  </a:lnTo>
                  <a:lnTo>
                    <a:pt x="4189634" y="100071"/>
                  </a:lnTo>
                  <a:lnTo>
                    <a:pt x="4168859" y="59911"/>
                  </a:lnTo>
                  <a:lnTo>
                    <a:pt x="4137184" y="28236"/>
                  </a:lnTo>
                  <a:lnTo>
                    <a:pt x="4097024" y="7461"/>
                  </a:lnTo>
                  <a:lnTo>
                    <a:pt x="4050792" y="0"/>
                  </a:lnTo>
                  <a:close/>
                </a:path>
              </a:pathLst>
            </a:custGeom>
            <a:solidFill>
              <a:srgbClr val="090D3E"/>
            </a:solidFill>
          </p:spPr>
          <p:txBody>
            <a:bodyPr wrap="square" lIns="0" tIns="0" rIns="0" bIns="0" rtlCol="0"/>
            <a:lstStyle/>
            <a:p>
              <a:endParaRPr/>
            </a:p>
          </p:txBody>
        </p:sp>
        <p:sp>
          <p:nvSpPr>
            <p:cNvPr id="5" name="object 5"/>
            <p:cNvSpPr/>
            <p:nvPr/>
          </p:nvSpPr>
          <p:spPr>
            <a:xfrm>
              <a:off x="776605" y="1503426"/>
              <a:ext cx="4197350" cy="5132705"/>
            </a:xfrm>
            <a:custGeom>
              <a:avLst/>
              <a:gdLst/>
              <a:ahLst/>
              <a:cxnLst/>
              <a:rect l="l" t="t" r="r" b="b"/>
              <a:pathLst>
                <a:path w="4197350" h="5132705">
                  <a:moveTo>
                    <a:pt x="0" y="146303"/>
                  </a:moveTo>
                  <a:lnTo>
                    <a:pt x="7459" y="100071"/>
                  </a:lnTo>
                  <a:lnTo>
                    <a:pt x="28230" y="59911"/>
                  </a:lnTo>
                  <a:lnTo>
                    <a:pt x="59903" y="28236"/>
                  </a:lnTo>
                  <a:lnTo>
                    <a:pt x="100068" y="7461"/>
                  </a:lnTo>
                  <a:lnTo>
                    <a:pt x="146316" y="0"/>
                  </a:lnTo>
                  <a:lnTo>
                    <a:pt x="4050792" y="0"/>
                  </a:lnTo>
                  <a:lnTo>
                    <a:pt x="4097024" y="7461"/>
                  </a:lnTo>
                  <a:lnTo>
                    <a:pt x="4137184" y="28236"/>
                  </a:lnTo>
                  <a:lnTo>
                    <a:pt x="4168859" y="59911"/>
                  </a:lnTo>
                  <a:lnTo>
                    <a:pt x="4189634" y="100071"/>
                  </a:lnTo>
                  <a:lnTo>
                    <a:pt x="4197096" y="146303"/>
                  </a:lnTo>
                  <a:lnTo>
                    <a:pt x="4197096" y="4986401"/>
                  </a:lnTo>
                  <a:lnTo>
                    <a:pt x="4189634" y="5032633"/>
                  </a:lnTo>
                  <a:lnTo>
                    <a:pt x="4168859" y="5072793"/>
                  </a:lnTo>
                  <a:lnTo>
                    <a:pt x="4137184" y="5104468"/>
                  </a:lnTo>
                  <a:lnTo>
                    <a:pt x="4097024" y="5125243"/>
                  </a:lnTo>
                  <a:lnTo>
                    <a:pt x="4050792" y="5132705"/>
                  </a:lnTo>
                  <a:lnTo>
                    <a:pt x="146316" y="5132705"/>
                  </a:lnTo>
                  <a:lnTo>
                    <a:pt x="100068" y="5125243"/>
                  </a:lnTo>
                  <a:lnTo>
                    <a:pt x="59903" y="5104468"/>
                  </a:lnTo>
                  <a:lnTo>
                    <a:pt x="28230" y="5072793"/>
                  </a:lnTo>
                  <a:lnTo>
                    <a:pt x="7459" y="5032633"/>
                  </a:lnTo>
                  <a:lnTo>
                    <a:pt x="0" y="4986401"/>
                  </a:lnTo>
                  <a:lnTo>
                    <a:pt x="0" y="146303"/>
                  </a:lnTo>
                  <a:close/>
                </a:path>
              </a:pathLst>
            </a:custGeom>
            <a:ln w="30480">
              <a:solidFill>
                <a:srgbClr val="414677"/>
              </a:solidFill>
            </a:ln>
          </p:spPr>
          <p:txBody>
            <a:bodyPr wrap="square" lIns="0" tIns="0" rIns="0" bIns="0" rtlCol="0"/>
            <a:lstStyle/>
            <a:p>
              <a:endParaRPr/>
            </a:p>
          </p:txBody>
        </p:sp>
        <p:sp>
          <p:nvSpPr>
            <p:cNvPr id="6" name="object 6"/>
            <p:cNvSpPr/>
            <p:nvPr/>
          </p:nvSpPr>
          <p:spPr>
            <a:xfrm>
              <a:off x="746125" y="1503426"/>
              <a:ext cx="121920" cy="5132705"/>
            </a:xfrm>
            <a:custGeom>
              <a:avLst/>
              <a:gdLst/>
              <a:ahLst/>
              <a:cxnLst/>
              <a:rect l="l" t="t" r="r" b="b"/>
              <a:pathLst>
                <a:path w="121919" h="5132705">
                  <a:moveTo>
                    <a:pt x="60959" y="0"/>
                  </a:moveTo>
                  <a:lnTo>
                    <a:pt x="37231" y="4792"/>
                  </a:lnTo>
                  <a:lnTo>
                    <a:pt x="17854" y="17859"/>
                  </a:lnTo>
                  <a:lnTo>
                    <a:pt x="4790" y="37236"/>
                  </a:lnTo>
                  <a:lnTo>
                    <a:pt x="0" y="60959"/>
                  </a:lnTo>
                  <a:lnTo>
                    <a:pt x="0" y="5071745"/>
                  </a:lnTo>
                  <a:lnTo>
                    <a:pt x="4790" y="5095468"/>
                  </a:lnTo>
                  <a:lnTo>
                    <a:pt x="17854" y="5114845"/>
                  </a:lnTo>
                  <a:lnTo>
                    <a:pt x="37231" y="5127912"/>
                  </a:lnTo>
                  <a:lnTo>
                    <a:pt x="60959" y="5132705"/>
                  </a:lnTo>
                  <a:lnTo>
                    <a:pt x="84688" y="5127912"/>
                  </a:lnTo>
                  <a:lnTo>
                    <a:pt x="104065" y="5114845"/>
                  </a:lnTo>
                  <a:lnTo>
                    <a:pt x="117129" y="5095468"/>
                  </a:lnTo>
                  <a:lnTo>
                    <a:pt x="121919" y="5071745"/>
                  </a:lnTo>
                  <a:lnTo>
                    <a:pt x="121919" y="60959"/>
                  </a:lnTo>
                  <a:lnTo>
                    <a:pt x="117129" y="37236"/>
                  </a:lnTo>
                  <a:lnTo>
                    <a:pt x="104065" y="17859"/>
                  </a:lnTo>
                  <a:lnTo>
                    <a:pt x="84688" y="4792"/>
                  </a:lnTo>
                  <a:lnTo>
                    <a:pt x="60959" y="0"/>
                  </a:lnTo>
                  <a:close/>
                </a:path>
              </a:pathLst>
            </a:custGeom>
            <a:solidFill>
              <a:srgbClr val="EDADF6"/>
            </a:solidFill>
          </p:spPr>
          <p:txBody>
            <a:bodyPr wrap="square" lIns="0" tIns="0" rIns="0" bIns="0" rtlCol="0"/>
            <a:lstStyle/>
            <a:p>
              <a:endParaRPr/>
            </a:p>
          </p:txBody>
        </p:sp>
      </p:grpSp>
      <p:grpSp>
        <p:nvGrpSpPr>
          <p:cNvPr id="7" name="object 7"/>
          <p:cNvGrpSpPr/>
          <p:nvPr/>
        </p:nvGrpSpPr>
        <p:grpSpPr>
          <a:xfrm>
            <a:off x="5171821" y="1488186"/>
            <a:ext cx="4239895" cy="5163185"/>
            <a:chOff x="5171821" y="1488186"/>
            <a:chExt cx="4239895" cy="5163185"/>
          </a:xfrm>
        </p:grpSpPr>
        <p:sp>
          <p:nvSpPr>
            <p:cNvPr id="8" name="object 8"/>
            <p:cNvSpPr/>
            <p:nvPr/>
          </p:nvSpPr>
          <p:spPr>
            <a:xfrm>
              <a:off x="5202301" y="1503426"/>
              <a:ext cx="4194175" cy="5132705"/>
            </a:xfrm>
            <a:custGeom>
              <a:avLst/>
              <a:gdLst/>
              <a:ahLst/>
              <a:cxnLst/>
              <a:rect l="l" t="t" r="r" b="b"/>
              <a:pathLst>
                <a:path w="4194175" h="5132705">
                  <a:moveTo>
                    <a:pt x="4047871" y="0"/>
                  </a:moveTo>
                  <a:lnTo>
                    <a:pt x="146176" y="0"/>
                  </a:lnTo>
                  <a:lnTo>
                    <a:pt x="99958" y="7448"/>
                  </a:lnTo>
                  <a:lnTo>
                    <a:pt x="59829" y="28191"/>
                  </a:lnTo>
                  <a:lnTo>
                    <a:pt x="28191" y="59829"/>
                  </a:lnTo>
                  <a:lnTo>
                    <a:pt x="7448" y="99958"/>
                  </a:lnTo>
                  <a:lnTo>
                    <a:pt x="0" y="146176"/>
                  </a:lnTo>
                  <a:lnTo>
                    <a:pt x="0" y="4986528"/>
                  </a:lnTo>
                  <a:lnTo>
                    <a:pt x="7448" y="5032698"/>
                  </a:lnTo>
                  <a:lnTo>
                    <a:pt x="28191" y="5072820"/>
                  </a:lnTo>
                  <a:lnTo>
                    <a:pt x="59829" y="5104476"/>
                  </a:lnTo>
                  <a:lnTo>
                    <a:pt x="99958" y="5125244"/>
                  </a:lnTo>
                  <a:lnTo>
                    <a:pt x="146176" y="5132705"/>
                  </a:lnTo>
                  <a:lnTo>
                    <a:pt x="4047871" y="5132705"/>
                  </a:lnTo>
                  <a:lnTo>
                    <a:pt x="4094089" y="5125244"/>
                  </a:lnTo>
                  <a:lnTo>
                    <a:pt x="4134218" y="5104476"/>
                  </a:lnTo>
                  <a:lnTo>
                    <a:pt x="4165856" y="5072820"/>
                  </a:lnTo>
                  <a:lnTo>
                    <a:pt x="4186599" y="5032698"/>
                  </a:lnTo>
                  <a:lnTo>
                    <a:pt x="4194048" y="4986528"/>
                  </a:lnTo>
                  <a:lnTo>
                    <a:pt x="4194048" y="146176"/>
                  </a:lnTo>
                  <a:lnTo>
                    <a:pt x="4186599" y="99958"/>
                  </a:lnTo>
                  <a:lnTo>
                    <a:pt x="4165856" y="59829"/>
                  </a:lnTo>
                  <a:lnTo>
                    <a:pt x="4134218" y="28191"/>
                  </a:lnTo>
                  <a:lnTo>
                    <a:pt x="4094089" y="7448"/>
                  </a:lnTo>
                  <a:lnTo>
                    <a:pt x="4047871" y="0"/>
                  </a:lnTo>
                  <a:close/>
                </a:path>
              </a:pathLst>
            </a:custGeom>
            <a:solidFill>
              <a:srgbClr val="090D3E"/>
            </a:solidFill>
          </p:spPr>
          <p:txBody>
            <a:bodyPr wrap="square" lIns="0" tIns="0" rIns="0" bIns="0" rtlCol="0"/>
            <a:lstStyle/>
            <a:p>
              <a:endParaRPr/>
            </a:p>
          </p:txBody>
        </p:sp>
        <p:sp>
          <p:nvSpPr>
            <p:cNvPr id="9" name="object 9"/>
            <p:cNvSpPr/>
            <p:nvPr/>
          </p:nvSpPr>
          <p:spPr>
            <a:xfrm>
              <a:off x="5202301" y="1503426"/>
              <a:ext cx="4194175" cy="5132705"/>
            </a:xfrm>
            <a:custGeom>
              <a:avLst/>
              <a:gdLst/>
              <a:ahLst/>
              <a:cxnLst/>
              <a:rect l="l" t="t" r="r" b="b"/>
              <a:pathLst>
                <a:path w="4194175" h="5132705">
                  <a:moveTo>
                    <a:pt x="0" y="146176"/>
                  </a:moveTo>
                  <a:lnTo>
                    <a:pt x="7448" y="99958"/>
                  </a:lnTo>
                  <a:lnTo>
                    <a:pt x="28191" y="59829"/>
                  </a:lnTo>
                  <a:lnTo>
                    <a:pt x="59829" y="28191"/>
                  </a:lnTo>
                  <a:lnTo>
                    <a:pt x="99958" y="7448"/>
                  </a:lnTo>
                  <a:lnTo>
                    <a:pt x="146176" y="0"/>
                  </a:lnTo>
                  <a:lnTo>
                    <a:pt x="4047871" y="0"/>
                  </a:lnTo>
                  <a:lnTo>
                    <a:pt x="4094089" y="7448"/>
                  </a:lnTo>
                  <a:lnTo>
                    <a:pt x="4134218" y="28191"/>
                  </a:lnTo>
                  <a:lnTo>
                    <a:pt x="4165856" y="59829"/>
                  </a:lnTo>
                  <a:lnTo>
                    <a:pt x="4186599" y="99958"/>
                  </a:lnTo>
                  <a:lnTo>
                    <a:pt x="4194048" y="146176"/>
                  </a:lnTo>
                  <a:lnTo>
                    <a:pt x="4194048" y="4986528"/>
                  </a:lnTo>
                  <a:lnTo>
                    <a:pt x="4186599" y="5032698"/>
                  </a:lnTo>
                  <a:lnTo>
                    <a:pt x="4165856" y="5072820"/>
                  </a:lnTo>
                  <a:lnTo>
                    <a:pt x="4134218" y="5104476"/>
                  </a:lnTo>
                  <a:lnTo>
                    <a:pt x="4094089" y="5125244"/>
                  </a:lnTo>
                  <a:lnTo>
                    <a:pt x="4047871" y="5132705"/>
                  </a:lnTo>
                  <a:lnTo>
                    <a:pt x="146176" y="5132705"/>
                  </a:lnTo>
                  <a:lnTo>
                    <a:pt x="99958" y="5125244"/>
                  </a:lnTo>
                  <a:lnTo>
                    <a:pt x="59829" y="5104476"/>
                  </a:lnTo>
                  <a:lnTo>
                    <a:pt x="28191" y="5072820"/>
                  </a:lnTo>
                  <a:lnTo>
                    <a:pt x="7448" y="5032698"/>
                  </a:lnTo>
                  <a:lnTo>
                    <a:pt x="0" y="4986528"/>
                  </a:lnTo>
                  <a:lnTo>
                    <a:pt x="0" y="146176"/>
                  </a:lnTo>
                  <a:close/>
                </a:path>
              </a:pathLst>
            </a:custGeom>
            <a:ln w="30480">
              <a:solidFill>
                <a:srgbClr val="414677"/>
              </a:solidFill>
            </a:ln>
          </p:spPr>
          <p:txBody>
            <a:bodyPr wrap="square" lIns="0" tIns="0" rIns="0" bIns="0" rtlCol="0"/>
            <a:lstStyle/>
            <a:p>
              <a:endParaRPr/>
            </a:p>
          </p:txBody>
        </p:sp>
        <p:sp>
          <p:nvSpPr>
            <p:cNvPr id="10" name="object 10"/>
            <p:cNvSpPr/>
            <p:nvPr/>
          </p:nvSpPr>
          <p:spPr>
            <a:xfrm>
              <a:off x="5171821" y="1503426"/>
              <a:ext cx="121920" cy="5132705"/>
            </a:xfrm>
            <a:custGeom>
              <a:avLst/>
              <a:gdLst/>
              <a:ahLst/>
              <a:cxnLst/>
              <a:rect l="l" t="t" r="r" b="b"/>
              <a:pathLst>
                <a:path w="121920" h="5132705">
                  <a:moveTo>
                    <a:pt x="60959" y="0"/>
                  </a:moveTo>
                  <a:lnTo>
                    <a:pt x="37236" y="4792"/>
                  </a:lnTo>
                  <a:lnTo>
                    <a:pt x="17859" y="17859"/>
                  </a:lnTo>
                  <a:lnTo>
                    <a:pt x="4792" y="37236"/>
                  </a:lnTo>
                  <a:lnTo>
                    <a:pt x="0" y="60959"/>
                  </a:lnTo>
                  <a:lnTo>
                    <a:pt x="0" y="5071745"/>
                  </a:lnTo>
                  <a:lnTo>
                    <a:pt x="4792" y="5095468"/>
                  </a:lnTo>
                  <a:lnTo>
                    <a:pt x="17859" y="5114845"/>
                  </a:lnTo>
                  <a:lnTo>
                    <a:pt x="37236" y="5127912"/>
                  </a:lnTo>
                  <a:lnTo>
                    <a:pt x="60959" y="5132705"/>
                  </a:lnTo>
                  <a:lnTo>
                    <a:pt x="84683" y="5127912"/>
                  </a:lnTo>
                  <a:lnTo>
                    <a:pt x="104060" y="5114845"/>
                  </a:lnTo>
                  <a:lnTo>
                    <a:pt x="117127" y="5095468"/>
                  </a:lnTo>
                  <a:lnTo>
                    <a:pt x="121919" y="5071745"/>
                  </a:lnTo>
                  <a:lnTo>
                    <a:pt x="121919" y="60959"/>
                  </a:lnTo>
                  <a:lnTo>
                    <a:pt x="117127" y="37236"/>
                  </a:lnTo>
                  <a:lnTo>
                    <a:pt x="104060" y="17859"/>
                  </a:lnTo>
                  <a:lnTo>
                    <a:pt x="84683" y="4792"/>
                  </a:lnTo>
                  <a:lnTo>
                    <a:pt x="60959" y="0"/>
                  </a:lnTo>
                  <a:close/>
                </a:path>
              </a:pathLst>
            </a:custGeom>
            <a:solidFill>
              <a:srgbClr val="EDADF6"/>
            </a:solidFill>
          </p:spPr>
          <p:txBody>
            <a:bodyPr wrap="square" lIns="0" tIns="0" rIns="0" bIns="0" rtlCol="0"/>
            <a:lstStyle/>
            <a:p>
              <a:endParaRPr/>
            </a:p>
          </p:txBody>
        </p:sp>
      </p:grpSp>
      <p:grpSp>
        <p:nvGrpSpPr>
          <p:cNvPr id="11" name="object 11"/>
          <p:cNvGrpSpPr/>
          <p:nvPr/>
        </p:nvGrpSpPr>
        <p:grpSpPr>
          <a:xfrm>
            <a:off x="9594468" y="1488186"/>
            <a:ext cx="4243070" cy="5163185"/>
            <a:chOff x="9594468" y="1488186"/>
            <a:chExt cx="4243070" cy="5163185"/>
          </a:xfrm>
        </p:grpSpPr>
        <p:sp>
          <p:nvSpPr>
            <p:cNvPr id="12" name="object 12"/>
            <p:cNvSpPr/>
            <p:nvPr/>
          </p:nvSpPr>
          <p:spPr>
            <a:xfrm>
              <a:off x="9624948" y="1503426"/>
              <a:ext cx="4197350" cy="5132705"/>
            </a:xfrm>
            <a:custGeom>
              <a:avLst/>
              <a:gdLst/>
              <a:ahLst/>
              <a:cxnLst/>
              <a:rect l="l" t="t" r="r" b="b"/>
              <a:pathLst>
                <a:path w="4197350" h="5132705">
                  <a:moveTo>
                    <a:pt x="4050791" y="0"/>
                  </a:moveTo>
                  <a:lnTo>
                    <a:pt x="146303" y="0"/>
                  </a:lnTo>
                  <a:lnTo>
                    <a:pt x="100071" y="7461"/>
                  </a:lnTo>
                  <a:lnTo>
                    <a:pt x="59911" y="28236"/>
                  </a:lnTo>
                  <a:lnTo>
                    <a:pt x="28236" y="59911"/>
                  </a:lnTo>
                  <a:lnTo>
                    <a:pt x="7461" y="100071"/>
                  </a:lnTo>
                  <a:lnTo>
                    <a:pt x="0" y="146303"/>
                  </a:lnTo>
                  <a:lnTo>
                    <a:pt x="0" y="4986401"/>
                  </a:lnTo>
                  <a:lnTo>
                    <a:pt x="7461" y="5032633"/>
                  </a:lnTo>
                  <a:lnTo>
                    <a:pt x="28236" y="5072793"/>
                  </a:lnTo>
                  <a:lnTo>
                    <a:pt x="59911" y="5104468"/>
                  </a:lnTo>
                  <a:lnTo>
                    <a:pt x="100071" y="5125243"/>
                  </a:lnTo>
                  <a:lnTo>
                    <a:pt x="146303" y="5132705"/>
                  </a:lnTo>
                  <a:lnTo>
                    <a:pt x="4050791" y="5132705"/>
                  </a:lnTo>
                  <a:lnTo>
                    <a:pt x="4097024" y="5125243"/>
                  </a:lnTo>
                  <a:lnTo>
                    <a:pt x="4137184" y="5104468"/>
                  </a:lnTo>
                  <a:lnTo>
                    <a:pt x="4168859" y="5072793"/>
                  </a:lnTo>
                  <a:lnTo>
                    <a:pt x="4189634" y="5032633"/>
                  </a:lnTo>
                  <a:lnTo>
                    <a:pt x="4197095" y="4986401"/>
                  </a:lnTo>
                  <a:lnTo>
                    <a:pt x="4197095" y="146303"/>
                  </a:lnTo>
                  <a:lnTo>
                    <a:pt x="4189634" y="100071"/>
                  </a:lnTo>
                  <a:lnTo>
                    <a:pt x="4168859" y="59911"/>
                  </a:lnTo>
                  <a:lnTo>
                    <a:pt x="4137184" y="28236"/>
                  </a:lnTo>
                  <a:lnTo>
                    <a:pt x="4097024" y="7461"/>
                  </a:lnTo>
                  <a:lnTo>
                    <a:pt x="4050791" y="0"/>
                  </a:lnTo>
                  <a:close/>
                </a:path>
              </a:pathLst>
            </a:custGeom>
            <a:solidFill>
              <a:srgbClr val="090D3E"/>
            </a:solidFill>
          </p:spPr>
          <p:txBody>
            <a:bodyPr wrap="square" lIns="0" tIns="0" rIns="0" bIns="0" rtlCol="0"/>
            <a:lstStyle/>
            <a:p>
              <a:endParaRPr/>
            </a:p>
          </p:txBody>
        </p:sp>
        <p:sp>
          <p:nvSpPr>
            <p:cNvPr id="13" name="object 13"/>
            <p:cNvSpPr/>
            <p:nvPr/>
          </p:nvSpPr>
          <p:spPr>
            <a:xfrm>
              <a:off x="9624948" y="1503426"/>
              <a:ext cx="4197350" cy="5132705"/>
            </a:xfrm>
            <a:custGeom>
              <a:avLst/>
              <a:gdLst/>
              <a:ahLst/>
              <a:cxnLst/>
              <a:rect l="l" t="t" r="r" b="b"/>
              <a:pathLst>
                <a:path w="4197350" h="5132705">
                  <a:moveTo>
                    <a:pt x="0" y="146303"/>
                  </a:moveTo>
                  <a:lnTo>
                    <a:pt x="7461" y="100071"/>
                  </a:lnTo>
                  <a:lnTo>
                    <a:pt x="28236" y="59911"/>
                  </a:lnTo>
                  <a:lnTo>
                    <a:pt x="59911" y="28236"/>
                  </a:lnTo>
                  <a:lnTo>
                    <a:pt x="100071" y="7461"/>
                  </a:lnTo>
                  <a:lnTo>
                    <a:pt x="146303" y="0"/>
                  </a:lnTo>
                  <a:lnTo>
                    <a:pt x="4050791" y="0"/>
                  </a:lnTo>
                  <a:lnTo>
                    <a:pt x="4097024" y="7461"/>
                  </a:lnTo>
                  <a:lnTo>
                    <a:pt x="4137184" y="28236"/>
                  </a:lnTo>
                  <a:lnTo>
                    <a:pt x="4168859" y="59911"/>
                  </a:lnTo>
                  <a:lnTo>
                    <a:pt x="4189634" y="100071"/>
                  </a:lnTo>
                  <a:lnTo>
                    <a:pt x="4197095" y="146303"/>
                  </a:lnTo>
                  <a:lnTo>
                    <a:pt x="4197095" y="4986401"/>
                  </a:lnTo>
                  <a:lnTo>
                    <a:pt x="4189634" y="5032633"/>
                  </a:lnTo>
                  <a:lnTo>
                    <a:pt x="4168859" y="5072793"/>
                  </a:lnTo>
                  <a:lnTo>
                    <a:pt x="4137184" y="5104468"/>
                  </a:lnTo>
                  <a:lnTo>
                    <a:pt x="4097024" y="5125243"/>
                  </a:lnTo>
                  <a:lnTo>
                    <a:pt x="4050791" y="5132705"/>
                  </a:lnTo>
                  <a:lnTo>
                    <a:pt x="146303" y="5132705"/>
                  </a:lnTo>
                  <a:lnTo>
                    <a:pt x="100071" y="5125243"/>
                  </a:lnTo>
                  <a:lnTo>
                    <a:pt x="59911" y="5104468"/>
                  </a:lnTo>
                  <a:lnTo>
                    <a:pt x="28236" y="5072793"/>
                  </a:lnTo>
                  <a:lnTo>
                    <a:pt x="7461" y="5032633"/>
                  </a:lnTo>
                  <a:lnTo>
                    <a:pt x="0" y="4986401"/>
                  </a:lnTo>
                  <a:lnTo>
                    <a:pt x="0" y="146303"/>
                  </a:lnTo>
                  <a:close/>
                </a:path>
              </a:pathLst>
            </a:custGeom>
            <a:ln w="30480">
              <a:solidFill>
                <a:srgbClr val="414677"/>
              </a:solidFill>
            </a:ln>
          </p:spPr>
          <p:txBody>
            <a:bodyPr wrap="square" lIns="0" tIns="0" rIns="0" bIns="0" rtlCol="0"/>
            <a:lstStyle/>
            <a:p>
              <a:endParaRPr/>
            </a:p>
          </p:txBody>
        </p:sp>
        <p:sp>
          <p:nvSpPr>
            <p:cNvPr id="14" name="object 14"/>
            <p:cNvSpPr/>
            <p:nvPr/>
          </p:nvSpPr>
          <p:spPr>
            <a:xfrm>
              <a:off x="9594468" y="1503426"/>
              <a:ext cx="121920" cy="5132705"/>
            </a:xfrm>
            <a:custGeom>
              <a:avLst/>
              <a:gdLst/>
              <a:ahLst/>
              <a:cxnLst/>
              <a:rect l="l" t="t" r="r" b="b"/>
              <a:pathLst>
                <a:path w="121920" h="5132705">
                  <a:moveTo>
                    <a:pt x="60959" y="0"/>
                  </a:moveTo>
                  <a:lnTo>
                    <a:pt x="37236" y="4792"/>
                  </a:lnTo>
                  <a:lnTo>
                    <a:pt x="17859" y="17859"/>
                  </a:lnTo>
                  <a:lnTo>
                    <a:pt x="4792" y="37236"/>
                  </a:lnTo>
                  <a:lnTo>
                    <a:pt x="0" y="60959"/>
                  </a:lnTo>
                  <a:lnTo>
                    <a:pt x="0" y="5071745"/>
                  </a:lnTo>
                  <a:lnTo>
                    <a:pt x="4792" y="5095468"/>
                  </a:lnTo>
                  <a:lnTo>
                    <a:pt x="17859" y="5114845"/>
                  </a:lnTo>
                  <a:lnTo>
                    <a:pt x="37236" y="5127912"/>
                  </a:lnTo>
                  <a:lnTo>
                    <a:pt x="60959" y="5132705"/>
                  </a:lnTo>
                  <a:lnTo>
                    <a:pt x="84683" y="5127912"/>
                  </a:lnTo>
                  <a:lnTo>
                    <a:pt x="104060" y="5114845"/>
                  </a:lnTo>
                  <a:lnTo>
                    <a:pt x="117127" y="5095468"/>
                  </a:lnTo>
                  <a:lnTo>
                    <a:pt x="121920" y="5071745"/>
                  </a:lnTo>
                  <a:lnTo>
                    <a:pt x="121920" y="60959"/>
                  </a:lnTo>
                  <a:lnTo>
                    <a:pt x="117127" y="37236"/>
                  </a:lnTo>
                  <a:lnTo>
                    <a:pt x="104060" y="17859"/>
                  </a:lnTo>
                  <a:lnTo>
                    <a:pt x="84683" y="4792"/>
                  </a:lnTo>
                  <a:lnTo>
                    <a:pt x="60959" y="0"/>
                  </a:lnTo>
                  <a:close/>
                </a:path>
              </a:pathLst>
            </a:custGeom>
            <a:solidFill>
              <a:srgbClr val="EDADF6"/>
            </a:solidFill>
          </p:spPr>
          <p:txBody>
            <a:bodyPr wrap="square" lIns="0" tIns="0" rIns="0" bIns="0" rtlCol="0"/>
            <a:lstStyle/>
            <a:p>
              <a:endParaRPr/>
            </a:p>
          </p:txBody>
        </p:sp>
      </p:grpSp>
      <p:sp>
        <p:nvSpPr>
          <p:cNvPr id="15" name="object 15"/>
          <p:cNvSpPr txBox="1">
            <a:spLocks noGrp="1"/>
          </p:cNvSpPr>
          <p:nvPr>
            <p:ph type="title"/>
          </p:nvPr>
        </p:nvSpPr>
        <p:spPr>
          <a:xfrm>
            <a:off x="732852" y="304800"/>
            <a:ext cx="11078148" cy="1075359"/>
          </a:xfrm>
          <a:prstGeom prst="rect">
            <a:avLst/>
          </a:prstGeom>
        </p:spPr>
        <p:txBody>
          <a:bodyPr vert="horz" wrap="square" lIns="0" tIns="12700" rIns="0" bIns="0" rtlCol="0">
            <a:spAutoFit/>
          </a:bodyPr>
          <a:lstStyle/>
          <a:p>
            <a:pPr marL="18415" marR="5080" indent="-6350">
              <a:lnSpc>
                <a:spcPct val="107200"/>
              </a:lnSpc>
              <a:spcBef>
                <a:spcPts val="100"/>
              </a:spcBef>
            </a:pPr>
            <a:r>
              <a:rPr lang="en-US" sz="2200" dirty="0"/>
              <a:t>The</a:t>
            </a:r>
            <a:r>
              <a:rPr lang="en-US" sz="2200" spc="-25" dirty="0"/>
              <a:t> </a:t>
            </a:r>
            <a:r>
              <a:rPr lang="en-US" sz="2200" dirty="0"/>
              <a:t>Challenge</a:t>
            </a:r>
            <a:br>
              <a:rPr lang="en-US" sz="4450" dirty="0"/>
            </a:br>
            <a:r>
              <a:rPr lang="en-US" sz="4450" b="1" dirty="0">
                <a:latin typeface="Bricolage Grotesque Extra BoldBricolage Grotesque Extra Bold"/>
              </a:rPr>
              <a:t>The</a:t>
            </a:r>
            <a:r>
              <a:rPr lang="en-US" sz="4450" b="1" spc="-25" dirty="0">
                <a:latin typeface="Bricolage Grotesque Extra BoldBricolage Grotesque Extra Bold"/>
              </a:rPr>
              <a:t> </a:t>
            </a:r>
            <a:r>
              <a:rPr lang="en-US" sz="4450" b="1" dirty="0">
                <a:latin typeface="Bricolage Grotesque Extra BoldBricolage Grotesque Extra Bold"/>
              </a:rPr>
              <a:t>Problem:</a:t>
            </a:r>
            <a:r>
              <a:rPr lang="en-US" sz="4450" b="1" spc="-40" dirty="0">
                <a:latin typeface="Bricolage Grotesque Extra BoldBricolage Grotesque Extra Bold"/>
              </a:rPr>
              <a:t> </a:t>
            </a:r>
            <a:r>
              <a:rPr lang="en-US" sz="4450" b="1" dirty="0">
                <a:latin typeface="Bricolage Grotesque Extra BoldBricolage Grotesque Extra Bold"/>
              </a:rPr>
              <a:t>A</a:t>
            </a:r>
            <a:r>
              <a:rPr lang="en-US" sz="4450" b="1" spc="-30" dirty="0">
                <a:latin typeface="Bricolage Grotesque Extra BoldBricolage Grotesque Extra Bold"/>
              </a:rPr>
              <a:t> </a:t>
            </a:r>
            <a:r>
              <a:rPr lang="en-US" sz="4450" b="1" spc="-35" dirty="0">
                <a:latin typeface="Bricolage Grotesque Extra BoldBricolage Grotesque Extra Bold"/>
              </a:rPr>
              <a:t>Real-</a:t>
            </a:r>
            <a:r>
              <a:rPr lang="en-US" sz="4450" b="1" spc="-20" dirty="0">
                <a:latin typeface="Bricolage Grotesque Extra BoldBricolage Grotesque Extra Bold"/>
              </a:rPr>
              <a:t>World </a:t>
            </a:r>
            <a:r>
              <a:rPr lang="en-US" sz="4450" b="1" spc="-10" dirty="0">
                <a:latin typeface="Bricolage Grotesque Extra BoldBricolage Grotesque Extra Bold"/>
              </a:rPr>
              <a:t>Threat</a:t>
            </a:r>
            <a:endParaRPr sz="4450" b="1" dirty="0">
              <a:latin typeface="Bricolage Grotesque Extra BoldBricolage Grotesque Extra Bold"/>
            </a:endParaRPr>
          </a:p>
        </p:txBody>
      </p:sp>
      <p:sp>
        <p:nvSpPr>
          <p:cNvPr id="16" name="object 16"/>
          <p:cNvSpPr txBox="1"/>
          <p:nvPr/>
        </p:nvSpPr>
        <p:spPr>
          <a:xfrm>
            <a:off x="1121155" y="2048530"/>
            <a:ext cx="3557270" cy="3238500"/>
          </a:xfrm>
          <a:prstGeom prst="rect">
            <a:avLst/>
          </a:prstGeom>
        </p:spPr>
        <p:txBody>
          <a:bodyPr vert="horz" wrap="square" lIns="0" tIns="215265" rIns="0" bIns="0" rtlCol="0">
            <a:spAutoFit/>
          </a:bodyPr>
          <a:lstStyle/>
          <a:p>
            <a:pPr marL="12700">
              <a:lnSpc>
                <a:spcPct val="100000"/>
              </a:lnSpc>
              <a:spcBef>
                <a:spcPts val="1695"/>
              </a:spcBef>
            </a:pPr>
            <a:r>
              <a:rPr sz="2650" dirty="0">
                <a:solidFill>
                  <a:srgbClr val="E4DCE6"/>
                </a:solidFill>
                <a:latin typeface="Calibri"/>
                <a:cs typeface="Calibri"/>
              </a:rPr>
              <a:t>The</a:t>
            </a:r>
            <a:r>
              <a:rPr sz="2650" spc="-10" dirty="0">
                <a:solidFill>
                  <a:srgbClr val="E4DCE6"/>
                </a:solidFill>
                <a:latin typeface="Calibri"/>
                <a:cs typeface="Calibri"/>
              </a:rPr>
              <a:t> </a:t>
            </a:r>
            <a:r>
              <a:rPr sz="2650" dirty="0">
                <a:solidFill>
                  <a:srgbClr val="E4DCE6"/>
                </a:solidFill>
                <a:latin typeface="Calibri"/>
                <a:cs typeface="Calibri"/>
              </a:rPr>
              <a:t>Rise</a:t>
            </a:r>
            <a:r>
              <a:rPr sz="2650" spc="-5" dirty="0">
                <a:solidFill>
                  <a:srgbClr val="E4DCE6"/>
                </a:solidFill>
                <a:latin typeface="Calibri"/>
                <a:cs typeface="Calibri"/>
              </a:rPr>
              <a:t> </a:t>
            </a:r>
            <a:r>
              <a:rPr sz="2650" dirty="0">
                <a:solidFill>
                  <a:srgbClr val="E4DCE6"/>
                </a:solidFill>
                <a:latin typeface="Calibri"/>
                <a:cs typeface="Calibri"/>
              </a:rPr>
              <a:t>of</a:t>
            </a:r>
            <a:r>
              <a:rPr sz="2650" spc="-25" dirty="0">
                <a:solidFill>
                  <a:srgbClr val="E4DCE6"/>
                </a:solidFill>
                <a:latin typeface="Calibri"/>
                <a:cs typeface="Calibri"/>
              </a:rPr>
              <a:t> </a:t>
            </a:r>
            <a:r>
              <a:rPr sz="2650" dirty="0">
                <a:solidFill>
                  <a:srgbClr val="E4DCE6"/>
                </a:solidFill>
                <a:latin typeface="Calibri"/>
                <a:cs typeface="Calibri"/>
              </a:rPr>
              <a:t>UPI</a:t>
            </a:r>
            <a:r>
              <a:rPr sz="2650" spc="-5" dirty="0">
                <a:solidFill>
                  <a:srgbClr val="E4DCE6"/>
                </a:solidFill>
                <a:latin typeface="Calibri"/>
                <a:cs typeface="Calibri"/>
              </a:rPr>
              <a:t> </a:t>
            </a:r>
            <a:r>
              <a:rPr sz="2650" spc="-10" dirty="0">
                <a:solidFill>
                  <a:srgbClr val="E4DCE6"/>
                </a:solidFill>
                <a:latin typeface="Calibri"/>
                <a:cs typeface="Calibri"/>
              </a:rPr>
              <a:t>Fraud</a:t>
            </a:r>
            <a:endParaRPr sz="2650">
              <a:latin typeface="Calibri"/>
              <a:cs typeface="Calibri"/>
            </a:endParaRPr>
          </a:p>
          <a:p>
            <a:pPr marL="27940" marR="5080" indent="-6350">
              <a:lnSpc>
                <a:spcPct val="137900"/>
              </a:lnSpc>
              <a:spcBef>
                <a:spcPts val="260"/>
              </a:spcBef>
            </a:pPr>
            <a:r>
              <a:rPr sz="1750" dirty="0">
                <a:solidFill>
                  <a:srgbClr val="E4DCE6"/>
                </a:solidFill>
                <a:latin typeface="Calibri"/>
                <a:cs typeface="Calibri"/>
              </a:rPr>
              <a:t>UPI</a:t>
            </a:r>
            <a:r>
              <a:rPr sz="1750" spc="-45" dirty="0">
                <a:solidFill>
                  <a:srgbClr val="E4DCE6"/>
                </a:solidFill>
                <a:latin typeface="Calibri"/>
                <a:cs typeface="Calibri"/>
              </a:rPr>
              <a:t> </a:t>
            </a:r>
            <a:r>
              <a:rPr sz="1750" dirty="0">
                <a:solidFill>
                  <a:srgbClr val="E4DCE6"/>
                </a:solidFill>
                <a:latin typeface="Calibri"/>
                <a:cs typeface="Calibri"/>
              </a:rPr>
              <a:t>(Unified</a:t>
            </a:r>
            <a:r>
              <a:rPr sz="1750" spc="-40" dirty="0">
                <a:solidFill>
                  <a:srgbClr val="E4DCE6"/>
                </a:solidFill>
                <a:latin typeface="Calibri"/>
                <a:cs typeface="Calibri"/>
              </a:rPr>
              <a:t> </a:t>
            </a:r>
            <a:r>
              <a:rPr sz="1750" spc="-10" dirty="0">
                <a:solidFill>
                  <a:srgbClr val="E4DCE6"/>
                </a:solidFill>
                <a:latin typeface="Calibri"/>
                <a:cs typeface="Calibri"/>
              </a:rPr>
              <a:t>Payments</a:t>
            </a:r>
            <a:r>
              <a:rPr sz="1750" spc="-40" dirty="0">
                <a:solidFill>
                  <a:srgbClr val="E4DCE6"/>
                </a:solidFill>
                <a:latin typeface="Calibri"/>
                <a:cs typeface="Calibri"/>
              </a:rPr>
              <a:t> </a:t>
            </a:r>
            <a:r>
              <a:rPr sz="1750" spc="-10" dirty="0">
                <a:solidFill>
                  <a:srgbClr val="E4DCE6"/>
                </a:solidFill>
                <a:latin typeface="Calibri"/>
                <a:cs typeface="Calibri"/>
              </a:rPr>
              <a:t>Interface)</a:t>
            </a:r>
            <a:r>
              <a:rPr sz="1750" spc="-55" dirty="0">
                <a:solidFill>
                  <a:srgbClr val="E4DCE6"/>
                </a:solidFill>
                <a:latin typeface="Calibri"/>
                <a:cs typeface="Calibri"/>
              </a:rPr>
              <a:t> </a:t>
            </a:r>
            <a:r>
              <a:rPr sz="1750" spc="-10" dirty="0">
                <a:solidFill>
                  <a:srgbClr val="E4DCE6"/>
                </a:solidFill>
                <a:latin typeface="Calibri"/>
                <a:cs typeface="Calibri"/>
              </a:rPr>
              <a:t>fraud, </a:t>
            </a:r>
            <a:r>
              <a:rPr sz="1750" dirty="0">
                <a:solidFill>
                  <a:srgbClr val="E4DCE6"/>
                </a:solidFill>
                <a:latin typeface="Calibri"/>
                <a:cs typeface="Calibri"/>
              </a:rPr>
              <a:t>particularly</a:t>
            </a:r>
            <a:r>
              <a:rPr sz="1750" spc="-80" dirty="0">
                <a:solidFill>
                  <a:srgbClr val="E4DCE6"/>
                </a:solidFill>
                <a:latin typeface="Calibri"/>
                <a:cs typeface="Calibri"/>
              </a:rPr>
              <a:t> </a:t>
            </a:r>
            <a:r>
              <a:rPr sz="1750" spc="-10" dirty="0">
                <a:solidFill>
                  <a:srgbClr val="E4DCE6"/>
                </a:solidFill>
                <a:latin typeface="Calibri"/>
                <a:cs typeface="Calibri"/>
              </a:rPr>
              <a:t>through</a:t>
            </a:r>
            <a:r>
              <a:rPr sz="1750" spc="-75" dirty="0">
                <a:solidFill>
                  <a:srgbClr val="E4DCE6"/>
                </a:solidFill>
                <a:latin typeface="Calibri"/>
                <a:cs typeface="Calibri"/>
              </a:rPr>
              <a:t> </a:t>
            </a:r>
            <a:r>
              <a:rPr sz="1750" spc="-10" dirty="0">
                <a:solidFill>
                  <a:srgbClr val="E4DCE6"/>
                </a:solidFill>
                <a:latin typeface="Calibri"/>
                <a:cs typeface="Calibri"/>
              </a:rPr>
              <a:t>fake</a:t>
            </a:r>
            <a:r>
              <a:rPr sz="1750" spc="-65" dirty="0">
                <a:solidFill>
                  <a:srgbClr val="E4DCE6"/>
                </a:solidFill>
                <a:latin typeface="Calibri"/>
                <a:cs typeface="Calibri"/>
              </a:rPr>
              <a:t> </a:t>
            </a:r>
            <a:r>
              <a:rPr sz="1750" spc="-10" dirty="0">
                <a:solidFill>
                  <a:srgbClr val="E4DCE6"/>
                </a:solidFill>
                <a:latin typeface="Calibri"/>
                <a:cs typeface="Calibri"/>
              </a:rPr>
              <a:t>screenshots, </a:t>
            </a:r>
            <a:r>
              <a:rPr sz="1750" dirty="0">
                <a:solidFill>
                  <a:srgbClr val="E4DCE6"/>
                </a:solidFill>
                <a:latin typeface="Calibri"/>
                <a:cs typeface="Calibri"/>
              </a:rPr>
              <a:t>has</a:t>
            </a:r>
            <a:r>
              <a:rPr sz="1750" spc="-35" dirty="0">
                <a:solidFill>
                  <a:srgbClr val="E4DCE6"/>
                </a:solidFill>
                <a:latin typeface="Calibri"/>
                <a:cs typeface="Calibri"/>
              </a:rPr>
              <a:t> </a:t>
            </a:r>
            <a:r>
              <a:rPr sz="1750" dirty="0">
                <a:solidFill>
                  <a:srgbClr val="E4DCE6"/>
                </a:solidFill>
                <a:latin typeface="Calibri"/>
                <a:cs typeface="Calibri"/>
              </a:rPr>
              <a:t>become</a:t>
            </a:r>
            <a:r>
              <a:rPr sz="1750" spc="-30" dirty="0">
                <a:solidFill>
                  <a:srgbClr val="E4DCE6"/>
                </a:solidFill>
                <a:latin typeface="Calibri"/>
                <a:cs typeface="Calibri"/>
              </a:rPr>
              <a:t> </a:t>
            </a:r>
            <a:r>
              <a:rPr sz="1750" dirty="0">
                <a:solidFill>
                  <a:srgbClr val="E4DCE6"/>
                </a:solidFill>
                <a:latin typeface="Calibri"/>
                <a:cs typeface="Calibri"/>
              </a:rPr>
              <a:t>a</a:t>
            </a:r>
            <a:r>
              <a:rPr sz="1750" spc="-30" dirty="0">
                <a:solidFill>
                  <a:srgbClr val="E4DCE6"/>
                </a:solidFill>
                <a:latin typeface="Calibri"/>
                <a:cs typeface="Calibri"/>
              </a:rPr>
              <a:t> </a:t>
            </a:r>
            <a:r>
              <a:rPr sz="1750" spc="-10" dirty="0">
                <a:solidFill>
                  <a:srgbClr val="E4DCE6"/>
                </a:solidFill>
                <a:latin typeface="Calibri"/>
                <a:cs typeface="Calibri"/>
              </a:rPr>
              <a:t>significant</a:t>
            </a:r>
            <a:r>
              <a:rPr sz="1750" spc="-35" dirty="0">
                <a:solidFill>
                  <a:srgbClr val="E4DCE6"/>
                </a:solidFill>
                <a:latin typeface="Calibri"/>
                <a:cs typeface="Calibri"/>
              </a:rPr>
              <a:t> </a:t>
            </a:r>
            <a:r>
              <a:rPr sz="1750" dirty="0">
                <a:solidFill>
                  <a:srgbClr val="E4DCE6"/>
                </a:solidFill>
                <a:latin typeface="Calibri"/>
                <a:cs typeface="Calibri"/>
              </a:rPr>
              <a:t>and</a:t>
            </a:r>
            <a:r>
              <a:rPr sz="1750" spc="-40" dirty="0">
                <a:solidFill>
                  <a:srgbClr val="E4DCE6"/>
                </a:solidFill>
                <a:latin typeface="Calibri"/>
                <a:cs typeface="Calibri"/>
              </a:rPr>
              <a:t> </a:t>
            </a:r>
            <a:r>
              <a:rPr sz="1750" spc="-10" dirty="0">
                <a:solidFill>
                  <a:srgbClr val="E4DCE6"/>
                </a:solidFill>
                <a:latin typeface="Calibri"/>
                <a:cs typeface="Calibri"/>
              </a:rPr>
              <a:t>growing </a:t>
            </a:r>
            <a:r>
              <a:rPr sz="1750" dirty="0">
                <a:solidFill>
                  <a:srgbClr val="E4DCE6"/>
                </a:solidFill>
                <a:latin typeface="Calibri"/>
                <a:cs typeface="Calibri"/>
              </a:rPr>
              <a:t>threat</a:t>
            </a:r>
            <a:r>
              <a:rPr sz="1750" spc="-55" dirty="0">
                <a:solidFill>
                  <a:srgbClr val="E4DCE6"/>
                </a:solidFill>
                <a:latin typeface="Calibri"/>
                <a:cs typeface="Calibri"/>
              </a:rPr>
              <a:t> </a:t>
            </a:r>
            <a:r>
              <a:rPr sz="1750" dirty="0">
                <a:solidFill>
                  <a:srgbClr val="E4DCE6"/>
                </a:solidFill>
                <a:latin typeface="Calibri"/>
                <a:cs typeface="Calibri"/>
              </a:rPr>
              <a:t>in</a:t>
            </a:r>
            <a:r>
              <a:rPr sz="1750" spc="-55" dirty="0">
                <a:solidFill>
                  <a:srgbClr val="E4DCE6"/>
                </a:solidFill>
                <a:latin typeface="Calibri"/>
                <a:cs typeface="Calibri"/>
              </a:rPr>
              <a:t> </a:t>
            </a:r>
            <a:r>
              <a:rPr sz="1750" dirty="0">
                <a:solidFill>
                  <a:srgbClr val="E4DCE6"/>
                </a:solidFill>
                <a:latin typeface="Calibri"/>
                <a:cs typeface="Calibri"/>
              </a:rPr>
              <a:t>India's</a:t>
            </a:r>
            <a:r>
              <a:rPr sz="1750" spc="-70" dirty="0">
                <a:solidFill>
                  <a:srgbClr val="E4DCE6"/>
                </a:solidFill>
                <a:latin typeface="Calibri"/>
                <a:cs typeface="Calibri"/>
              </a:rPr>
              <a:t> </a:t>
            </a:r>
            <a:r>
              <a:rPr sz="1750" dirty="0">
                <a:solidFill>
                  <a:srgbClr val="E4DCE6"/>
                </a:solidFill>
                <a:latin typeface="Calibri"/>
                <a:cs typeface="Calibri"/>
              </a:rPr>
              <a:t>digital</a:t>
            </a:r>
            <a:r>
              <a:rPr sz="1750" spc="-60" dirty="0">
                <a:solidFill>
                  <a:srgbClr val="E4DCE6"/>
                </a:solidFill>
                <a:latin typeface="Calibri"/>
                <a:cs typeface="Calibri"/>
              </a:rPr>
              <a:t> </a:t>
            </a:r>
            <a:r>
              <a:rPr sz="1750" spc="-10" dirty="0">
                <a:solidFill>
                  <a:srgbClr val="E4DCE6"/>
                </a:solidFill>
                <a:latin typeface="Calibri"/>
                <a:cs typeface="Calibri"/>
              </a:rPr>
              <a:t>payment </a:t>
            </a:r>
            <a:r>
              <a:rPr sz="1750" dirty="0">
                <a:solidFill>
                  <a:srgbClr val="E4DCE6"/>
                </a:solidFill>
                <a:latin typeface="Calibri"/>
                <a:cs typeface="Calibri"/>
              </a:rPr>
              <a:t>landscape.</a:t>
            </a:r>
            <a:r>
              <a:rPr sz="1750" spc="-65" dirty="0">
                <a:solidFill>
                  <a:srgbClr val="E4DCE6"/>
                </a:solidFill>
                <a:latin typeface="Calibri"/>
                <a:cs typeface="Calibri"/>
              </a:rPr>
              <a:t> </a:t>
            </a:r>
            <a:r>
              <a:rPr sz="1750" spc="-10" dirty="0">
                <a:solidFill>
                  <a:srgbClr val="E4DCE6"/>
                </a:solidFill>
                <a:latin typeface="Calibri"/>
                <a:cs typeface="Calibri"/>
              </a:rPr>
              <a:t>Scammers</a:t>
            </a:r>
            <a:r>
              <a:rPr sz="1750" spc="-65" dirty="0">
                <a:solidFill>
                  <a:srgbClr val="E4DCE6"/>
                </a:solidFill>
                <a:latin typeface="Calibri"/>
                <a:cs typeface="Calibri"/>
              </a:rPr>
              <a:t> </a:t>
            </a:r>
            <a:r>
              <a:rPr sz="1750" dirty="0">
                <a:solidFill>
                  <a:srgbClr val="E4DCE6"/>
                </a:solidFill>
                <a:latin typeface="Calibri"/>
                <a:cs typeface="Calibri"/>
              </a:rPr>
              <a:t>exploit</a:t>
            </a:r>
            <a:r>
              <a:rPr sz="1750" spc="-65" dirty="0">
                <a:solidFill>
                  <a:srgbClr val="E4DCE6"/>
                </a:solidFill>
                <a:latin typeface="Calibri"/>
                <a:cs typeface="Calibri"/>
              </a:rPr>
              <a:t> </a:t>
            </a:r>
            <a:r>
              <a:rPr sz="1750" spc="-20" dirty="0">
                <a:solidFill>
                  <a:srgbClr val="E4DCE6"/>
                </a:solidFill>
                <a:latin typeface="Calibri"/>
                <a:cs typeface="Calibri"/>
              </a:rPr>
              <a:t>busy</a:t>
            </a:r>
            <a:endParaRPr sz="1750">
              <a:latin typeface="Calibri"/>
              <a:cs typeface="Calibri"/>
            </a:endParaRPr>
          </a:p>
          <a:p>
            <a:pPr marL="27940" marR="535305">
              <a:lnSpc>
                <a:spcPct val="137700"/>
              </a:lnSpc>
            </a:pPr>
            <a:r>
              <a:rPr sz="1750" spc="-10" dirty="0">
                <a:solidFill>
                  <a:srgbClr val="E4DCE6"/>
                </a:solidFill>
                <a:latin typeface="Calibri"/>
                <a:cs typeface="Calibri"/>
              </a:rPr>
              <a:t>merchants,</a:t>
            </a:r>
            <a:r>
              <a:rPr sz="1750" spc="-65" dirty="0">
                <a:solidFill>
                  <a:srgbClr val="E4DCE6"/>
                </a:solidFill>
                <a:latin typeface="Calibri"/>
                <a:cs typeface="Calibri"/>
              </a:rPr>
              <a:t> </a:t>
            </a:r>
            <a:r>
              <a:rPr sz="1750" dirty="0">
                <a:solidFill>
                  <a:srgbClr val="E4DCE6"/>
                </a:solidFill>
                <a:latin typeface="Calibri"/>
                <a:cs typeface="Calibri"/>
              </a:rPr>
              <a:t>leading</a:t>
            </a:r>
            <a:r>
              <a:rPr sz="1750" spc="-50" dirty="0">
                <a:solidFill>
                  <a:srgbClr val="E4DCE6"/>
                </a:solidFill>
                <a:latin typeface="Calibri"/>
                <a:cs typeface="Calibri"/>
              </a:rPr>
              <a:t> </a:t>
            </a:r>
            <a:r>
              <a:rPr sz="1750" dirty="0">
                <a:solidFill>
                  <a:srgbClr val="E4DCE6"/>
                </a:solidFill>
                <a:latin typeface="Calibri"/>
                <a:cs typeface="Calibri"/>
              </a:rPr>
              <a:t>to</a:t>
            </a:r>
            <a:r>
              <a:rPr sz="1750" spc="-60" dirty="0">
                <a:solidFill>
                  <a:srgbClr val="E4DCE6"/>
                </a:solidFill>
                <a:latin typeface="Calibri"/>
                <a:cs typeface="Calibri"/>
              </a:rPr>
              <a:t> </a:t>
            </a:r>
            <a:r>
              <a:rPr sz="1750" spc="-10" dirty="0">
                <a:solidFill>
                  <a:srgbClr val="E4DCE6"/>
                </a:solidFill>
                <a:latin typeface="Calibri"/>
                <a:cs typeface="Calibri"/>
              </a:rPr>
              <a:t>substantial </a:t>
            </a:r>
            <a:r>
              <a:rPr sz="1750" dirty="0">
                <a:solidFill>
                  <a:srgbClr val="E4DCE6"/>
                </a:solidFill>
                <a:latin typeface="Calibri"/>
                <a:cs typeface="Calibri"/>
              </a:rPr>
              <a:t>financial</a:t>
            </a:r>
            <a:r>
              <a:rPr sz="1750" spc="-80" dirty="0">
                <a:solidFill>
                  <a:srgbClr val="E4DCE6"/>
                </a:solidFill>
                <a:latin typeface="Calibri"/>
                <a:cs typeface="Calibri"/>
              </a:rPr>
              <a:t> </a:t>
            </a:r>
            <a:r>
              <a:rPr sz="1750" spc="-10" dirty="0">
                <a:solidFill>
                  <a:srgbClr val="E4DCE6"/>
                </a:solidFill>
                <a:latin typeface="Calibri"/>
                <a:cs typeface="Calibri"/>
              </a:rPr>
              <a:t>losses.</a:t>
            </a:r>
            <a:endParaRPr sz="1750">
              <a:latin typeface="Calibri"/>
              <a:cs typeface="Calibri"/>
            </a:endParaRPr>
          </a:p>
        </p:txBody>
      </p:sp>
      <p:sp>
        <p:nvSpPr>
          <p:cNvPr id="17" name="object 17"/>
          <p:cNvSpPr txBox="1"/>
          <p:nvPr/>
        </p:nvSpPr>
        <p:spPr>
          <a:xfrm>
            <a:off x="5529198" y="2048530"/>
            <a:ext cx="3590925" cy="3606165"/>
          </a:xfrm>
          <a:prstGeom prst="rect">
            <a:avLst/>
          </a:prstGeom>
        </p:spPr>
        <p:txBody>
          <a:bodyPr vert="horz" wrap="square" lIns="0" tIns="215265" rIns="0" bIns="0" rtlCol="0">
            <a:spAutoFit/>
          </a:bodyPr>
          <a:lstStyle/>
          <a:p>
            <a:pPr marL="12700">
              <a:lnSpc>
                <a:spcPct val="100000"/>
              </a:lnSpc>
              <a:spcBef>
                <a:spcPts val="1695"/>
              </a:spcBef>
            </a:pPr>
            <a:r>
              <a:rPr sz="2650" dirty="0">
                <a:solidFill>
                  <a:srgbClr val="E4DCE6"/>
                </a:solidFill>
                <a:latin typeface="Calibri"/>
                <a:cs typeface="Calibri"/>
              </a:rPr>
              <a:t>How</a:t>
            </a:r>
            <a:r>
              <a:rPr sz="2650" spc="-95" dirty="0">
                <a:solidFill>
                  <a:srgbClr val="E4DCE6"/>
                </a:solidFill>
                <a:latin typeface="Calibri"/>
                <a:cs typeface="Calibri"/>
              </a:rPr>
              <a:t> </a:t>
            </a:r>
            <a:r>
              <a:rPr sz="2650" dirty="0">
                <a:solidFill>
                  <a:srgbClr val="E4DCE6"/>
                </a:solidFill>
                <a:latin typeface="Calibri"/>
                <a:cs typeface="Calibri"/>
              </a:rPr>
              <a:t>Scammers</a:t>
            </a:r>
            <a:r>
              <a:rPr sz="2650" spc="-80" dirty="0">
                <a:solidFill>
                  <a:srgbClr val="E4DCE6"/>
                </a:solidFill>
                <a:latin typeface="Calibri"/>
                <a:cs typeface="Calibri"/>
              </a:rPr>
              <a:t> </a:t>
            </a:r>
            <a:r>
              <a:rPr sz="2650" spc="-10" dirty="0">
                <a:solidFill>
                  <a:srgbClr val="E4DCE6"/>
                </a:solidFill>
                <a:latin typeface="Calibri"/>
                <a:cs typeface="Calibri"/>
              </a:rPr>
              <a:t>Operate</a:t>
            </a:r>
            <a:endParaRPr sz="2650">
              <a:latin typeface="Calibri"/>
              <a:cs typeface="Calibri"/>
            </a:endParaRPr>
          </a:p>
          <a:p>
            <a:pPr marL="27305" marR="286385" indent="-6350">
              <a:lnSpc>
                <a:spcPct val="137700"/>
              </a:lnSpc>
              <a:spcBef>
                <a:spcPts val="265"/>
              </a:spcBef>
            </a:pPr>
            <a:r>
              <a:rPr sz="1750" spc="-10" dirty="0">
                <a:solidFill>
                  <a:srgbClr val="E4DCE6"/>
                </a:solidFill>
                <a:latin typeface="Calibri"/>
                <a:cs typeface="Calibri"/>
              </a:rPr>
              <a:t>Fraudsters</a:t>
            </a:r>
            <a:r>
              <a:rPr sz="1750" spc="-60" dirty="0">
                <a:solidFill>
                  <a:srgbClr val="E4DCE6"/>
                </a:solidFill>
                <a:latin typeface="Calibri"/>
                <a:cs typeface="Calibri"/>
              </a:rPr>
              <a:t> </a:t>
            </a:r>
            <a:r>
              <a:rPr sz="1750" spc="-10" dirty="0">
                <a:solidFill>
                  <a:srgbClr val="E4DCE6"/>
                </a:solidFill>
                <a:latin typeface="Calibri"/>
                <a:cs typeface="Calibri"/>
              </a:rPr>
              <a:t>manipulate</a:t>
            </a:r>
            <a:r>
              <a:rPr sz="1750" spc="-60" dirty="0">
                <a:solidFill>
                  <a:srgbClr val="E4DCE6"/>
                </a:solidFill>
                <a:latin typeface="Calibri"/>
                <a:cs typeface="Calibri"/>
              </a:rPr>
              <a:t> </a:t>
            </a:r>
            <a:r>
              <a:rPr sz="1750" spc="-10" dirty="0">
                <a:solidFill>
                  <a:srgbClr val="E4DCE6"/>
                </a:solidFill>
                <a:latin typeface="Calibri"/>
                <a:cs typeface="Calibri"/>
              </a:rPr>
              <a:t>payment confirmation</a:t>
            </a:r>
            <a:r>
              <a:rPr sz="1750" spc="-35" dirty="0">
                <a:solidFill>
                  <a:srgbClr val="E4DCE6"/>
                </a:solidFill>
                <a:latin typeface="Calibri"/>
                <a:cs typeface="Calibri"/>
              </a:rPr>
              <a:t> </a:t>
            </a:r>
            <a:r>
              <a:rPr sz="1750" spc="-10" dirty="0">
                <a:solidFill>
                  <a:srgbClr val="E4DCE6"/>
                </a:solidFill>
                <a:latin typeface="Calibri"/>
                <a:cs typeface="Calibri"/>
              </a:rPr>
              <a:t>screenshots</a:t>
            </a:r>
            <a:r>
              <a:rPr sz="1750" spc="-30" dirty="0">
                <a:solidFill>
                  <a:srgbClr val="E4DCE6"/>
                </a:solidFill>
                <a:latin typeface="Calibri"/>
                <a:cs typeface="Calibri"/>
              </a:rPr>
              <a:t> </a:t>
            </a:r>
            <a:r>
              <a:rPr sz="1750" dirty="0">
                <a:solidFill>
                  <a:srgbClr val="E4DCE6"/>
                </a:solidFill>
                <a:latin typeface="Calibri"/>
                <a:cs typeface="Calibri"/>
              </a:rPr>
              <a:t>to</a:t>
            </a:r>
            <a:r>
              <a:rPr sz="1750" spc="-35" dirty="0">
                <a:solidFill>
                  <a:srgbClr val="E4DCE6"/>
                </a:solidFill>
                <a:latin typeface="Calibri"/>
                <a:cs typeface="Calibri"/>
              </a:rPr>
              <a:t> </a:t>
            </a:r>
            <a:r>
              <a:rPr sz="1750" spc="-10" dirty="0">
                <a:solidFill>
                  <a:srgbClr val="E4DCE6"/>
                </a:solidFill>
                <a:latin typeface="Calibri"/>
                <a:cs typeface="Calibri"/>
              </a:rPr>
              <a:t>deceive</a:t>
            </a:r>
            <a:endParaRPr sz="1750">
              <a:latin typeface="Calibri"/>
              <a:cs typeface="Calibri"/>
            </a:endParaRPr>
          </a:p>
          <a:p>
            <a:pPr marL="27305" marR="109855">
              <a:lnSpc>
                <a:spcPct val="137700"/>
              </a:lnSpc>
            </a:pPr>
            <a:r>
              <a:rPr sz="1750" spc="-10" dirty="0">
                <a:solidFill>
                  <a:srgbClr val="E4DCE6"/>
                </a:solidFill>
                <a:latin typeface="Calibri"/>
                <a:cs typeface="Calibri"/>
              </a:rPr>
              <a:t>merchants</a:t>
            </a:r>
            <a:r>
              <a:rPr sz="1750" spc="-55" dirty="0">
                <a:solidFill>
                  <a:srgbClr val="E4DCE6"/>
                </a:solidFill>
                <a:latin typeface="Calibri"/>
                <a:cs typeface="Calibri"/>
              </a:rPr>
              <a:t> </a:t>
            </a:r>
            <a:r>
              <a:rPr sz="1750" dirty="0">
                <a:solidFill>
                  <a:srgbClr val="E4DCE6"/>
                </a:solidFill>
                <a:latin typeface="Calibri"/>
                <a:cs typeface="Calibri"/>
              </a:rPr>
              <a:t>into</a:t>
            </a:r>
            <a:r>
              <a:rPr sz="1750" spc="-55" dirty="0">
                <a:solidFill>
                  <a:srgbClr val="E4DCE6"/>
                </a:solidFill>
                <a:latin typeface="Calibri"/>
                <a:cs typeface="Calibri"/>
              </a:rPr>
              <a:t> </a:t>
            </a:r>
            <a:r>
              <a:rPr sz="1750" dirty="0">
                <a:solidFill>
                  <a:srgbClr val="E4DCE6"/>
                </a:solidFill>
                <a:latin typeface="Calibri"/>
                <a:cs typeface="Calibri"/>
              </a:rPr>
              <a:t>believing</a:t>
            </a:r>
            <a:r>
              <a:rPr sz="1750" spc="-50" dirty="0">
                <a:solidFill>
                  <a:srgbClr val="E4DCE6"/>
                </a:solidFill>
                <a:latin typeface="Calibri"/>
                <a:cs typeface="Calibri"/>
              </a:rPr>
              <a:t> </a:t>
            </a:r>
            <a:r>
              <a:rPr sz="1750" dirty="0">
                <a:solidFill>
                  <a:srgbClr val="E4DCE6"/>
                </a:solidFill>
                <a:latin typeface="Calibri"/>
                <a:cs typeface="Calibri"/>
              </a:rPr>
              <a:t>a</a:t>
            </a:r>
            <a:r>
              <a:rPr sz="1750" spc="-50" dirty="0">
                <a:solidFill>
                  <a:srgbClr val="E4DCE6"/>
                </a:solidFill>
                <a:latin typeface="Calibri"/>
                <a:cs typeface="Calibri"/>
              </a:rPr>
              <a:t> </a:t>
            </a:r>
            <a:r>
              <a:rPr sz="1750" spc="-10" dirty="0">
                <a:solidFill>
                  <a:srgbClr val="E4DCE6"/>
                </a:solidFill>
                <a:latin typeface="Calibri"/>
                <a:cs typeface="Calibri"/>
              </a:rPr>
              <a:t>transaction </a:t>
            </a:r>
            <a:r>
              <a:rPr sz="1750" dirty="0">
                <a:solidFill>
                  <a:srgbClr val="E4DCE6"/>
                </a:solidFill>
                <a:latin typeface="Calibri"/>
                <a:cs typeface="Calibri"/>
              </a:rPr>
              <a:t>was</a:t>
            </a:r>
            <a:r>
              <a:rPr sz="1750" spc="-30" dirty="0">
                <a:solidFill>
                  <a:srgbClr val="E4DCE6"/>
                </a:solidFill>
                <a:latin typeface="Calibri"/>
                <a:cs typeface="Calibri"/>
              </a:rPr>
              <a:t> </a:t>
            </a:r>
            <a:r>
              <a:rPr sz="1750" spc="-10" dirty="0">
                <a:solidFill>
                  <a:srgbClr val="E4DCE6"/>
                </a:solidFill>
                <a:latin typeface="Calibri"/>
                <a:cs typeface="Calibri"/>
              </a:rPr>
              <a:t>successful.</a:t>
            </a:r>
            <a:r>
              <a:rPr sz="1750" spc="-40" dirty="0">
                <a:solidFill>
                  <a:srgbClr val="E4DCE6"/>
                </a:solidFill>
                <a:latin typeface="Calibri"/>
                <a:cs typeface="Calibri"/>
              </a:rPr>
              <a:t> </a:t>
            </a:r>
            <a:r>
              <a:rPr sz="1750" spc="-10" dirty="0">
                <a:solidFill>
                  <a:srgbClr val="E4DCE6"/>
                </a:solidFill>
                <a:latin typeface="Calibri"/>
                <a:cs typeface="Calibri"/>
              </a:rPr>
              <a:t>Merchants,</a:t>
            </a:r>
            <a:r>
              <a:rPr sz="1750" spc="-30" dirty="0">
                <a:solidFill>
                  <a:srgbClr val="E4DCE6"/>
                </a:solidFill>
                <a:latin typeface="Calibri"/>
                <a:cs typeface="Calibri"/>
              </a:rPr>
              <a:t> </a:t>
            </a:r>
            <a:r>
              <a:rPr sz="1750" spc="-20" dirty="0">
                <a:solidFill>
                  <a:srgbClr val="E4DCE6"/>
                </a:solidFill>
                <a:latin typeface="Calibri"/>
                <a:cs typeface="Calibri"/>
              </a:rPr>
              <a:t>often</a:t>
            </a:r>
            <a:endParaRPr sz="1750">
              <a:latin typeface="Calibri"/>
              <a:cs typeface="Calibri"/>
            </a:endParaRPr>
          </a:p>
          <a:p>
            <a:pPr marL="27305">
              <a:lnSpc>
                <a:spcPct val="100000"/>
              </a:lnSpc>
              <a:spcBef>
                <a:spcPts val="805"/>
              </a:spcBef>
            </a:pPr>
            <a:r>
              <a:rPr sz="1750" dirty="0">
                <a:solidFill>
                  <a:srgbClr val="E4DCE6"/>
                </a:solidFill>
                <a:latin typeface="Calibri"/>
                <a:cs typeface="Calibri"/>
              </a:rPr>
              <a:t>dealing</a:t>
            </a:r>
            <a:r>
              <a:rPr sz="1750" spc="-45" dirty="0">
                <a:solidFill>
                  <a:srgbClr val="E4DCE6"/>
                </a:solidFill>
                <a:latin typeface="Calibri"/>
                <a:cs typeface="Calibri"/>
              </a:rPr>
              <a:t> </a:t>
            </a:r>
            <a:r>
              <a:rPr sz="1750" dirty="0">
                <a:solidFill>
                  <a:srgbClr val="E4DCE6"/>
                </a:solidFill>
                <a:latin typeface="Calibri"/>
                <a:cs typeface="Calibri"/>
              </a:rPr>
              <a:t>with</a:t>
            </a:r>
            <a:r>
              <a:rPr sz="1750" spc="-50" dirty="0">
                <a:solidFill>
                  <a:srgbClr val="E4DCE6"/>
                </a:solidFill>
                <a:latin typeface="Calibri"/>
                <a:cs typeface="Calibri"/>
              </a:rPr>
              <a:t> </a:t>
            </a:r>
            <a:r>
              <a:rPr sz="1750" dirty="0">
                <a:solidFill>
                  <a:srgbClr val="E4DCE6"/>
                </a:solidFill>
                <a:latin typeface="Calibri"/>
                <a:cs typeface="Calibri"/>
              </a:rPr>
              <a:t>high</a:t>
            </a:r>
            <a:r>
              <a:rPr sz="1750" spc="-50" dirty="0">
                <a:solidFill>
                  <a:srgbClr val="E4DCE6"/>
                </a:solidFill>
                <a:latin typeface="Calibri"/>
                <a:cs typeface="Calibri"/>
              </a:rPr>
              <a:t> </a:t>
            </a:r>
            <a:r>
              <a:rPr sz="1750" dirty="0">
                <a:solidFill>
                  <a:srgbClr val="E4DCE6"/>
                </a:solidFill>
                <a:latin typeface="Calibri"/>
                <a:cs typeface="Calibri"/>
              </a:rPr>
              <a:t>volumes</a:t>
            </a:r>
            <a:r>
              <a:rPr sz="1750" spc="-50" dirty="0">
                <a:solidFill>
                  <a:srgbClr val="E4DCE6"/>
                </a:solidFill>
                <a:latin typeface="Calibri"/>
                <a:cs typeface="Calibri"/>
              </a:rPr>
              <a:t> </a:t>
            </a:r>
            <a:r>
              <a:rPr sz="1750" spc="-25" dirty="0">
                <a:solidFill>
                  <a:srgbClr val="E4DCE6"/>
                </a:solidFill>
                <a:latin typeface="Calibri"/>
                <a:cs typeface="Calibri"/>
              </a:rPr>
              <a:t>of</a:t>
            </a:r>
            <a:endParaRPr sz="1750">
              <a:latin typeface="Calibri"/>
              <a:cs typeface="Calibri"/>
            </a:endParaRPr>
          </a:p>
          <a:p>
            <a:pPr marL="27305" marR="5080">
              <a:lnSpc>
                <a:spcPct val="137700"/>
              </a:lnSpc>
            </a:pPr>
            <a:r>
              <a:rPr sz="1750" spc="-10" dirty="0">
                <a:solidFill>
                  <a:srgbClr val="E4DCE6"/>
                </a:solidFill>
                <a:latin typeface="Calibri"/>
                <a:cs typeface="Calibri"/>
              </a:rPr>
              <a:t>customers,</a:t>
            </a:r>
            <a:r>
              <a:rPr sz="1750" spc="-65" dirty="0">
                <a:solidFill>
                  <a:srgbClr val="E4DCE6"/>
                </a:solidFill>
                <a:latin typeface="Calibri"/>
                <a:cs typeface="Calibri"/>
              </a:rPr>
              <a:t> </a:t>
            </a:r>
            <a:r>
              <a:rPr sz="1750" dirty="0">
                <a:solidFill>
                  <a:srgbClr val="E4DCE6"/>
                </a:solidFill>
                <a:latin typeface="Calibri"/>
                <a:cs typeface="Calibri"/>
              </a:rPr>
              <a:t>lack</a:t>
            </a:r>
            <a:r>
              <a:rPr sz="1750" spc="-40" dirty="0">
                <a:solidFill>
                  <a:srgbClr val="E4DCE6"/>
                </a:solidFill>
                <a:latin typeface="Calibri"/>
                <a:cs typeface="Calibri"/>
              </a:rPr>
              <a:t> </a:t>
            </a:r>
            <a:r>
              <a:rPr sz="1750" dirty="0">
                <a:solidFill>
                  <a:srgbClr val="E4DCE6"/>
                </a:solidFill>
                <a:latin typeface="Calibri"/>
                <a:cs typeface="Calibri"/>
              </a:rPr>
              <a:t>the</a:t>
            </a:r>
            <a:r>
              <a:rPr sz="1750" spc="-35" dirty="0">
                <a:solidFill>
                  <a:srgbClr val="E4DCE6"/>
                </a:solidFill>
                <a:latin typeface="Calibri"/>
                <a:cs typeface="Calibri"/>
              </a:rPr>
              <a:t> </a:t>
            </a:r>
            <a:r>
              <a:rPr sz="1750" dirty="0">
                <a:solidFill>
                  <a:srgbClr val="E4DCE6"/>
                </a:solidFill>
                <a:latin typeface="Calibri"/>
                <a:cs typeface="Calibri"/>
              </a:rPr>
              <a:t>time</a:t>
            </a:r>
            <a:r>
              <a:rPr sz="1750" spc="-40" dirty="0">
                <a:solidFill>
                  <a:srgbClr val="E4DCE6"/>
                </a:solidFill>
                <a:latin typeface="Calibri"/>
                <a:cs typeface="Calibri"/>
              </a:rPr>
              <a:t> </a:t>
            </a:r>
            <a:r>
              <a:rPr sz="1750" dirty="0">
                <a:solidFill>
                  <a:srgbClr val="E4DCE6"/>
                </a:solidFill>
                <a:latin typeface="Calibri"/>
                <a:cs typeface="Calibri"/>
              </a:rPr>
              <a:t>to</a:t>
            </a:r>
            <a:r>
              <a:rPr sz="1750" spc="-50" dirty="0">
                <a:solidFill>
                  <a:srgbClr val="E4DCE6"/>
                </a:solidFill>
                <a:latin typeface="Calibri"/>
                <a:cs typeface="Calibri"/>
              </a:rPr>
              <a:t> </a:t>
            </a:r>
            <a:r>
              <a:rPr sz="1750" dirty="0">
                <a:solidFill>
                  <a:srgbClr val="E4DCE6"/>
                </a:solidFill>
                <a:latin typeface="Calibri"/>
                <a:cs typeface="Calibri"/>
              </a:rPr>
              <a:t>verify</a:t>
            </a:r>
            <a:r>
              <a:rPr sz="1750" spc="-50" dirty="0">
                <a:solidFill>
                  <a:srgbClr val="E4DCE6"/>
                </a:solidFill>
                <a:latin typeface="Calibri"/>
                <a:cs typeface="Calibri"/>
              </a:rPr>
              <a:t> </a:t>
            </a:r>
            <a:r>
              <a:rPr sz="1750" spc="-10" dirty="0">
                <a:solidFill>
                  <a:srgbClr val="E4DCE6"/>
                </a:solidFill>
                <a:latin typeface="Calibri"/>
                <a:cs typeface="Calibri"/>
              </a:rPr>
              <a:t>every transaction</a:t>
            </a:r>
            <a:r>
              <a:rPr sz="1750" spc="-35" dirty="0">
                <a:solidFill>
                  <a:srgbClr val="E4DCE6"/>
                </a:solidFill>
                <a:latin typeface="Calibri"/>
                <a:cs typeface="Calibri"/>
              </a:rPr>
              <a:t> </a:t>
            </a:r>
            <a:r>
              <a:rPr sz="1750" spc="-10" dirty="0">
                <a:solidFill>
                  <a:srgbClr val="E4DCE6"/>
                </a:solidFill>
                <a:latin typeface="Calibri"/>
                <a:cs typeface="Calibri"/>
              </a:rPr>
              <a:t>through</a:t>
            </a:r>
            <a:r>
              <a:rPr sz="1750" spc="-25" dirty="0">
                <a:solidFill>
                  <a:srgbClr val="E4DCE6"/>
                </a:solidFill>
                <a:latin typeface="Calibri"/>
                <a:cs typeface="Calibri"/>
              </a:rPr>
              <a:t> </a:t>
            </a:r>
            <a:r>
              <a:rPr sz="1750" dirty="0">
                <a:solidFill>
                  <a:srgbClr val="E4DCE6"/>
                </a:solidFill>
                <a:latin typeface="Calibri"/>
                <a:cs typeface="Calibri"/>
              </a:rPr>
              <a:t>their</a:t>
            </a:r>
            <a:r>
              <a:rPr sz="1750" spc="-20" dirty="0">
                <a:solidFill>
                  <a:srgbClr val="E4DCE6"/>
                </a:solidFill>
                <a:latin typeface="Calibri"/>
                <a:cs typeface="Calibri"/>
              </a:rPr>
              <a:t> bank</a:t>
            </a:r>
            <a:endParaRPr sz="1750">
              <a:latin typeface="Calibri"/>
              <a:cs typeface="Calibri"/>
            </a:endParaRPr>
          </a:p>
          <a:p>
            <a:pPr marL="27305">
              <a:lnSpc>
                <a:spcPct val="100000"/>
              </a:lnSpc>
              <a:spcBef>
                <a:spcPts val="795"/>
              </a:spcBef>
            </a:pPr>
            <a:r>
              <a:rPr sz="1750" spc="-10" dirty="0">
                <a:solidFill>
                  <a:srgbClr val="E4DCE6"/>
                </a:solidFill>
                <a:latin typeface="Calibri"/>
                <a:cs typeface="Calibri"/>
              </a:rPr>
              <a:t>applications.</a:t>
            </a:r>
            <a:endParaRPr sz="1750">
              <a:latin typeface="Calibri"/>
              <a:cs typeface="Calibri"/>
            </a:endParaRPr>
          </a:p>
        </p:txBody>
      </p:sp>
      <p:sp>
        <p:nvSpPr>
          <p:cNvPr id="18" name="object 18"/>
          <p:cNvSpPr txBox="1"/>
          <p:nvPr/>
        </p:nvSpPr>
        <p:spPr>
          <a:xfrm>
            <a:off x="9936860" y="2048530"/>
            <a:ext cx="3629025" cy="3238500"/>
          </a:xfrm>
          <a:prstGeom prst="rect">
            <a:avLst/>
          </a:prstGeom>
        </p:spPr>
        <p:txBody>
          <a:bodyPr vert="horz" wrap="square" lIns="0" tIns="215265" rIns="0" bIns="0" rtlCol="0">
            <a:spAutoFit/>
          </a:bodyPr>
          <a:lstStyle/>
          <a:p>
            <a:pPr marL="12700">
              <a:lnSpc>
                <a:spcPct val="100000"/>
              </a:lnSpc>
              <a:spcBef>
                <a:spcPts val="1695"/>
              </a:spcBef>
            </a:pPr>
            <a:r>
              <a:rPr sz="2650" dirty="0">
                <a:solidFill>
                  <a:srgbClr val="E4DCE6"/>
                </a:solidFill>
                <a:latin typeface="Calibri"/>
                <a:cs typeface="Calibri"/>
              </a:rPr>
              <a:t>Social</a:t>
            </a:r>
            <a:r>
              <a:rPr sz="2650" spc="-50" dirty="0">
                <a:solidFill>
                  <a:srgbClr val="E4DCE6"/>
                </a:solidFill>
                <a:latin typeface="Calibri"/>
                <a:cs typeface="Calibri"/>
              </a:rPr>
              <a:t> </a:t>
            </a:r>
            <a:r>
              <a:rPr sz="2650" dirty="0">
                <a:solidFill>
                  <a:srgbClr val="E4DCE6"/>
                </a:solidFill>
                <a:latin typeface="Calibri"/>
                <a:cs typeface="Calibri"/>
              </a:rPr>
              <a:t>Engineering</a:t>
            </a:r>
            <a:r>
              <a:rPr sz="2650" spc="-55" dirty="0">
                <a:solidFill>
                  <a:srgbClr val="E4DCE6"/>
                </a:solidFill>
                <a:latin typeface="Calibri"/>
                <a:cs typeface="Calibri"/>
              </a:rPr>
              <a:t> </a:t>
            </a:r>
            <a:r>
              <a:rPr sz="2650" dirty="0">
                <a:solidFill>
                  <a:srgbClr val="E4DCE6"/>
                </a:solidFill>
                <a:latin typeface="Calibri"/>
                <a:cs typeface="Calibri"/>
              </a:rPr>
              <a:t>at</a:t>
            </a:r>
            <a:r>
              <a:rPr sz="2650" spc="-60" dirty="0">
                <a:solidFill>
                  <a:srgbClr val="E4DCE6"/>
                </a:solidFill>
                <a:latin typeface="Calibri"/>
                <a:cs typeface="Calibri"/>
              </a:rPr>
              <a:t> </a:t>
            </a:r>
            <a:r>
              <a:rPr sz="2650" spc="-20" dirty="0">
                <a:solidFill>
                  <a:srgbClr val="E4DCE6"/>
                </a:solidFill>
                <a:latin typeface="Calibri"/>
                <a:cs typeface="Calibri"/>
              </a:rPr>
              <a:t>Play</a:t>
            </a:r>
            <a:endParaRPr sz="2650">
              <a:latin typeface="Calibri"/>
              <a:cs typeface="Calibri"/>
            </a:endParaRPr>
          </a:p>
          <a:p>
            <a:pPr marL="27940" marR="5080" indent="-6350">
              <a:lnSpc>
                <a:spcPct val="137700"/>
              </a:lnSpc>
              <a:spcBef>
                <a:spcPts val="265"/>
              </a:spcBef>
            </a:pPr>
            <a:r>
              <a:rPr sz="1750" dirty="0">
                <a:solidFill>
                  <a:srgbClr val="E4DCE6"/>
                </a:solidFill>
                <a:latin typeface="Calibri"/>
                <a:cs typeface="Calibri"/>
              </a:rPr>
              <a:t>This</a:t>
            </a:r>
            <a:r>
              <a:rPr sz="1750" spc="-35" dirty="0">
                <a:solidFill>
                  <a:srgbClr val="E4DCE6"/>
                </a:solidFill>
                <a:latin typeface="Calibri"/>
                <a:cs typeface="Calibri"/>
              </a:rPr>
              <a:t> </a:t>
            </a:r>
            <a:r>
              <a:rPr sz="1750" dirty="0">
                <a:solidFill>
                  <a:srgbClr val="E4DCE6"/>
                </a:solidFill>
                <a:latin typeface="Calibri"/>
                <a:cs typeface="Calibri"/>
              </a:rPr>
              <a:t>type</a:t>
            </a:r>
            <a:r>
              <a:rPr sz="1750" spc="-30" dirty="0">
                <a:solidFill>
                  <a:srgbClr val="E4DCE6"/>
                </a:solidFill>
                <a:latin typeface="Calibri"/>
                <a:cs typeface="Calibri"/>
              </a:rPr>
              <a:t> </a:t>
            </a:r>
            <a:r>
              <a:rPr sz="1750" dirty="0">
                <a:solidFill>
                  <a:srgbClr val="E4DCE6"/>
                </a:solidFill>
                <a:latin typeface="Calibri"/>
                <a:cs typeface="Calibri"/>
              </a:rPr>
              <a:t>of</a:t>
            </a:r>
            <a:r>
              <a:rPr sz="1750" spc="-40" dirty="0">
                <a:solidFill>
                  <a:srgbClr val="E4DCE6"/>
                </a:solidFill>
                <a:latin typeface="Calibri"/>
                <a:cs typeface="Calibri"/>
              </a:rPr>
              <a:t> </a:t>
            </a:r>
            <a:r>
              <a:rPr sz="1750" dirty="0">
                <a:solidFill>
                  <a:srgbClr val="E4DCE6"/>
                </a:solidFill>
                <a:latin typeface="Calibri"/>
                <a:cs typeface="Calibri"/>
              </a:rPr>
              <a:t>fraud</a:t>
            </a:r>
            <a:r>
              <a:rPr sz="1750" spc="-35" dirty="0">
                <a:solidFill>
                  <a:srgbClr val="E4DCE6"/>
                </a:solidFill>
                <a:latin typeface="Calibri"/>
                <a:cs typeface="Calibri"/>
              </a:rPr>
              <a:t> </a:t>
            </a:r>
            <a:r>
              <a:rPr sz="1750" dirty="0">
                <a:solidFill>
                  <a:srgbClr val="E4DCE6"/>
                </a:solidFill>
                <a:latin typeface="Calibri"/>
                <a:cs typeface="Calibri"/>
              </a:rPr>
              <a:t>is</a:t>
            </a:r>
            <a:r>
              <a:rPr sz="1750" spc="-30" dirty="0">
                <a:solidFill>
                  <a:srgbClr val="E4DCE6"/>
                </a:solidFill>
                <a:latin typeface="Calibri"/>
                <a:cs typeface="Calibri"/>
              </a:rPr>
              <a:t> </a:t>
            </a:r>
            <a:r>
              <a:rPr sz="1750" dirty="0">
                <a:solidFill>
                  <a:srgbClr val="E4DCE6"/>
                </a:solidFill>
                <a:latin typeface="Calibri"/>
                <a:cs typeface="Calibri"/>
              </a:rPr>
              <a:t>a</a:t>
            </a:r>
            <a:r>
              <a:rPr sz="1750" spc="-35" dirty="0">
                <a:solidFill>
                  <a:srgbClr val="E4DCE6"/>
                </a:solidFill>
                <a:latin typeface="Calibri"/>
                <a:cs typeface="Calibri"/>
              </a:rPr>
              <a:t> </a:t>
            </a:r>
            <a:r>
              <a:rPr sz="1750" dirty="0">
                <a:solidFill>
                  <a:srgbClr val="E4DCE6"/>
                </a:solidFill>
                <a:latin typeface="Calibri"/>
                <a:cs typeface="Calibri"/>
              </a:rPr>
              <a:t>classic</a:t>
            </a:r>
            <a:r>
              <a:rPr sz="1750" spc="-25" dirty="0">
                <a:solidFill>
                  <a:srgbClr val="E4DCE6"/>
                </a:solidFill>
                <a:latin typeface="Calibri"/>
                <a:cs typeface="Calibri"/>
              </a:rPr>
              <a:t> </a:t>
            </a:r>
            <a:r>
              <a:rPr sz="1750" spc="-10" dirty="0">
                <a:solidFill>
                  <a:srgbClr val="E4DCE6"/>
                </a:solidFill>
                <a:latin typeface="Calibri"/>
                <a:cs typeface="Calibri"/>
              </a:rPr>
              <a:t>example</a:t>
            </a:r>
            <a:r>
              <a:rPr sz="1750" spc="-30" dirty="0">
                <a:solidFill>
                  <a:srgbClr val="E4DCE6"/>
                </a:solidFill>
                <a:latin typeface="Calibri"/>
                <a:cs typeface="Calibri"/>
              </a:rPr>
              <a:t> </a:t>
            </a:r>
            <a:r>
              <a:rPr sz="1750" spc="-25" dirty="0">
                <a:solidFill>
                  <a:srgbClr val="E4DCE6"/>
                </a:solidFill>
                <a:latin typeface="Calibri"/>
                <a:cs typeface="Calibri"/>
              </a:rPr>
              <a:t>of </a:t>
            </a:r>
            <a:r>
              <a:rPr sz="1750" dirty="0">
                <a:solidFill>
                  <a:srgbClr val="E4DCE6"/>
                </a:solidFill>
                <a:latin typeface="Calibri"/>
                <a:cs typeface="Calibri"/>
              </a:rPr>
              <a:t>social</a:t>
            </a:r>
            <a:r>
              <a:rPr sz="1750" spc="-15" dirty="0">
                <a:solidFill>
                  <a:srgbClr val="E4DCE6"/>
                </a:solidFill>
                <a:latin typeface="Calibri"/>
                <a:cs typeface="Calibri"/>
              </a:rPr>
              <a:t> </a:t>
            </a:r>
            <a:r>
              <a:rPr sz="1750" spc="-10" dirty="0">
                <a:solidFill>
                  <a:srgbClr val="E4DCE6"/>
                </a:solidFill>
                <a:latin typeface="Calibri"/>
                <a:cs typeface="Calibri"/>
              </a:rPr>
              <a:t>engineering. </a:t>
            </a:r>
            <a:r>
              <a:rPr sz="1750" dirty="0">
                <a:solidFill>
                  <a:srgbClr val="E4DCE6"/>
                </a:solidFill>
                <a:latin typeface="Calibri"/>
                <a:cs typeface="Calibri"/>
              </a:rPr>
              <a:t>The</a:t>
            </a:r>
            <a:r>
              <a:rPr sz="1750" spc="-20" dirty="0">
                <a:solidFill>
                  <a:srgbClr val="E4DCE6"/>
                </a:solidFill>
                <a:latin typeface="Calibri"/>
                <a:cs typeface="Calibri"/>
              </a:rPr>
              <a:t> </a:t>
            </a:r>
            <a:r>
              <a:rPr sz="1750" spc="-10" dirty="0">
                <a:solidFill>
                  <a:srgbClr val="E4DCE6"/>
                </a:solidFill>
                <a:latin typeface="Calibri"/>
                <a:cs typeface="Calibri"/>
              </a:rPr>
              <a:t>high-</a:t>
            </a:r>
            <a:r>
              <a:rPr sz="1750" spc="-20" dirty="0">
                <a:solidFill>
                  <a:srgbClr val="E4DCE6"/>
                </a:solidFill>
                <a:latin typeface="Calibri"/>
                <a:cs typeface="Calibri"/>
              </a:rPr>
              <a:t>tech</a:t>
            </a:r>
            <a:endParaRPr sz="1750">
              <a:latin typeface="Calibri"/>
              <a:cs typeface="Calibri"/>
            </a:endParaRPr>
          </a:p>
          <a:p>
            <a:pPr marL="27940" marR="90170">
              <a:lnSpc>
                <a:spcPct val="137700"/>
              </a:lnSpc>
            </a:pPr>
            <a:r>
              <a:rPr sz="1750" dirty="0">
                <a:solidFill>
                  <a:srgbClr val="E4DCE6"/>
                </a:solidFill>
                <a:latin typeface="Calibri"/>
                <a:cs typeface="Calibri"/>
              </a:rPr>
              <a:t>security</a:t>
            </a:r>
            <a:r>
              <a:rPr sz="1750" spc="-50" dirty="0">
                <a:solidFill>
                  <a:srgbClr val="E4DCE6"/>
                </a:solidFill>
                <a:latin typeface="Calibri"/>
                <a:cs typeface="Calibri"/>
              </a:rPr>
              <a:t> </a:t>
            </a:r>
            <a:r>
              <a:rPr sz="1750" spc="-10" dirty="0">
                <a:solidFill>
                  <a:srgbClr val="E4DCE6"/>
                </a:solidFill>
                <a:latin typeface="Calibri"/>
                <a:cs typeface="Calibri"/>
              </a:rPr>
              <a:t>measures</a:t>
            </a:r>
            <a:r>
              <a:rPr sz="1750" spc="-45" dirty="0">
                <a:solidFill>
                  <a:srgbClr val="E4DCE6"/>
                </a:solidFill>
                <a:latin typeface="Calibri"/>
                <a:cs typeface="Calibri"/>
              </a:rPr>
              <a:t> </a:t>
            </a:r>
            <a:r>
              <a:rPr sz="1750" dirty="0">
                <a:solidFill>
                  <a:srgbClr val="E4DCE6"/>
                </a:solidFill>
                <a:latin typeface="Calibri"/>
                <a:cs typeface="Calibri"/>
              </a:rPr>
              <a:t>of</a:t>
            </a:r>
            <a:r>
              <a:rPr sz="1750" spc="-50" dirty="0">
                <a:solidFill>
                  <a:srgbClr val="E4DCE6"/>
                </a:solidFill>
                <a:latin typeface="Calibri"/>
                <a:cs typeface="Calibri"/>
              </a:rPr>
              <a:t> </a:t>
            </a:r>
            <a:r>
              <a:rPr sz="1750" dirty="0">
                <a:solidFill>
                  <a:srgbClr val="E4DCE6"/>
                </a:solidFill>
                <a:latin typeface="Calibri"/>
                <a:cs typeface="Calibri"/>
              </a:rPr>
              <a:t>banks</a:t>
            </a:r>
            <a:r>
              <a:rPr sz="1750" spc="-45" dirty="0">
                <a:solidFill>
                  <a:srgbClr val="E4DCE6"/>
                </a:solidFill>
                <a:latin typeface="Calibri"/>
                <a:cs typeface="Calibri"/>
              </a:rPr>
              <a:t> </a:t>
            </a:r>
            <a:r>
              <a:rPr sz="1750" spc="-25" dirty="0">
                <a:solidFill>
                  <a:srgbClr val="E4DCE6"/>
                </a:solidFill>
                <a:latin typeface="Calibri"/>
                <a:cs typeface="Calibri"/>
              </a:rPr>
              <a:t>are </a:t>
            </a:r>
            <a:r>
              <a:rPr sz="1750" spc="-10" dirty="0">
                <a:solidFill>
                  <a:srgbClr val="E4DCE6"/>
                </a:solidFill>
                <a:latin typeface="Calibri"/>
                <a:cs typeface="Calibri"/>
              </a:rPr>
              <a:t>bypassed</a:t>
            </a:r>
            <a:r>
              <a:rPr sz="1750" spc="-45" dirty="0">
                <a:solidFill>
                  <a:srgbClr val="E4DCE6"/>
                </a:solidFill>
                <a:latin typeface="Calibri"/>
                <a:cs typeface="Calibri"/>
              </a:rPr>
              <a:t> </a:t>
            </a:r>
            <a:r>
              <a:rPr sz="1750" dirty="0">
                <a:solidFill>
                  <a:srgbClr val="E4DCE6"/>
                </a:solidFill>
                <a:latin typeface="Calibri"/>
                <a:cs typeface="Calibri"/>
              </a:rPr>
              <a:t>because</a:t>
            </a:r>
            <a:r>
              <a:rPr sz="1750" spc="-30" dirty="0">
                <a:solidFill>
                  <a:srgbClr val="E4DCE6"/>
                </a:solidFill>
                <a:latin typeface="Calibri"/>
                <a:cs typeface="Calibri"/>
              </a:rPr>
              <a:t> </a:t>
            </a:r>
            <a:r>
              <a:rPr sz="1750" dirty="0">
                <a:solidFill>
                  <a:srgbClr val="E4DCE6"/>
                </a:solidFill>
                <a:latin typeface="Calibri"/>
                <a:cs typeface="Calibri"/>
              </a:rPr>
              <a:t>the</a:t>
            </a:r>
            <a:r>
              <a:rPr sz="1750" spc="-40" dirty="0">
                <a:solidFill>
                  <a:srgbClr val="E4DCE6"/>
                </a:solidFill>
                <a:latin typeface="Calibri"/>
                <a:cs typeface="Calibri"/>
              </a:rPr>
              <a:t> </a:t>
            </a:r>
            <a:r>
              <a:rPr sz="1750" spc="-10" dirty="0">
                <a:solidFill>
                  <a:srgbClr val="E4DCE6"/>
                </a:solidFill>
                <a:latin typeface="Calibri"/>
                <a:cs typeface="Calibri"/>
              </a:rPr>
              <a:t>vulnerability</a:t>
            </a:r>
            <a:r>
              <a:rPr sz="1750" spc="-30" dirty="0">
                <a:solidFill>
                  <a:srgbClr val="E4DCE6"/>
                </a:solidFill>
                <a:latin typeface="Calibri"/>
                <a:cs typeface="Calibri"/>
              </a:rPr>
              <a:t> </a:t>
            </a:r>
            <a:r>
              <a:rPr sz="1750" spc="-20" dirty="0">
                <a:solidFill>
                  <a:srgbClr val="E4DCE6"/>
                </a:solidFill>
                <a:latin typeface="Calibri"/>
                <a:cs typeface="Calibri"/>
              </a:rPr>
              <a:t>lies</a:t>
            </a:r>
            <a:endParaRPr sz="1750">
              <a:latin typeface="Calibri"/>
              <a:cs typeface="Calibri"/>
            </a:endParaRPr>
          </a:p>
          <a:p>
            <a:pPr marL="27940">
              <a:lnSpc>
                <a:spcPct val="100000"/>
              </a:lnSpc>
              <a:spcBef>
                <a:spcPts val="805"/>
              </a:spcBef>
            </a:pPr>
            <a:r>
              <a:rPr sz="1750" dirty="0">
                <a:solidFill>
                  <a:srgbClr val="E4DCE6"/>
                </a:solidFill>
                <a:latin typeface="Calibri"/>
                <a:cs typeface="Calibri"/>
              </a:rPr>
              <a:t>with</a:t>
            </a:r>
            <a:r>
              <a:rPr sz="1750" spc="-50" dirty="0">
                <a:solidFill>
                  <a:srgbClr val="E4DCE6"/>
                </a:solidFill>
                <a:latin typeface="Calibri"/>
                <a:cs typeface="Calibri"/>
              </a:rPr>
              <a:t> </a:t>
            </a:r>
            <a:r>
              <a:rPr sz="1750" dirty="0">
                <a:solidFill>
                  <a:srgbClr val="E4DCE6"/>
                </a:solidFill>
                <a:latin typeface="Calibri"/>
                <a:cs typeface="Calibri"/>
              </a:rPr>
              <a:t>the</a:t>
            </a:r>
            <a:r>
              <a:rPr sz="1750" spc="-45" dirty="0">
                <a:solidFill>
                  <a:srgbClr val="E4DCE6"/>
                </a:solidFill>
                <a:latin typeface="Calibri"/>
                <a:cs typeface="Calibri"/>
              </a:rPr>
              <a:t> </a:t>
            </a:r>
            <a:r>
              <a:rPr sz="1750" dirty="0">
                <a:solidFill>
                  <a:srgbClr val="E4DCE6"/>
                </a:solidFill>
                <a:latin typeface="Calibri"/>
                <a:cs typeface="Calibri"/>
              </a:rPr>
              <a:t>human</a:t>
            </a:r>
            <a:r>
              <a:rPr sz="1750" spc="-55" dirty="0">
                <a:solidFill>
                  <a:srgbClr val="E4DCE6"/>
                </a:solidFill>
                <a:latin typeface="Calibri"/>
                <a:cs typeface="Calibri"/>
              </a:rPr>
              <a:t> </a:t>
            </a:r>
            <a:r>
              <a:rPr sz="1750" dirty="0">
                <a:solidFill>
                  <a:srgbClr val="E4DCE6"/>
                </a:solidFill>
                <a:latin typeface="Calibri"/>
                <a:cs typeface="Calibri"/>
              </a:rPr>
              <a:t>element</a:t>
            </a:r>
            <a:r>
              <a:rPr sz="1750" spc="-50" dirty="0">
                <a:solidFill>
                  <a:srgbClr val="E4DCE6"/>
                </a:solidFill>
                <a:latin typeface="Calibri"/>
                <a:cs typeface="Calibri"/>
              </a:rPr>
              <a:t> </a:t>
            </a:r>
            <a:r>
              <a:rPr sz="1750" dirty="0">
                <a:solidFill>
                  <a:srgbClr val="E4DCE6"/>
                </a:solidFill>
                <a:latin typeface="Calibri"/>
                <a:cs typeface="Calibri"/>
              </a:rPr>
              <a:t>–</a:t>
            </a:r>
            <a:r>
              <a:rPr sz="1750" spc="-45" dirty="0">
                <a:solidFill>
                  <a:srgbClr val="E4DCE6"/>
                </a:solidFill>
                <a:latin typeface="Calibri"/>
                <a:cs typeface="Calibri"/>
              </a:rPr>
              <a:t> </a:t>
            </a:r>
            <a:r>
              <a:rPr sz="1750" spc="-25" dirty="0">
                <a:solidFill>
                  <a:srgbClr val="E4DCE6"/>
                </a:solidFill>
                <a:latin typeface="Calibri"/>
                <a:cs typeface="Calibri"/>
              </a:rPr>
              <a:t>the</a:t>
            </a:r>
            <a:endParaRPr sz="1750">
              <a:latin typeface="Calibri"/>
              <a:cs typeface="Calibri"/>
            </a:endParaRPr>
          </a:p>
          <a:p>
            <a:pPr marL="27940" marR="272415">
              <a:lnSpc>
                <a:spcPct val="137700"/>
              </a:lnSpc>
            </a:pPr>
            <a:r>
              <a:rPr sz="1750" spc="-10" dirty="0">
                <a:solidFill>
                  <a:srgbClr val="E4DCE6"/>
                </a:solidFill>
                <a:latin typeface="Calibri"/>
                <a:cs typeface="Calibri"/>
              </a:rPr>
              <a:t>merchant</a:t>
            </a:r>
            <a:r>
              <a:rPr sz="1750" spc="-40" dirty="0">
                <a:solidFill>
                  <a:srgbClr val="E4DCE6"/>
                </a:solidFill>
                <a:latin typeface="Calibri"/>
                <a:cs typeface="Calibri"/>
              </a:rPr>
              <a:t> </a:t>
            </a:r>
            <a:r>
              <a:rPr sz="1750" dirty="0">
                <a:solidFill>
                  <a:srgbClr val="E4DCE6"/>
                </a:solidFill>
                <a:latin typeface="Calibri"/>
                <a:cs typeface="Calibri"/>
              </a:rPr>
              <a:t>being</a:t>
            </a:r>
            <a:r>
              <a:rPr sz="1750" spc="-40" dirty="0">
                <a:solidFill>
                  <a:srgbClr val="E4DCE6"/>
                </a:solidFill>
                <a:latin typeface="Calibri"/>
                <a:cs typeface="Calibri"/>
              </a:rPr>
              <a:t> </a:t>
            </a:r>
            <a:r>
              <a:rPr sz="1750" spc="-10" dirty="0">
                <a:solidFill>
                  <a:srgbClr val="E4DCE6"/>
                </a:solidFill>
                <a:latin typeface="Calibri"/>
                <a:cs typeface="Calibri"/>
              </a:rPr>
              <a:t>tricked</a:t>
            </a:r>
            <a:r>
              <a:rPr sz="1750" spc="-35" dirty="0">
                <a:solidFill>
                  <a:srgbClr val="E4DCE6"/>
                </a:solidFill>
                <a:latin typeface="Calibri"/>
                <a:cs typeface="Calibri"/>
              </a:rPr>
              <a:t> </a:t>
            </a:r>
            <a:r>
              <a:rPr sz="1750" dirty="0">
                <a:solidFill>
                  <a:srgbClr val="E4DCE6"/>
                </a:solidFill>
                <a:latin typeface="Calibri"/>
                <a:cs typeface="Calibri"/>
              </a:rPr>
              <a:t>–</a:t>
            </a:r>
            <a:r>
              <a:rPr sz="1750" spc="-40" dirty="0">
                <a:solidFill>
                  <a:srgbClr val="E4DCE6"/>
                </a:solidFill>
                <a:latin typeface="Calibri"/>
                <a:cs typeface="Calibri"/>
              </a:rPr>
              <a:t> </a:t>
            </a:r>
            <a:r>
              <a:rPr sz="1750" spc="-10" dirty="0">
                <a:solidFill>
                  <a:srgbClr val="E4DCE6"/>
                </a:solidFill>
                <a:latin typeface="Calibri"/>
                <a:cs typeface="Calibri"/>
              </a:rPr>
              <a:t>rather</a:t>
            </a:r>
            <a:r>
              <a:rPr sz="1750" spc="-50" dirty="0">
                <a:solidFill>
                  <a:srgbClr val="E4DCE6"/>
                </a:solidFill>
                <a:latin typeface="Calibri"/>
                <a:cs typeface="Calibri"/>
              </a:rPr>
              <a:t> </a:t>
            </a:r>
            <a:r>
              <a:rPr sz="1750" spc="-20" dirty="0">
                <a:solidFill>
                  <a:srgbClr val="E4DCE6"/>
                </a:solidFill>
                <a:latin typeface="Calibri"/>
                <a:cs typeface="Calibri"/>
              </a:rPr>
              <a:t>than </a:t>
            </a:r>
            <a:r>
              <a:rPr sz="1750" dirty="0">
                <a:solidFill>
                  <a:srgbClr val="E4DCE6"/>
                </a:solidFill>
                <a:latin typeface="Calibri"/>
                <a:cs typeface="Calibri"/>
              </a:rPr>
              <a:t>the</a:t>
            </a:r>
            <a:r>
              <a:rPr sz="1750" spc="-60" dirty="0">
                <a:solidFill>
                  <a:srgbClr val="E4DCE6"/>
                </a:solidFill>
                <a:latin typeface="Calibri"/>
                <a:cs typeface="Calibri"/>
              </a:rPr>
              <a:t> </a:t>
            </a:r>
            <a:r>
              <a:rPr sz="1750" dirty="0">
                <a:solidFill>
                  <a:srgbClr val="E4DCE6"/>
                </a:solidFill>
                <a:latin typeface="Calibri"/>
                <a:cs typeface="Calibri"/>
              </a:rPr>
              <a:t>banking</a:t>
            </a:r>
            <a:r>
              <a:rPr sz="1750" spc="-60" dirty="0">
                <a:solidFill>
                  <a:srgbClr val="E4DCE6"/>
                </a:solidFill>
                <a:latin typeface="Calibri"/>
                <a:cs typeface="Calibri"/>
              </a:rPr>
              <a:t> </a:t>
            </a:r>
            <a:r>
              <a:rPr sz="1750" spc="-10" dirty="0">
                <a:solidFill>
                  <a:srgbClr val="E4DCE6"/>
                </a:solidFill>
                <a:latin typeface="Calibri"/>
                <a:cs typeface="Calibri"/>
              </a:rPr>
              <a:t>system</a:t>
            </a:r>
            <a:r>
              <a:rPr sz="1750" spc="-55" dirty="0">
                <a:solidFill>
                  <a:srgbClr val="E4DCE6"/>
                </a:solidFill>
                <a:latin typeface="Calibri"/>
                <a:cs typeface="Calibri"/>
              </a:rPr>
              <a:t> </a:t>
            </a:r>
            <a:r>
              <a:rPr sz="1750" spc="-10" dirty="0">
                <a:solidFill>
                  <a:srgbClr val="E4DCE6"/>
                </a:solidFill>
                <a:latin typeface="Calibri"/>
                <a:cs typeface="Calibri"/>
              </a:rPr>
              <a:t>itself.</a:t>
            </a:r>
            <a:endParaRPr sz="175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5760719" y="2057400"/>
            <a:ext cx="8389746" cy="4994967"/>
            <a:chOff x="13444219" y="2078989"/>
            <a:chExt cx="1186180" cy="4965065"/>
          </a:xfrm>
        </p:grpSpPr>
        <p:sp>
          <p:nvSpPr>
            <p:cNvPr id="4" name="object 4"/>
            <p:cNvSpPr/>
            <p:nvPr/>
          </p:nvSpPr>
          <p:spPr>
            <a:xfrm>
              <a:off x="13444220" y="2078989"/>
              <a:ext cx="1186180" cy="4965065"/>
            </a:xfrm>
            <a:custGeom>
              <a:avLst/>
              <a:gdLst/>
              <a:ahLst/>
              <a:cxnLst/>
              <a:rect l="l" t="t" r="r" b="b"/>
              <a:pathLst>
                <a:path w="1186180" h="4965065">
                  <a:moveTo>
                    <a:pt x="1186180" y="0"/>
                  </a:moveTo>
                  <a:lnTo>
                    <a:pt x="85725" y="0"/>
                  </a:lnTo>
                  <a:lnTo>
                    <a:pt x="52336" y="6743"/>
                  </a:lnTo>
                  <a:lnTo>
                    <a:pt x="25095" y="25107"/>
                  </a:lnTo>
                  <a:lnTo>
                    <a:pt x="6731" y="52349"/>
                  </a:lnTo>
                  <a:lnTo>
                    <a:pt x="0" y="85725"/>
                  </a:lnTo>
                  <a:lnTo>
                    <a:pt x="0" y="3050540"/>
                  </a:lnTo>
                  <a:lnTo>
                    <a:pt x="0" y="3136265"/>
                  </a:lnTo>
                  <a:lnTo>
                    <a:pt x="0" y="4879340"/>
                  </a:lnTo>
                  <a:lnTo>
                    <a:pt x="0" y="4965052"/>
                  </a:lnTo>
                  <a:lnTo>
                    <a:pt x="85725" y="4965052"/>
                  </a:lnTo>
                  <a:lnTo>
                    <a:pt x="1186180" y="4965052"/>
                  </a:lnTo>
                  <a:lnTo>
                    <a:pt x="1186180" y="3136265"/>
                  </a:lnTo>
                  <a:lnTo>
                    <a:pt x="1186180" y="0"/>
                  </a:lnTo>
                  <a:close/>
                </a:path>
              </a:pathLst>
            </a:custGeom>
            <a:solidFill>
              <a:srgbClr val="282C5E"/>
            </a:solidFill>
          </p:spPr>
          <p:txBody>
            <a:bodyPr wrap="square" lIns="0" tIns="0" rIns="0" bIns="0" rtlCol="0"/>
            <a:lstStyle/>
            <a:p>
              <a:endParaRPr dirty="0"/>
            </a:p>
          </p:txBody>
        </p:sp>
        <p:sp>
          <p:nvSpPr>
            <p:cNvPr id="5" name="object 5"/>
            <p:cNvSpPr/>
            <p:nvPr/>
          </p:nvSpPr>
          <p:spPr>
            <a:xfrm>
              <a:off x="13444220" y="5215889"/>
              <a:ext cx="1186180" cy="20320"/>
            </a:xfrm>
            <a:custGeom>
              <a:avLst/>
              <a:gdLst/>
              <a:ahLst/>
              <a:cxnLst/>
              <a:rect l="l" t="t" r="r" b="b"/>
              <a:pathLst>
                <a:path w="1186180" h="20320">
                  <a:moveTo>
                    <a:pt x="1186180" y="0"/>
                  </a:moveTo>
                  <a:lnTo>
                    <a:pt x="2286" y="0"/>
                  </a:lnTo>
                  <a:lnTo>
                    <a:pt x="2286" y="3810"/>
                  </a:lnTo>
                  <a:lnTo>
                    <a:pt x="0" y="3810"/>
                  </a:lnTo>
                  <a:lnTo>
                    <a:pt x="0" y="16510"/>
                  </a:lnTo>
                  <a:lnTo>
                    <a:pt x="2540" y="16510"/>
                  </a:lnTo>
                  <a:lnTo>
                    <a:pt x="2540" y="20320"/>
                  </a:lnTo>
                  <a:lnTo>
                    <a:pt x="1186180" y="20320"/>
                  </a:lnTo>
                  <a:lnTo>
                    <a:pt x="1186180" y="16510"/>
                  </a:lnTo>
                  <a:lnTo>
                    <a:pt x="1186180" y="3810"/>
                  </a:lnTo>
                  <a:lnTo>
                    <a:pt x="1186180" y="0"/>
                  </a:lnTo>
                  <a:close/>
                </a:path>
              </a:pathLst>
            </a:custGeom>
            <a:solidFill>
              <a:srgbClr val="414677"/>
            </a:solidFill>
          </p:spPr>
          <p:txBody>
            <a:bodyPr wrap="square" lIns="0" tIns="0" rIns="0" bIns="0" rtlCol="0"/>
            <a:lstStyle/>
            <a:p>
              <a:endParaRPr/>
            </a:p>
          </p:txBody>
        </p:sp>
      </p:grpSp>
      <p:sp>
        <p:nvSpPr>
          <p:cNvPr id="6" name="object 6"/>
          <p:cNvSpPr txBox="1">
            <a:spLocks noGrp="1"/>
          </p:cNvSpPr>
          <p:nvPr>
            <p:ph type="title"/>
          </p:nvPr>
        </p:nvSpPr>
        <p:spPr>
          <a:xfrm>
            <a:off x="522223" y="466422"/>
            <a:ext cx="13422377" cy="1390713"/>
          </a:xfrm>
          <a:prstGeom prst="rect">
            <a:avLst/>
          </a:prstGeom>
        </p:spPr>
        <p:txBody>
          <a:bodyPr vert="horz" wrap="square" lIns="0" tIns="427811" rIns="0" bIns="0" rtlCol="0">
            <a:spAutoFit/>
          </a:bodyPr>
          <a:lstStyle/>
          <a:p>
            <a:pPr marL="5677535" marR="5080" indent="-6350">
              <a:lnSpc>
                <a:spcPct val="107200"/>
              </a:lnSpc>
              <a:spcBef>
                <a:spcPts val="100"/>
              </a:spcBef>
            </a:pPr>
            <a:r>
              <a:rPr sz="2000" b="1" spc="-10" dirty="0"/>
              <a:t>Understanding</a:t>
            </a:r>
            <a:r>
              <a:rPr sz="2000" b="1" spc="-35" dirty="0"/>
              <a:t> </a:t>
            </a:r>
            <a:r>
              <a:rPr sz="2000" b="1" dirty="0"/>
              <a:t>the</a:t>
            </a:r>
            <a:r>
              <a:rPr sz="2000" b="1" spc="-45" dirty="0"/>
              <a:t> </a:t>
            </a:r>
            <a:r>
              <a:rPr sz="2000" b="1" spc="-10" dirty="0"/>
              <a:t>Vulnerability</a:t>
            </a:r>
            <a:br>
              <a:rPr lang="en-IN" sz="2000" b="1" spc="-10" dirty="0"/>
            </a:br>
            <a:r>
              <a:rPr sz="2000" b="1" spc="-40" dirty="0"/>
              <a:t> </a:t>
            </a:r>
            <a:r>
              <a:rPr sz="4000" b="1" dirty="0"/>
              <a:t>The</a:t>
            </a:r>
            <a:r>
              <a:rPr sz="4000" b="1" spc="-70" dirty="0"/>
              <a:t> </a:t>
            </a:r>
            <a:r>
              <a:rPr sz="4000" b="1" spc="-10" dirty="0"/>
              <a:t>"Security </a:t>
            </a:r>
            <a:r>
              <a:rPr sz="4000" b="1" dirty="0"/>
              <a:t>Gap"</a:t>
            </a:r>
            <a:r>
              <a:rPr sz="4000" b="1" spc="-135" dirty="0"/>
              <a:t> </a:t>
            </a:r>
            <a:r>
              <a:rPr sz="4000" b="1" dirty="0"/>
              <a:t>We</a:t>
            </a:r>
            <a:r>
              <a:rPr sz="4000" b="1" spc="-130" dirty="0"/>
              <a:t> </a:t>
            </a:r>
            <a:r>
              <a:rPr sz="4000" b="1" spc="-10" dirty="0"/>
              <a:t>Found</a:t>
            </a:r>
            <a:endParaRPr sz="4000" b="1" dirty="0"/>
          </a:p>
        </p:txBody>
      </p:sp>
      <p:sp>
        <p:nvSpPr>
          <p:cNvPr id="11" name="Shape 3">
            <a:extLst>
              <a:ext uri="{FF2B5EF4-FFF2-40B4-BE49-F238E27FC236}">
                <a16:creationId xmlns:a16="http://schemas.microsoft.com/office/drawing/2014/main" id="{CAA79397-5046-22BB-CAD8-105E83B56DAB}"/>
              </a:ext>
            </a:extLst>
          </p:cNvPr>
          <p:cNvSpPr/>
          <p:nvPr/>
        </p:nvSpPr>
        <p:spPr>
          <a:xfrm>
            <a:off x="6023224" y="2057400"/>
            <a:ext cx="3857744" cy="3116289"/>
          </a:xfrm>
          <a:prstGeom prst="roundRect">
            <a:avLst>
              <a:gd name="adj" fmla="val 2735"/>
            </a:avLst>
          </a:prstGeom>
          <a:solidFill>
            <a:srgbClr val="282D5E"/>
          </a:solidFill>
          <a:ln/>
        </p:spPr>
      </p:sp>
      <p:sp>
        <p:nvSpPr>
          <p:cNvPr id="13" name="TextBox 12">
            <a:extLst>
              <a:ext uri="{FF2B5EF4-FFF2-40B4-BE49-F238E27FC236}">
                <a16:creationId xmlns:a16="http://schemas.microsoft.com/office/drawing/2014/main" id="{FF6035CE-65BB-7BBE-8221-4AE817AC56F9}"/>
              </a:ext>
            </a:extLst>
          </p:cNvPr>
          <p:cNvSpPr txBox="1"/>
          <p:nvPr/>
        </p:nvSpPr>
        <p:spPr>
          <a:xfrm>
            <a:off x="5791199" y="2952056"/>
            <a:ext cx="3945605" cy="2065694"/>
          </a:xfrm>
          <a:prstGeom prst="rect">
            <a:avLst/>
          </a:prstGeom>
          <a:noFill/>
        </p:spPr>
        <p:txBody>
          <a:bodyPr wrap="square">
            <a:spAutoFit/>
          </a:bodyPr>
          <a:lstStyle/>
          <a:p>
            <a:pPr marL="0" indent="0" algn="l">
              <a:lnSpc>
                <a:spcPts val="2550"/>
              </a:lnSpc>
              <a:buNone/>
            </a:pPr>
            <a:r>
              <a:rPr lang="en-US" sz="1800" dirty="0">
                <a:solidFill>
                  <a:srgbClr val="E5DCE6"/>
                </a:solidFill>
                <a:latin typeface="Montserrat" pitchFamily="34" charset="0"/>
                <a:ea typeface="Montserrat" pitchFamily="34" charset="-122"/>
                <a:cs typeface="Montserrat" pitchFamily="34" charset="-120"/>
              </a:rPr>
              <a:t>Merchants simply cannot afford the time to log into their bank app for real-time verification of every single customer transaction. This creates an operational bottleneck.</a:t>
            </a:r>
            <a:endParaRPr lang="en-US" sz="1800" dirty="0"/>
          </a:p>
        </p:txBody>
      </p:sp>
      <p:sp>
        <p:nvSpPr>
          <p:cNvPr id="14" name="Text 4">
            <a:extLst>
              <a:ext uri="{FF2B5EF4-FFF2-40B4-BE49-F238E27FC236}">
                <a16:creationId xmlns:a16="http://schemas.microsoft.com/office/drawing/2014/main" id="{06B06DE6-25AB-955D-CC74-A74F9CADA9AB}"/>
              </a:ext>
            </a:extLst>
          </p:cNvPr>
          <p:cNvSpPr/>
          <p:nvPr/>
        </p:nvSpPr>
        <p:spPr>
          <a:xfrm>
            <a:off x="6023217" y="2323558"/>
            <a:ext cx="3043630" cy="504533"/>
          </a:xfrm>
          <a:prstGeom prst="rect">
            <a:avLst/>
          </a:prstGeom>
          <a:noFill/>
          <a:ln/>
        </p:spPr>
        <p:txBody>
          <a:bodyPr wrap="none" lIns="0" tIns="0" rIns="0" bIns="0" rtlCol="0" anchor="t"/>
          <a:lstStyle/>
          <a:p>
            <a:pPr marL="0" indent="0" algn="l">
              <a:lnSpc>
                <a:spcPts val="2500"/>
              </a:lnSpc>
              <a:buNone/>
            </a:pPr>
            <a:r>
              <a:rPr lang="en-US" sz="2000" b="1" dirty="0">
                <a:solidFill>
                  <a:srgbClr val="E5DCE6"/>
                </a:solidFill>
                <a:latin typeface="Bricolage Grotesque Extra Bold" pitchFamily="34" charset="0"/>
                <a:ea typeface="Bricolage Grotesque Extra Bold" pitchFamily="34" charset="-122"/>
                <a:cs typeface="Bricolage Grotesque Extra Bold" pitchFamily="34" charset="-120"/>
              </a:rPr>
              <a:t>Bank App is Too Slow</a:t>
            </a:r>
            <a:endParaRPr lang="en-US" sz="2000" dirty="0"/>
          </a:p>
        </p:txBody>
      </p:sp>
      <p:sp>
        <p:nvSpPr>
          <p:cNvPr id="17" name="TextBox 16">
            <a:extLst>
              <a:ext uri="{FF2B5EF4-FFF2-40B4-BE49-F238E27FC236}">
                <a16:creationId xmlns:a16="http://schemas.microsoft.com/office/drawing/2014/main" id="{9B2DDC3C-E3AD-B3C0-D68F-2CE7187705B2}"/>
              </a:ext>
            </a:extLst>
          </p:cNvPr>
          <p:cNvSpPr txBox="1"/>
          <p:nvPr/>
        </p:nvSpPr>
        <p:spPr>
          <a:xfrm>
            <a:off x="10355095" y="2947233"/>
            <a:ext cx="3589505" cy="2065694"/>
          </a:xfrm>
          <a:prstGeom prst="rect">
            <a:avLst/>
          </a:prstGeom>
          <a:noFill/>
        </p:spPr>
        <p:txBody>
          <a:bodyPr wrap="square">
            <a:spAutoFit/>
          </a:bodyPr>
          <a:lstStyle/>
          <a:p>
            <a:pPr marL="0" indent="0" algn="l">
              <a:lnSpc>
                <a:spcPts val="2550"/>
              </a:lnSpc>
              <a:buNone/>
            </a:pPr>
            <a:r>
              <a:rPr lang="en-US" sz="1800" dirty="0">
                <a:solidFill>
                  <a:srgbClr val="E5DCE6"/>
                </a:solidFill>
                <a:latin typeface="Montserrat" pitchFamily="34" charset="0"/>
                <a:ea typeface="Montserrat" pitchFamily="34" charset="-122"/>
                <a:cs typeface="Montserrat" pitchFamily="34" charset="-120"/>
              </a:rPr>
              <a:t>SMS notifications from banks are prone to delays due to network issues or can be easily missed in a fast-paced retail environment, offering a false sense of security.</a:t>
            </a:r>
            <a:endParaRPr lang="en-US" sz="1800" dirty="0"/>
          </a:p>
        </p:txBody>
      </p:sp>
      <p:sp>
        <p:nvSpPr>
          <p:cNvPr id="18" name="Text 8">
            <a:extLst>
              <a:ext uri="{FF2B5EF4-FFF2-40B4-BE49-F238E27FC236}">
                <a16:creationId xmlns:a16="http://schemas.microsoft.com/office/drawing/2014/main" id="{9B9CB2E4-CB96-BB19-6B2C-94D2C87BF4E0}"/>
              </a:ext>
            </a:extLst>
          </p:cNvPr>
          <p:cNvSpPr/>
          <p:nvPr/>
        </p:nvSpPr>
        <p:spPr>
          <a:xfrm>
            <a:off x="10578103" y="2323558"/>
            <a:ext cx="3143488" cy="637699"/>
          </a:xfrm>
          <a:prstGeom prst="rect">
            <a:avLst/>
          </a:prstGeom>
          <a:noFill/>
          <a:ln/>
        </p:spPr>
        <p:txBody>
          <a:bodyPr wrap="square" lIns="0" tIns="0" rIns="0" bIns="0" rtlCol="0" anchor="t"/>
          <a:lstStyle/>
          <a:p>
            <a:pPr marL="0" indent="0" algn="l">
              <a:lnSpc>
                <a:spcPts val="2500"/>
              </a:lnSpc>
              <a:buNone/>
            </a:pPr>
            <a:r>
              <a:rPr lang="en-US" sz="2000" b="1" dirty="0">
                <a:solidFill>
                  <a:srgbClr val="E5DCE6"/>
                </a:solidFill>
                <a:latin typeface="Bricolage Grotesque Extra Bold" pitchFamily="34" charset="0"/>
                <a:ea typeface="Bricolage Grotesque Extra Bold" pitchFamily="34" charset="-122"/>
                <a:cs typeface="Bricolage Grotesque Extra Bold" pitchFamily="34" charset="-120"/>
              </a:rPr>
              <a:t>SMS Alerts are Unreliable</a:t>
            </a:r>
            <a:endParaRPr lang="en-US" sz="2000" dirty="0"/>
          </a:p>
        </p:txBody>
      </p:sp>
      <p:sp>
        <p:nvSpPr>
          <p:cNvPr id="19" name="Text 14">
            <a:extLst>
              <a:ext uri="{FF2B5EF4-FFF2-40B4-BE49-F238E27FC236}">
                <a16:creationId xmlns:a16="http://schemas.microsoft.com/office/drawing/2014/main" id="{531DFB19-480F-64B0-7E84-B2D5C0AD8BEC}"/>
              </a:ext>
            </a:extLst>
          </p:cNvPr>
          <p:cNvSpPr/>
          <p:nvPr/>
        </p:nvSpPr>
        <p:spPr>
          <a:xfrm>
            <a:off x="5883703" y="5879668"/>
            <a:ext cx="7645242" cy="1161813"/>
          </a:xfrm>
          <a:prstGeom prst="rect">
            <a:avLst/>
          </a:prstGeom>
          <a:noFill/>
          <a:ln/>
        </p:spPr>
        <p:txBody>
          <a:bodyPr wrap="square" lIns="0" tIns="0" rIns="0" bIns="0" rtlCol="0" anchor="t"/>
          <a:lstStyle/>
          <a:p>
            <a:pPr marL="0" indent="0" algn="l">
              <a:lnSpc>
                <a:spcPts val="2550"/>
              </a:lnSpc>
              <a:buNone/>
            </a:pPr>
            <a:r>
              <a:rPr lang="en-US" sz="1600" dirty="0">
                <a:solidFill>
                  <a:srgbClr val="E5DCE6"/>
                </a:solidFill>
                <a:latin typeface="Montserrat" pitchFamily="34" charset="0"/>
                <a:ea typeface="Montserrat" pitchFamily="34" charset="-122"/>
                <a:cs typeface="Montserrat" pitchFamily="34" charset="-120"/>
              </a:rPr>
              <a:t>The scam capitalizes on a busy merchant's quick glance and inherent trust. Our system is designed to provide an </a:t>
            </a:r>
            <a:r>
              <a:rPr lang="en-US" sz="1600" b="1" dirty="0">
                <a:solidFill>
                  <a:srgbClr val="E5DCE6"/>
                </a:solidFill>
                <a:latin typeface="Montserrat" pitchFamily="34" charset="0"/>
                <a:ea typeface="Montserrat" pitchFamily="34" charset="-122"/>
                <a:cs typeface="Montserrat" pitchFamily="34" charset="-120"/>
              </a:rPr>
              <a:t>instant, trustworthy second opinion</a:t>
            </a:r>
            <a:r>
              <a:rPr lang="en-US" sz="1600" dirty="0">
                <a:solidFill>
                  <a:srgbClr val="E5DCE6"/>
                </a:solidFill>
                <a:latin typeface="Montserrat" pitchFamily="34" charset="0"/>
                <a:ea typeface="Montserrat" pitchFamily="34" charset="-122"/>
                <a:cs typeface="Montserrat" pitchFamily="34" charset="-120"/>
              </a:rPr>
              <a:t>, filling this crucial gap.</a:t>
            </a:r>
            <a:endParaRPr lang="en-US" sz="1600" dirty="0"/>
          </a:p>
        </p:txBody>
      </p:sp>
      <p:sp>
        <p:nvSpPr>
          <p:cNvPr id="21" name="TextBox 20">
            <a:extLst>
              <a:ext uri="{FF2B5EF4-FFF2-40B4-BE49-F238E27FC236}">
                <a16:creationId xmlns:a16="http://schemas.microsoft.com/office/drawing/2014/main" id="{0DA8B8E1-FA9B-8587-737C-118CFD27C913}"/>
              </a:ext>
            </a:extLst>
          </p:cNvPr>
          <p:cNvSpPr txBox="1"/>
          <p:nvPr/>
        </p:nvSpPr>
        <p:spPr>
          <a:xfrm>
            <a:off x="5793376" y="5412002"/>
            <a:ext cx="7315200" cy="385362"/>
          </a:xfrm>
          <a:prstGeom prst="rect">
            <a:avLst/>
          </a:prstGeom>
          <a:noFill/>
        </p:spPr>
        <p:txBody>
          <a:bodyPr wrap="square">
            <a:spAutoFit/>
          </a:bodyPr>
          <a:lstStyle/>
          <a:p>
            <a:pPr marL="0" indent="0" algn="l">
              <a:lnSpc>
                <a:spcPts val="250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Human Trust is Exploited</a:t>
            </a:r>
            <a:endParaRPr lang="en-US" sz="1800" dirty="0"/>
          </a:p>
        </p:txBody>
      </p:sp>
      <p:sp>
        <p:nvSpPr>
          <p:cNvPr id="23" name="Shape 10">
            <a:extLst>
              <a:ext uri="{FF2B5EF4-FFF2-40B4-BE49-F238E27FC236}">
                <a16:creationId xmlns:a16="http://schemas.microsoft.com/office/drawing/2014/main" id="{AB427B30-8B56-F5A0-F0DE-94DA029B462C}"/>
              </a:ext>
            </a:extLst>
          </p:cNvPr>
          <p:cNvSpPr/>
          <p:nvPr/>
        </p:nvSpPr>
        <p:spPr>
          <a:xfrm>
            <a:off x="9700507" y="3360452"/>
            <a:ext cx="510183" cy="510183"/>
          </a:xfrm>
          <a:prstGeom prst="roundRect">
            <a:avLst>
              <a:gd name="adj" fmla="val 14078"/>
            </a:avLst>
          </a:prstGeom>
          <a:solidFill>
            <a:srgbClr val="090E3F"/>
          </a:solidFill>
          <a:ln w="22860">
            <a:solidFill>
              <a:srgbClr val="414677"/>
            </a:solidFill>
            <a:prstDash val="solid"/>
          </a:ln>
        </p:spPr>
      </p:sp>
      <mc:AlternateContent xmlns:mc="http://schemas.openxmlformats.org/markup-compatibility/2006" xmlns:p14="http://schemas.microsoft.com/office/powerpoint/2010/main">
        <mc:Choice Requires="p14">
          <p:contentPart p14:bwMode="auto" r:id="rId3">
            <p14:nvContentPartPr>
              <p14:cNvPr id="34" name="Ink 33">
                <a:extLst>
                  <a:ext uri="{FF2B5EF4-FFF2-40B4-BE49-F238E27FC236}">
                    <a16:creationId xmlns:a16="http://schemas.microsoft.com/office/drawing/2014/main" id="{BC70BF3A-D700-A3DA-2FFE-58850D62876A}"/>
                  </a:ext>
                </a:extLst>
              </p14:cNvPr>
              <p14:cNvContentPartPr/>
              <p14:nvPr/>
            </p14:nvContentPartPr>
            <p14:xfrm>
              <a:off x="10019940" y="2299020"/>
              <a:ext cx="360" cy="360"/>
            </p14:xfrm>
          </p:contentPart>
        </mc:Choice>
        <mc:Fallback xmlns="">
          <p:pic>
            <p:nvPicPr>
              <p:cNvPr id="34" name="Ink 33">
                <a:extLst>
                  <a:ext uri="{FF2B5EF4-FFF2-40B4-BE49-F238E27FC236}">
                    <a16:creationId xmlns:a16="http://schemas.microsoft.com/office/drawing/2014/main" id="{BC70BF3A-D700-A3DA-2FFE-58850D62876A}"/>
                  </a:ext>
                </a:extLst>
              </p:cNvPr>
              <p:cNvPicPr/>
              <p:nvPr/>
            </p:nvPicPr>
            <p:blipFill>
              <a:blip r:embed="rId4"/>
              <a:stretch>
                <a:fillRect/>
              </a:stretch>
            </p:blipFill>
            <p:spPr>
              <a:xfrm>
                <a:off x="10002300" y="228102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6" name="Ink 35">
                <a:extLst>
                  <a:ext uri="{FF2B5EF4-FFF2-40B4-BE49-F238E27FC236}">
                    <a16:creationId xmlns:a16="http://schemas.microsoft.com/office/drawing/2014/main" id="{133BAC40-69CA-698E-6CC7-57F116843011}"/>
                  </a:ext>
                </a:extLst>
              </p14:cNvPr>
              <p14:cNvContentPartPr/>
              <p14:nvPr/>
            </p14:nvContentPartPr>
            <p14:xfrm>
              <a:off x="9947198" y="2071098"/>
              <a:ext cx="360" cy="1286640"/>
            </p14:xfrm>
          </p:contentPart>
        </mc:Choice>
        <mc:Fallback xmlns="">
          <p:pic>
            <p:nvPicPr>
              <p:cNvPr id="36" name="Ink 35">
                <a:extLst>
                  <a:ext uri="{FF2B5EF4-FFF2-40B4-BE49-F238E27FC236}">
                    <a16:creationId xmlns:a16="http://schemas.microsoft.com/office/drawing/2014/main" id="{133BAC40-69CA-698E-6CC7-57F116843011}"/>
                  </a:ext>
                </a:extLst>
              </p:cNvPr>
              <p:cNvPicPr/>
              <p:nvPr/>
            </p:nvPicPr>
            <p:blipFill>
              <a:blip r:embed="rId6"/>
              <a:stretch>
                <a:fillRect/>
              </a:stretch>
            </p:blipFill>
            <p:spPr>
              <a:xfrm>
                <a:off x="9929558" y="2053098"/>
                <a:ext cx="36000" cy="1322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7" name="Ink 36">
                <a:extLst>
                  <a:ext uri="{FF2B5EF4-FFF2-40B4-BE49-F238E27FC236}">
                    <a16:creationId xmlns:a16="http://schemas.microsoft.com/office/drawing/2014/main" id="{23276BEE-9912-54CE-2D8D-DAEF2B595F2F}"/>
                  </a:ext>
                </a:extLst>
              </p14:cNvPr>
              <p14:cNvContentPartPr/>
              <p14:nvPr/>
            </p14:nvContentPartPr>
            <p14:xfrm>
              <a:off x="9946838" y="3910138"/>
              <a:ext cx="360" cy="1243440"/>
            </p14:xfrm>
          </p:contentPart>
        </mc:Choice>
        <mc:Fallback xmlns="">
          <p:pic>
            <p:nvPicPr>
              <p:cNvPr id="37" name="Ink 36">
                <a:extLst>
                  <a:ext uri="{FF2B5EF4-FFF2-40B4-BE49-F238E27FC236}">
                    <a16:creationId xmlns:a16="http://schemas.microsoft.com/office/drawing/2014/main" id="{23276BEE-9912-54CE-2D8D-DAEF2B595F2F}"/>
                  </a:ext>
                </a:extLst>
              </p:cNvPr>
              <p:cNvPicPr/>
              <p:nvPr/>
            </p:nvPicPr>
            <p:blipFill>
              <a:blip r:embed="rId8"/>
              <a:stretch>
                <a:fillRect/>
              </a:stretch>
            </p:blipFill>
            <p:spPr>
              <a:xfrm>
                <a:off x="9929198" y="3892138"/>
                <a:ext cx="36000" cy="1279080"/>
              </a:xfrm>
              <a:prstGeom prst="rect">
                <a:avLst/>
              </a:prstGeom>
            </p:spPr>
          </p:pic>
        </mc:Fallback>
      </mc:AlternateContent>
      <p:pic>
        <p:nvPicPr>
          <p:cNvPr id="1028" name="Picture 4" descr="UPI outages: NPCI, banks working on ...">
            <a:extLst>
              <a:ext uri="{FF2B5EF4-FFF2-40B4-BE49-F238E27FC236}">
                <a16:creationId xmlns:a16="http://schemas.microsoft.com/office/drawing/2014/main" id="{669D4F48-26FD-B791-154F-66E4A6D8087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8179" y="937537"/>
            <a:ext cx="5175010" cy="2907698"/>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a:extLst>
              <a:ext uri="{FF2B5EF4-FFF2-40B4-BE49-F238E27FC236}">
                <a16:creationId xmlns:a16="http://schemas.microsoft.com/office/drawing/2014/main" id="{1C427554-F8E2-5451-A9C5-3734BE47C9DD}"/>
              </a:ext>
            </a:extLst>
          </p:cNvPr>
          <p:cNvPicPr>
            <a:picLocks noChangeAspect="1"/>
          </p:cNvPicPr>
          <p:nvPr/>
        </p:nvPicPr>
        <p:blipFill>
          <a:blip r:embed="rId10"/>
          <a:stretch>
            <a:fillRect/>
          </a:stretch>
        </p:blipFill>
        <p:spPr>
          <a:xfrm>
            <a:off x="282427" y="4278250"/>
            <a:ext cx="5034645" cy="29076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2994" y="719073"/>
            <a:ext cx="2064005" cy="274434"/>
          </a:xfrm>
          <a:prstGeom prst="rect">
            <a:avLst/>
          </a:prstGeom>
        </p:spPr>
        <p:txBody>
          <a:bodyPr vert="horz" wrap="square" lIns="0" tIns="12700" rIns="0" bIns="0" rtlCol="0">
            <a:spAutoFit/>
          </a:bodyPr>
          <a:lstStyle/>
          <a:p>
            <a:pPr marL="12700">
              <a:lnSpc>
                <a:spcPct val="100000"/>
              </a:lnSpc>
              <a:spcBef>
                <a:spcPts val="100"/>
              </a:spcBef>
            </a:pPr>
            <a:r>
              <a:rPr sz="1700" b="1" dirty="0">
                <a:solidFill>
                  <a:srgbClr val="EDADF6"/>
                </a:solidFill>
                <a:latin typeface="Calibri"/>
                <a:cs typeface="Calibri"/>
              </a:rPr>
              <a:t>Our</a:t>
            </a:r>
            <a:r>
              <a:rPr sz="1700" b="1" spc="-10" dirty="0">
                <a:solidFill>
                  <a:srgbClr val="EDADF6"/>
                </a:solidFill>
                <a:latin typeface="Calibri"/>
                <a:cs typeface="Calibri"/>
              </a:rPr>
              <a:t> Response</a:t>
            </a:r>
            <a:endParaRPr sz="1700" b="1" dirty="0">
              <a:latin typeface="Calibri"/>
              <a:cs typeface="Calibri"/>
            </a:endParaRPr>
          </a:p>
        </p:txBody>
      </p:sp>
      <p:sp>
        <p:nvSpPr>
          <p:cNvPr id="3" name="object 3"/>
          <p:cNvSpPr txBox="1">
            <a:spLocks noGrp="1"/>
          </p:cNvSpPr>
          <p:nvPr>
            <p:ph type="title" idx="4294967295"/>
          </p:nvPr>
        </p:nvSpPr>
        <p:spPr>
          <a:xfrm>
            <a:off x="583539" y="1176936"/>
            <a:ext cx="7016750" cy="1027113"/>
          </a:xfrm>
          <a:prstGeom prst="rect">
            <a:avLst/>
          </a:prstGeom>
        </p:spPr>
        <p:txBody>
          <a:bodyPr vert="horz" wrap="square" lIns="0" tIns="114300" rIns="0" bIns="0" rtlCol="0">
            <a:spAutoFit/>
          </a:bodyPr>
          <a:lstStyle/>
          <a:p>
            <a:pPr marL="12700">
              <a:lnSpc>
                <a:spcPct val="100000"/>
              </a:lnSpc>
              <a:spcBef>
                <a:spcPts val="900"/>
              </a:spcBef>
            </a:pPr>
            <a:r>
              <a:rPr sz="3450" b="1" dirty="0"/>
              <a:t>Our</a:t>
            </a:r>
            <a:r>
              <a:rPr sz="3450" b="1" spc="-10" dirty="0"/>
              <a:t> </a:t>
            </a:r>
            <a:r>
              <a:rPr sz="3450" b="1" dirty="0"/>
              <a:t>Solution:</a:t>
            </a:r>
            <a:r>
              <a:rPr sz="3450" b="1" spc="-10" dirty="0"/>
              <a:t> </a:t>
            </a:r>
            <a:r>
              <a:rPr sz="3450" b="1" spc="-25" dirty="0"/>
              <a:t>"UPI-</a:t>
            </a:r>
            <a:r>
              <a:rPr sz="3450" b="1" spc="-10" dirty="0"/>
              <a:t>Shield"</a:t>
            </a:r>
            <a:endParaRPr sz="3450" b="1" dirty="0"/>
          </a:p>
          <a:p>
            <a:pPr marL="12700">
              <a:lnSpc>
                <a:spcPct val="100000"/>
              </a:lnSpc>
              <a:spcBef>
                <a:spcPts val="475"/>
              </a:spcBef>
            </a:pPr>
            <a:r>
              <a:rPr sz="2050" b="1" dirty="0"/>
              <a:t>A</a:t>
            </a:r>
            <a:r>
              <a:rPr sz="2050" spc="-25" dirty="0"/>
              <a:t> </a:t>
            </a:r>
            <a:r>
              <a:rPr sz="2050" b="1" dirty="0"/>
              <a:t>Secure,</a:t>
            </a:r>
            <a:r>
              <a:rPr sz="2050" b="1" spc="-30" dirty="0"/>
              <a:t> </a:t>
            </a:r>
            <a:r>
              <a:rPr sz="2050" b="1" spc="-10" dirty="0"/>
              <a:t>Full-</a:t>
            </a:r>
            <a:r>
              <a:rPr sz="2050" b="1" dirty="0"/>
              <a:t>Stack</a:t>
            </a:r>
            <a:r>
              <a:rPr sz="2050" b="1" spc="-25" dirty="0"/>
              <a:t> </a:t>
            </a:r>
            <a:r>
              <a:rPr sz="2050" b="1" dirty="0"/>
              <a:t>Web</a:t>
            </a:r>
            <a:r>
              <a:rPr sz="2050" b="1" spc="-40" dirty="0"/>
              <a:t> </a:t>
            </a:r>
            <a:r>
              <a:rPr sz="2050" b="1" spc="-10" dirty="0"/>
              <a:t>Application</a:t>
            </a:r>
            <a:r>
              <a:rPr sz="2050" b="1" spc="-30" dirty="0"/>
              <a:t> </a:t>
            </a:r>
            <a:r>
              <a:rPr sz="2050" b="1" dirty="0"/>
              <a:t>with</a:t>
            </a:r>
            <a:r>
              <a:rPr sz="2050" b="1" spc="-25" dirty="0"/>
              <a:t> </a:t>
            </a:r>
            <a:r>
              <a:rPr sz="2050" b="1" dirty="0"/>
              <a:t>a</a:t>
            </a:r>
            <a:r>
              <a:rPr sz="2050" b="1" spc="-25" dirty="0"/>
              <a:t> </a:t>
            </a:r>
            <a:r>
              <a:rPr sz="2050" b="1" dirty="0"/>
              <a:t>Hybrid</a:t>
            </a:r>
            <a:r>
              <a:rPr sz="2050" b="1" spc="-35" dirty="0"/>
              <a:t> </a:t>
            </a:r>
            <a:r>
              <a:rPr sz="2050" b="1" dirty="0"/>
              <a:t>AI</a:t>
            </a:r>
            <a:r>
              <a:rPr sz="2050" b="1" spc="-20" dirty="0"/>
              <a:t> </a:t>
            </a:r>
            <a:r>
              <a:rPr sz="2050" b="1" spc="-10" dirty="0"/>
              <a:t>Engine</a:t>
            </a:r>
            <a:endParaRPr sz="2050" b="1" dirty="0"/>
          </a:p>
        </p:txBody>
      </p:sp>
      <p:sp>
        <p:nvSpPr>
          <p:cNvPr id="6" name="object 6"/>
          <p:cNvSpPr/>
          <p:nvPr/>
        </p:nvSpPr>
        <p:spPr>
          <a:xfrm>
            <a:off x="602995" y="2466592"/>
            <a:ext cx="701040" cy="1026161"/>
          </a:xfrm>
          <a:custGeom>
            <a:avLst/>
            <a:gdLst/>
            <a:ahLst/>
            <a:cxnLst/>
            <a:rect l="l" t="t" r="r" b="b"/>
            <a:pathLst>
              <a:path w="701040" h="1295400">
                <a:moveTo>
                  <a:pt x="350519" y="0"/>
                </a:moveTo>
                <a:lnTo>
                  <a:pt x="302956" y="3200"/>
                </a:lnTo>
                <a:lnTo>
                  <a:pt x="257338" y="12523"/>
                </a:lnTo>
                <a:lnTo>
                  <a:pt x="214082" y="27551"/>
                </a:lnTo>
                <a:lnTo>
                  <a:pt x="173606" y="47864"/>
                </a:lnTo>
                <a:lnTo>
                  <a:pt x="136327" y="73047"/>
                </a:lnTo>
                <a:lnTo>
                  <a:pt x="102665" y="102679"/>
                </a:lnTo>
                <a:lnTo>
                  <a:pt x="73035" y="136344"/>
                </a:lnTo>
                <a:lnTo>
                  <a:pt x="47856" y="173623"/>
                </a:lnTo>
                <a:lnTo>
                  <a:pt x="27545" y="214098"/>
                </a:lnTo>
                <a:lnTo>
                  <a:pt x="12520" y="257351"/>
                </a:lnTo>
                <a:lnTo>
                  <a:pt x="3199" y="302964"/>
                </a:lnTo>
                <a:lnTo>
                  <a:pt x="0" y="350520"/>
                </a:lnTo>
                <a:lnTo>
                  <a:pt x="0" y="944879"/>
                </a:lnTo>
                <a:lnTo>
                  <a:pt x="3199" y="992435"/>
                </a:lnTo>
                <a:lnTo>
                  <a:pt x="12520" y="1038048"/>
                </a:lnTo>
                <a:lnTo>
                  <a:pt x="27545" y="1081301"/>
                </a:lnTo>
                <a:lnTo>
                  <a:pt x="47856" y="1121776"/>
                </a:lnTo>
                <a:lnTo>
                  <a:pt x="73035" y="1159055"/>
                </a:lnTo>
                <a:lnTo>
                  <a:pt x="102665" y="1192720"/>
                </a:lnTo>
                <a:lnTo>
                  <a:pt x="136327" y="1222352"/>
                </a:lnTo>
                <a:lnTo>
                  <a:pt x="173606" y="1247535"/>
                </a:lnTo>
                <a:lnTo>
                  <a:pt x="214082" y="1267848"/>
                </a:lnTo>
                <a:lnTo>
                  <a:pt x="257338" y="1282876"/>
                </a:lnTo>
                <a:lnTo>
                  <a:pt x="302956" y="1292199"/>
                </a:lnTo>
                <a:lnTo>
                  <a:pt x="350519" y="1295400"/>
                </a:lnTo>
                <a:lnTo>
                  <a:pt x="398083" y="1292199"/>
                </a:lnTo>
                <a:lnTo>
                  <a:pt x="443701" y="1282876"/>
                </a:lnTo>
                <a:lnTo>
                  <a:pt x="486957" y="1267848"/>
                </a:lnTo>
                <a:lnTo>
                  <a:pt x="527433" y="1247535"/>
                </a:lnTo>
                <a:lnTo>
                  <a:pt x="564712" y="1222352"/>
                </a:lnTo>
                <a:lnTo>
                  <a:pt x="598374" y="1192720"/>
                </a:lnTo>
                <a:lnTo>
                  <a:pt x="628004" y="1159055"/>
                </a:lnTo>
                <a:lnTo>
                  <a:pt x="653183" y="1121776"/>
                </a:lnTo>
                <a:lnTo>
                  <a:pt x="673494" y="1081301"/>
                </a:lnTo>
                <a:lnTo>
                  <a:pt x="688519" y="1038048"/>
                </a:lnTo>
                <a:lnTo>
                  <a:pt x="697840" y="992435"/>
                </a:lnTo>
                <a:lnTo>
                  <a:pt x="701040" y="944879"/>
                </a:lnTo>
                <a:lnTo>
                  <a:pt x="701040" y="350520"/>
                </a:lnTo>
                <a:lnTo>
                  <a:pt x="697840" y="302964"/>
                </a:lnTo>
                <a:lnTo>
                  <a:pt x="688519" y="257351"/>
                </a:lnTo>
                <a:lnTo>
                  <a:pt x="673494" y="214098"/>
                </a:lnTo>
                <a:lnTo>
                  <a:pt x="653183" y="173623"/>
                </a:lnTo>
                <a:lnTo>
                  <a:pt x="628004" y="136344"/>
                </a:lnTo>
                <a:lnTo>
                  <a:pt x="598374" y="102679"/>
                </a:lnTo>
                <a:lnTo>
                  <a:pt x="564712" y="73047"/>
                </a:lnTo>
                <a:lnTo>
                  <a:pt x="527433" y="47864"/>
                </a:lnTo>
                <a:lnTo>
                  <a:pt x="486957" y="27551"/>
                </a:lnTo>
                <a:lnTo>
                  <a:pt x="443701" y="12523"/>
                </a:lnTo>
                <a:lnTo>
                  <a:pt x="398083" y="3200"/>
                </a:lnTo>
                <a:lnTo>
                  <a:pt x="350519" y="0"/>
                </a:lnTo>
                <a:close/>
              </a:path>
            </a:pathLst>
          </a:custGeom>
          <a:solidFill>
            <a:srgbClr val="282C5E"/>
          </a:solidFill>
        </p:spPr>
        <p:txBody>
          <a:bodyPr wrap="square" lIns="0" tIns="0" rIns="0" bIns="0" rtlCol="0"/>
          <a:lstStyle/>
          <a:p>
            <a:endParaRPr dirty="0"/>
          </a:p>
        </p:txBody>
      </p:sp>
      <p:pic>
        <p:nvPicPr>
          <p:cNvPr id="7" name="object 7"/>
          <p:cNvPicPr/>
          <p:nvPr/>
        </p:nvPicPr>
        <p:blipFill>
          <a:blip r:embed="rId2" cstate="print"/>
          <a:stretch>
            <a:fillRect/>
          </a:stretch>
        </p:blipFill>
        <p:spPr>
          <a:xfrm>
            <a:off x="822451" y="2836730"/>
            <a:ext cx="262128" cy="265163"/>
          </a:xfrm>
          <a:prstGeom prst="rect">
            <a:avLst/>
          </a:prstGeom>
        </p:spPr>
      </p:pic>
      <p:sp>
        <p:nvSpPr>
          <p:cNvPr id="4" name="object 3"/>
          <p:cNvSpPr txBox="1"/>
          <p:nvPr/>
        </p:nvSpPr>
        <p:spPr>
          <a:xfrm>
            <a:off x="1371282" y="2574659"/>
            <a:ext cx="11887835" cy="2084705"/>
          </a:xfrm>
          <a:prstGeom prst="rect">
            <a:avLst/>
          </a:prstGeom>
        </p:spPr>
        <p:txBody>
          <a:bodyPr vert="horz" wrap="square" lIns="0" tIns="12700" rIns="0" bIns="0" rtlCol="0">
            <a:spAutoFit/>
          </a:bodyPr>
          <a:lstStyle/>
          <a:p>
            <a:pPr marL="12700">
              <a:lnSpc>
                <a:spcPct val="100000"/>
              </a:lnSpc>
              <a:spcBef>
                <a:spcPts val="100"/>
              </a:spcBef>
            </a:pPr>
            <a:r>
              <a:rPr sz="1700" b="1" dirty="0">
                <a:solidFill>
                  <a:srgbClr val="E4DCE6"/>
                </a:solidFill>
                <a:latin typeface="Calibri"/>
                <a:cs typeface="Calibri"/>
              </a:rPr>
              <a:t>Hybrid</a:t>
            </a:r>
            <a:r>
              <a:rPr sz="1700" b="1" spc="-30" dirty="0">
                <a:solidFill>
                  <a:srgbClr val="E4DCE6"/>
                </a:solidFill>
                <a:latin typeface="Calibri"/>
                <a:cs typeface="Calibri"/>
              </a:rPr>
              <a:t> </a:t>
            </a:r>
            <a:r>
              <a:rPr sz="1700" b="1" spc="-25" dirty="0">
                <a:solidFill>
                  <a:srgbClr val="E4DCE6"/>
                </a:solidFill>
                <a:latin typeface="Calibri"/>
                <a:cs typeface="Calibri"/>
              </a:rPr>
              <a:t>AI</a:t>
            </a:r>
            <a:endParaRPr sz="1700" b="1" dirty="0">
              <a:latin typeface="Calibri"/>
              <a:cs typeface="Calibri"/>
            </a:endParaRPr>
          </a:p>
          <a:p>
            <a:pPr marL="12700" marR="5080">
              <a:lnSpc>
                <a:spcPct val="135600"/>
              </a:lnSpc>
              <a:spcBef>
                <a:spcPts val="400"/>
              </a:spcBef>
            </a:pPr>
            <a:r>
              <a:rPr sz="1350" dirty="0">
                <a:solidFill>
                  <a:srgbClr val="E4DCE6"/>
                </a:solidFill>
                <a:latin typeface="Calibri"/>
                <a:cs typeface="Calibri"/>
              </a:rPr>
              <a:t>Beyond</a:t>
            </a:r>
            <a:r>
              <a:rPr sz="1350" spc="-35" dirty="0">
                <a:solidFill>
                  <a:srgbClr val="E4DCE6"/>
                </a:solidFill>
                <a:latin typeface="Calibri"/>
                <a:cs typeface="Calibri"/>
              </a:rPr>
              <a:t> </a:t>
            </a:r>
            <a:r>
              <a:rPr sz="1350" dirty="0">
                <a:solidFill>
                  <a:srgbClr val="E4DCE6"/>
                </a:solidFill>
                <a:latin typeface="Calibri"/>
                <a:cs typeface="Calibri"/>
              </a:rPr>
              <a:t>simple</a:t>
            </a:r>
            <a:r>
              <a:rPr sz="1350" spc="-35" dirty="0">
                <a:solidFill>
                  <a:srgbClr val="E4DCE6"/>
                </a:solidFill>
                <a:latin typeface="Calibri"/>
                <a:cs typeface="Calibri"/>
              </a:rPr>
              <a:t> </a:t>
            </a:r>
            <a:r>
              <a:rPr sz="1350" dirty="0">
                <a:solidFill>
                  <a:srgbClr val="E4DCE6"/>
                </a:solidFill>
                <a:latin typeface="Calibri"/>
                <a:cs typeface="Calibri"/>
              </a:rPr>
              <a:t>image</a:t>
            </a:r>
            <a:r>
              <a:rPr sz="1350" spc="-45" dirty="0">
                <a:solidFill>
                  <a:srgbClr val="E4DCE6"/>
                </a:solidFill>
                <a:latin typeface="Calibri"/>
                <a:cs typeface="Calibri"/>
              </a:rPr>
              <a:t> </a:t>
            </a:r>
            <a:r>
              <a:rPr sz="1350" spc="-10" dirty="0">
                <a:solidFill>
                  <a:srgbClr val="E4DCE6"/>
                </a:solidFill>
                <a:latin typeface="Calibri"/>
                <a:cs typeface="Calibri"/>
              </a:rPr>
              <a:t>analysis,</a:t>
            </a:r>
            <a:r>
              <a:rPr sz="1350" spc="-35" dirty="0">
                <a:solidFill>
                  <a:srgbClr val="E4DCE6"/>
                </a:solidFill>
                <a:latin typeface="Calibri"/>
                <a:cs typeface="Calibri"/>
              </a:rPr>
              <a:t> </a:t>
            </a:r>
            <a:r>
              <a:rPr sz="1350" dirty="0">
                <a:solidFill>
                  <a:srgbClr val="E4DCE6"/>
                </a:solidFill>
                <a:latin typeface="Calibri"/>
                <a:cs typeface="Calibri"/>
              </a:rPr>
              <a:t>our</a:t>
            </a:r>
            <a:r>
              <a:rPr sz="1350" spc="-30" dirty="0">
                <a:solidFill>
                  <a:srgbClr val="E4DCE6"/>
                </a:solidFill>
                <a:latin typeface="Calibri"/>
                <a:cs typeface="Calibri"/>
              </a:rPr>
              <a:t> </a:t>
            </a:r>
            <a:r>
              <a:rPr sz="1350" dirty="0">
                <a:solidFill>
                  <a:srgbClr val="E4DCE6"/>
                </a:solidFill>
                <a:latin typeface="Calibri"/>
                <a:cs typeface="Calibri"/>
              </a:rPr>
              <a:t>AI</a:t>
            </a:r>
            <a:r>
              <a:rPr sz="1350" spc="-30" dirty="0">
                <a:solidFill>
                  <a:srgbClr val="E4DCE6"/>
                </a:solidFill>
                <a:latin typeface="Calibri"/>
                <a:cs typeface="Calibri"/>
              </a:rPr>
              <a:t> </a:t>
            </a:r>
            <a:r>
              <a:rPr sz="1350" spc="-10" dirty="0">
                <a:solidFill>
                  <a:srgbClr val="E4DCE6"/>
                </a:solidFill>
                <a:latin typeface="Calibri"/>
                <a:cs typeface="Calibri"/>
              </a:rPr>
              <a:t>leverages</a:t>
            </a:r>
            <a:r>
              <a:rPr sz="1350" spc="-30" dirty="0">
                <a:solidFill>
                  <a:srgbClr val="E4DCE6"/>
                </a:solidFill>
                <a:latin typeface="Calibri"/>
                <a:cs typeface="Calibri"/>
              </a:rPr>
              <a:t> </a:t>
            </a:r>
            <a:r>
              <a:rPr sz="1350" dirty="0">
                <a:solidFill>
                  <a:srgbClr val="E4DCE6"/>
                </a:solidFill>
                <a:latin typeface="Calibri"/>
                <a:cs typeface="Calibri"/>
              </a:rPr>
              <a:t>both</a:t>
            </a:r>
            <a:r>
              <a:rPr sz="1350" spc="-35" dirty="0">
                <a:solidFill>
                  <a:srgbClr val="E4DCE6"/>
                </a:solidFill>
                <a:latin typeface="Calibri"/>
                <a:cs typeface="Calibri"/>
              </a:rPr>
              <a:t> </a:t>
            </a:r>
            <a:r>
              <a:rPr sz="1350" spc="-10" dirty="0">
                <a:solidFill>
                  <a:srgbClr val="E4DCE6"/>
                </a:solidFill>
                <a:latin typeface="Calibri"/>
                <a:cs typeface="Calibri"/>
              </a:rPr>
              <a:t>Computer</a:t>
            </a:r>
            <a:r>
              <a:rPr sz="1350" spc="-35" dirty="0">
                <a:solidFill>
                  <a:srgbClr val="E4DCE6"/>
                </a:solidFill>
                <a:latin typeface="Calibri"/>
                <a:cs typeface="Calibri"/>
              </a:rPr>
              <a:t> </a:t>
            </a:r>
            <a:r>
              <a:rPr sz="1350" dirty="0">
                <a:solidFill>
                  <a:srgbClr val="E4DCE6"/>
                </a:solidFill>
                <a:latin typeface="Calibri"/>
                <a:cs typeface="Calibri"/>
              </a:rPr>
              <a:t>Vision</a:t>
            </a:r>
            <a:r>
              <a:rPr sz="1350" spc="-30" dirty="0">
                <a:solidFill>
                  <a:srgbClr val="E4DCE6"/>
                </a:solidFill>
                <a:latin typeface="Calibri"/>
                <a:cs typeface="Calibri"/>
              </a:rPr>
              <a:t> </a:t>
            </a:r>
            <a:r>
              <a:rPr sz="1350" dirty="0">
                <a:solidFill>
                  <a:srgbClr val="E4DCE6"/>
                </a:solidFill>
                <a:latin typeface="Calibri"/>
                <a:cs typeface="Calibri"/>
              </a:rPr>
              <a:t>(CNN</a:t>
            </a:r>
            <a:r>
              <a:rPr sz="1350" spc="-35" dirty="0">
                <a:solidFill>
                  <a:srgbClr val="E4DCE6"/>
                </a:solidFill>
                <a:latin typeface="Calibri"/>
                <a:cs typeface="Calibri"/>
              </a:rPr>
              <a:t> </a:t>
            </a:r>
            <a:r>
              <a:rPr sz="1350" dirty="0">
                <a:solidFill>
                  <a:srgbClr val="E4DCE6"/>
                </a:solidFill>
                <a:latin typeface="Calibri"/>
                <a:cs typeface="Calibri"/>
              </a:rPr>
              <a:t>for</a:t>
            </a:r>
            <a:r>
              <a:rPr sz="1350" spc="-40" dirty="0">
                <a:solidFill>
                  <a:srgbClr val="E4DCE6"/>
                </a:solidFill>
                <a:latin typeface="Calibri"/>
                <a:cs typeface="Calibri"/>
              </a:rPr>
              <a:t> </a:t>
            </a:r>
            <a:r>
              <a:rPr sz="1350" dirty="0">
                <a:solidFill>
                  <a:srgbClr val="E4DCE6"/>
                </a:solidFill>
                <a:latin typeface="Calibri"/>
                <a:cs typeface="Calibri"/>
              </a:rPr>
              <a:t>visual</a:t>
            </a:r>
            <a:r>
              <a:rPr sz="1350" spc="-35" dirty="0">
                <a:solidFill>
                  <a:srgbClr val="E4DCE6"/>
                </a:solidFill>
                <a:latin typeface="Calibri"/>
                <a:cs typeface="Calibri"/>
              </a:rPr>
              <a:t> </a:t>
            </a:r>
            <a:r>
              <a:rPr sz="1350" spc="-10" dirty="0">
                <a:solidFill>
                  <a:srgbClr val="E4DCE6"/>
                </a:solidFill>
                <a:latin typeface="Calibri"/>
                <a:cs typeface="Calibri"/>
              </a:rPr>
              <a:t>integrity)</a:t>
            </a:r>
            <a:r>
              <a:rPr sz="1350" spc="-25" dirty="0">
                <a:solidFill>
                  <a:srgbClr val="E4DCE6"/>
                </a:solidFill>
                <a:latin typeface="Calibri"/>
                <a:cs typeface="Calibri"/>
              </a:rPr>
              <a:t> </a:t>
            </a:r>
            <a:r>
              <a:rPr sz="1350" dirty="0">
                <a:solidFill>
                  <a:srgbClr val="E4DCE6"/>
                </a:solidFill>
                <a:latin typeface="Calibri"/>
                <a:cs typeface="Calibri"/>
              </a:rPr>
              <a:t>and</a:t>
            </a:r>
            <a:r>
              <a:rPr sz="1350" spc="-40" dirty="0">
                <a:solidFill>
                  <a:srgbClr val="E4DCE6"/>
                </a:solidFill>
                <a:latin typeface="Calibri"/>
                <a:cs typeface="Calibri"/>
              </a:rPr>
              <a:t> </a:t>
            </a:r>
            <a:r>
              <a:rPr sz="1350" dirty="0">
                <a:solidFill>
                  <a:srgbClr val="E4DCE6"/>
                </a:solidFill>
                <a:latin typeface="Calibri"/>
                <a:cs typeface="Calibri"/>
              </a:rPr>
              <a:t>Optical</a:t>
            </a:r>
            <a:r>
              <a:rPr sz="1350" spc="-25" dirty="0">
                <a:solidFill>
                  <a:srgbClr val="E4DCE6"/>
                </a:solidFill>
                <a:latin typeface="Calibri"/>
                <a:cs typeface="Calibri"/>
              </a:rPr>
              <a:t> </a:t>
            </a:r>
            <a:r>
              <a:rPr sz="1350" spc="-10" dirty="0">
                <a:solidFill>
                  <a:srgbClr val="E4DCE6"/>
                </a:solidFill>
                <a:latin typeface="Calibri"/>
                <a:cs typeface="Calibri"/>
              </a:rPr>
              <a:t>Character</a:t>
            </a:r>
            <a:r>
              <a:rPr sz="1350" spc="-40" dirty="0">
                <a:solidFill>
                  <a:srgbClr val="E4DCE6"/>
                </a:solidFill>
                <a:latin typeface="Calibri"/>
                <a:cs typeface="Calibri"/>
              </a:rPr>
              <a:t> </a:t>
            </a:r>
            <a:r>
              <a:rPr sz="1350" spc="-10" dirty="0">
                <a:solidFill>
                  <a:srgbClr val="E4DCE6"/>
                </a:solidFill>
                <a:latin typeface="Calibri"/>
                <a:cs typeface="Calibri"/>
              </a:rPr>
              <a:t>Recognition</a:t>
            </a:r>
            <a:r>
              <a:rPr sz="1350" spc="-25" dirty="0">
                <a:solidFill>
                  <a:srgbClr val="E4DCE6"/>
                </a:solidFill>
                <a:latin typeface="Calibri"/>
                <a:cs typeface="Calibri"/>
              </a:rPr>
              <a:t> </a:t>
            </a:r>
            <a:r>
              <a:rPr sz="1350" dirty="0">
                <a:solidFill>
                  <a:srgbClr val="E4DCE6"/>
                </a:solidFill>
                <a:latin typeface="Calibri"/>
                <a:cs typeface="Calibri"/>
              </a:rPr>
              <a:t>(OCR</a:t>
            </a:r>
            <a:r>
              <a:rPr sz="1350" spc="-25" dirty="0">
                <a:solidFill>
                  <a:srgbClr val="E4DCE6"/>
                </a:solidFill>
                <a:latin typeface="Calibri"/>
                <a:cs typeface="Calibri"/>
              </a:rPr>
              <a:t> </a:t>
            </a:r>
            <a:r>
              <a:rPr sz="1350" dirty="0">
                <a:solidFill>
                  <a:srgbClr val="E4DCE6"/>
                </a:solidFill>
                <a:latin typeface="Calibri"/>
                <a:cs typeface="Calibri"/>
              </a:rPr>
              <a:t>for</a:t>
            </a:r>
            <a:r>
              <a:rPr sz="1350" spc="-40" dirty="0">
                <a:solidFill>
                  <a:srgbClr val="E4DCE6"/>
                </a:solidFill>
                <a:latin typeface="Calibri"/>
                <a:cs typeface="Calibri"/>
              </a:rPr>
              <a:t> </a:t>
            </a:r>
            <a:r>
              <a:rPr sz="1350" dirty="0">
                <a:solidFill>
                  <a:srgbClr val="E4DCE6"/>
                </a:solidFill>
                <a:latin typeface="Calibri"/>
                <a:cs typeface="Calibri"/>
              </a:rPr>
              <a:t>textual</a:t>
            </a:r>
            <a:r>
              <a:rPr sz="1350" spc="-25" dirty="0">
                <a:solidFill>
                  <a:srgbClr val="E4DCE6"/>
                </a:solidFill>
                <a:latin typeface="Calibri"/>
                <a:cs typeface="Calibri"/>
              </a:rPr>
              <a:t> </a:t>
            </a:r>
            <a:r>
              <a:rPr sz="1350" spc="-10" dirty="0">
                <a:solidFill>
                  <a:srgbClr val="E4DCE6"/>
                </a:solidFill>
                <a:latin typeface="Calibri"/>
                <a:cs typeface="Calibri"/>
              </a:rPr>
              <a:t>accuracy).</a:t>
            </a:r>
            <a:r>
              <a:rPr sz="1350" spc="-30" dirty="0">
                <a:solidFill>
                  <a:srgbClr val="E4DCE6"/>
                </a:solidFill>
                <a:latin typeface="Calibri"/>
                <a:cs typeface="Calibri"/>
              </a:rPr>
              <a:t> </a:t>
            </a:r>
            <a:r>
              <a:rPr sz="1350" dirty="0">
                <a:solidFill>
                  <a:srgbClr val="E4DCE6"/>
                </a:solidFill>
                <a:latin typeface="Calibri"/>
                <a:cs typeface="Calibri"/>
              </a:rPr>
              <a:t>It</a:t>
            </a:r>
            <a:r>
              <a:rPr sz="1350" spc="-20" dirty="0">
                <a:solidFill>
                  <a:srgbClr val="E4DCE6"/>
                </a:solidFill>
                <a:latin typeface="Calibri"/>
                <a:cs typeface="Calibri"/>
              </a:rPr>
              <a:t> </a:t>
            </a:r>
            <a:r>
              <a:rPr sz="1350" dirty="0">
                <a:solidFill>
                  <a:srgbClr val="E4DCE6"/>
                </a:solidFill>
                <a:latin typeface="Calibri"/>
                <a:cs typeface="Calibri"/>
              </a:rPr>
              <a:t>doesn't</a:t>
            </a:r>
            <a:r>
              <a:rPr sz="1350" spc="-35" dirty="0">
                <a:solidFill>
                  <a:srgbClr val="E4DCE6"/>
                </a:solidFill>
                <a:latin typeface="Calibri"/>
                <a:cs typeface="Calibri"/>
              </a:rPr>
              <a:t> </a:t>
            </a:r>
            <a:r>
              <a:rPr sz="1350" spc="-20" dirty="0">
                <a:solidFill>
                  <a:srgbClr val="E4DCE6"/>
                </a:solidFill>
                <a:latin typeface="Calibri"/>
                <a:cs typeface="Calibri"/>
              </a:rPr>
              <a:t>just </a:t>
            </a:r>
            <a:r>
              <a:rPr sz="1350" dirty="0">
                <a:solidFill>
                  <a:srgbClr val="E4DCE6"/>
                </a:solidFill>
                <a:latin typeface="Calibri"/>
                <a:cs typeface="Calibri"/>
              </a:rPr>
              <a:t>"look"</a:t>
            </a:r>
            <a:r>
              <a:rPr sz="1350" spc="-35" dirty="0">
                <a:solidFill>
                  <a:srgbClr val="E4DCE6"/>
                </a:solidFill>
                <a:latin typeface="Calibri"/>
                <a:cs typeface="Calibri"/>
              </a:rPr>
              <a:t> </a:t>
            </a:r>
            <a:r>
              <a:rPr sz="1350" dirty="0">
                <a:solidFill>
                  <a:srgbClr val="E4DCE6"/>
                </a:solidFill>
                <a:latin typeface="Calibri"/>
                <a:cs typeface="Calibri"/>
              </a:rPr>
              <a:t>at</a:t>
            </a:r>
            <a:r>
              <a:rPr sz="1350" spc="-35" dirty="0">
                <a:solidFill>
                  <a:srgbClr val="E4DCE6"/>
                </a:solidFill>
                <a:latin typeface="Calibri"/>
                <a:cs typeface="Calibri"/>
              </a:rPr>
              <a:t> </a:t>
            </a:r>
            <a:r>
              <a:rPr sz="1350" dirty="0">
                <a:solidFill>
                  <a:srgbClr val="E4DCE6"/>
                </a:solidFill>
                <a:latin typeface="Calibri"/>
                <a:cs typeface="Calibri"/>
              </a:rPr>
              <a:t>the</a:t>
            </a:r>
            <a:r>
              <a:rPr sz="1350" spc="-35" dirty="0">
                <a:solidFill>
                  <a:srgbClr val="E4DCE6"/>
                </a:solidFill>
                <a:latin typeface="Calibri"/>
                <a:cs typeface="Calibri"/>
              </a:rPr>
              <a:t> </a:t>
            </a:r>
            <a:r>
              <a:rPr sz="1350" dirty="0">
                <a:solidFill>
                  <a:srgbClr val="E4DCE6"/>
                </a:solidFill>
                <a:latin typeface="Calibri"/>
                <a:cs typeface="Calibri"/>
              </a:rPr>
              <a:t>image;</a:t>
            </a:r>
            <a:r>
              <a:rPr sz="1350" spc="-35" dirty="0">
                <a:solidFill>
                  <a:srgbClr val="E4DCE6"/>
                </a:solidFill>
                <a:latin typeface="Calibri"/>
                <a:cs typeface="Calibri"/>
              </a:rPr>
              <a:t> </a:t>
            </a:r>
            <a:r>
              <a:rPr sz="1350" dirty="0">
                <a:solidFill>
                  <a:srgbClr val="E4DCE6"/>
                </a:solidFill>
                <a:latin typeface="Calibri"/>
                <a:cs typeface="Calibri"/>
              </a:rPr>
              <a:t>it</a:t>
            </a:r>
            <a:r>
              <a:rPr sz="1350" spc="-25" dirty="0">
                <a:solidFill>
                  <a:srgbClr val="E4DCE6"/>
                </a:solidFill>
                <a:latin typeface="Calibri"/>
                <a:cs typeface="Calibri"/>
              </a:rPr>
              <a:t> </a:t>
            </a:r>
            <a:r>
              <a:rPr sz="1350" dirty="0">
                <a:solidFill>
                  <a:srgbClr val="E4DCE6"/>
                </a:solidFill>
                <a:latin typeface="Calibri"/>
                <a:cs typeface="Calibri"/>
              </a:rPr>
              <a:t>SEES</a:t>
            </a:r>
            <a:r>
              <a:rPr sz="1350" spc="-30" dirty="0">
                <a:solidFill>
                  <a:srgbClr val="E4DCE6"/>
                </a:solidFill>
                <a:latin typeface="Calibri"/>
                <a:cs typeface="Calibri"/>
              </a:rPr>
              <a:t> </a:t>
            </a:r>
            <a:r>
              <a:rPr sz="1350" dirty="0">
                <a:solidFill>
                  <a:srgbClr val="E4DCE6"/>
                </a:solidFill>
                <a:latin typeface="Calibri"/>
                <a:cs typeface="Calibri"/>
              </a:rPr>
              <a:t>and</a:t>
            </a:r>
            <a:r>
              <a:rPr sz="1350" spc="-20" dirty="0">
                <a:solidFill>
                  <a:srgbClr val="E4DCE6"/>
                </a:solidFill>
                <a:latin typeface="Calibri"/>
                <a:cs typeface="Calibri"/>
              </a:rPr>
              <a:t> </a:t>
            </a:r>
            <a:r>
              <a:rPr sz="1350" spc="-10" dirty="0">
                <a:solidFill>
                  <a:srgbClr val="E4DCE6"/>
                </a:solidFill>
                <a:latin typeface="Calibri"/>
                <a:cs typeface="Calibri"/>
              </a:rPr>
              <a:t>READS.</a:t>
            </a:r>
            <a:endParaRPr sz="1350" dirty="0">
              <a:latin typeface="Calibri"/>
              <a:cs typeface="Calibri"/>
            </a:endParaRPr>
          </a:p>
          <a:p>
            <a:pPr>
              <a:lnSpc>
                <a:spcPct val="100000"/>
              </a:lnSpc>
            </a:pPr>
            <a:endParaRPr sz="1350" dirty="0">
              <a:latin typeface="Calibri"/>
              <a:cs typeface="Calibri"/>
            </a:endParaRPr>
          </a:p>
          <a:p>
            <a:pPr>
              <a:lnSpc>
                <a:spcPct val="100000"/>
              </a:lnSpc>
              <a:spcBef>
                <a:spcPts val="1455"/>
              </a:spcBef>
            </a:pPr>
            <a:endParaRPr sz="1350" dirty="0">
              <a:latin typeface="Calibri"/>
              <a:cs typeface="Calibri"/>
            </a:endParaRPr>
          </a:p>
          <a:p>
            <a:pPr marL="12700">
              <a:lnSpc>
                <a:spcPct val="100000"/>
              </a:lnSpc>
            </a:pPr>
            <a:r>
              <a:rPr sz="1700" b="1" spc="-10" dirty="0">
                <a:solidFill>
                  <a:srgbClr val="E4DCE6"/>
                </a:solidFill>
                <a:latin typeface="Calibri"/>
                <a:cs typeface="Calibri"/>
              </a:rPr>
              <a:t>Full-Stack</a:t>
            </a:r>
            <a:endParaRPr sz="1700" b="1" dirty="0">
              <a:latin typeface="Calibri"/>
              <a:cs typeface="Calibri"/>
            </a:endParaRPr>
          </a:p>
          <a:p>
            <a:pPr marL="12700">
              <a:lnSpc>
                <a:spcPct val="100000"/>
              </a:lnSpc>
              <a:spcBef>
                <a:spcPts val="965"/>
              </a:spcBef>
            </a:pPr>
            <a:r>
              <a:rPr sz="1350" spc="-10" dirty="0">
                <a:solidFill>
                  <a:srgbClr val="E4DCE6"/>
                </a:solidFill>
                <a:latin typeface="Calibri"/>
                <a:cs typeface="Calibri"/>
              </a:rPr>
              <a:t>Developed</a:t>
            </a:r>
            <a:r>
              <a:rPr sz="1350" spc="-25" dirty="0">
                <a:solidFill>
                  <a:srgbClr val="E4DCE6"/>
                </a:solidFill>
                <a:latin typeface="Calibri"/>
                <a:cs typeface="Calibri"/>
              </a:rPr>
              <a:t> </a:t>
            </a:r>
            <a:r>
              <a:rPr sz="1350" dirty="0">
                <a:solidFill>
                  <a:srgbClr val="E4DCE6"/>
                </a:solidFill>
                <a:latin typeface="Calibri"/>
                <a:cs typeface="Calibri"/>
              </a:rPr>
              <a:t>as</a:t>
            </a:r>
            <a:r>
              <a:rPr sz="1350" spc="-30" dirty="0">
                <a:solidFill>
                  <a:srgbClr val="E4DCE6"/>
                </a:solidFill>
                <a:latin typeface="Calibri"/>
                <a:cs typeface="Calibri"/>
              </a:rPr>
              <a:t> </a:t>
            </a:r>
            <a:r>
              <a:rPr sz="1350" dirty="0">
                <a:solidFill>
                  <a:srgbClr val="E4DCE6"/>
                </a:solidFill>
                <a:latin typeface="Calibri"/>
                <a:cs typeface="Calibri"/>
              </a:rPr>
              <a:t>a</a:t>
            </a:r>
            <a:r>
              <a:rPr sz="1350" spc="-30" dirty="0">
                <a:solidFill>
                  <a:srgbClr val="E4DCE6"/>
                </a:solidFill>
                <a:latin typeface="Calibri"/>
                <a:cs typeface="Calibri"/>
              </a:rPr>
              <a:t> </a:t>
            </a:r>
            <a:r>
              <a:rPr sz="1350" spc="-10" dirty="0">
                <a:solidFill>
                  <a:srgbClr val="E4DCE6"/>
                </a:solidFill>
                <a:latin typeface="Calibri"/>
                <a:cs typeface="Calibri"/>
              </a:rPr>
              <a:t>comprehensive</a:t>
            </a:r>
            <a:r>
              <a:rPr sz="1350" spc="-20" dirty="0">
                <a:solidFill>
                  <a:srgbClr val="E4DCE6"/>
                </a:solidFill>
                <a:latin typeface="Calibri"/>
                <a:cs typeface="Calibri"/>
              </a:rPr>
              <a:t> </a:t>
            </a:r>
            <a:r>
              <a:rPr sz="1350" dirty="0">
                <a:solidFill>
                  <a:srgbClr val="E4DCE6"/>
                </a:solidFill>
                <a:latin typeface="Calibri"/>
                <a:cs typeface="Calibri"/>
              </a:rPr>
              <a:t>web</a:t>
            </a:r>
            <a:r>
              <a:rPr sz="1350" spc="-35" dirty="0">
                <a:solidFill>
                  <a:srgbClr val="E4DCE6"/>
                </a:solidFill>
                <a:latin typeface="Calibri"/>
                <a:cs typeface="Calibri"/>
              </a:rPr>
              <a:t> </a:t>
            </a:r>
            <a:r>
              <a:rPr sz="1350" spc="-10" dirty="0">
                <a:solidFill>
                  <a:srgbClr val="E4DCE6"/>
                </a:solidFill>
                <a:latin typeface="Calibri"/>
                <a:cs typeface="Calibri"/>
              </a:rPr>
              <a:t>application</a:t>
            </a:r>
            <a:r>
              <a:rPr sz="1350" spc="-20" dirty="0">
                <a:solidFill>
                  <a:srgbClr val="E4DCE6"/>
                </a:solidFill>
                <a:latin typeface="Calibri"/>
                <a:cs typeface="Calibri"/>
              </a:rPr>
              <a:t> </a:t>
            </a:r>
            <a:r>
              <a:rPr sz="1350" dirty="0">
                <a:solidFill>
                  <a:srgbClr val="E4DCE6"/>
                </a:solidFill>
                <a:latin typeface="Calibri"/>
                <a:cs typeface="Calibri"/>
              </a:rPr>
              <a:t>using</a:t>
            </a:r>
            <a:r>
              <a:rPr sz="1350" spc="-25" dirty="0">
                <a:solidFill>
                  <a:srgbClr val="E4DCE6"/>
                </a:solidFill>
                <a:latin typeface="Calibri"/>
                <a:cs typeface="Calibri"/>
              </a:rPr>
              <a:t> </a:t>
            </a:r>
            <a:r>
              <a:rPr sz="1350" dirty="0">
                <a:solidFill>
                  <a:srgbClr val="E4DCE6"/>
                </a:solidFill>
                <a:latin typeface="Calibri"/>
                <a:cs typeface="Calibri"/>
              </a:rPr>
              <a:t>Python</a:t>
            </a:r>
            <a:r>
              <a:rPr sz="1350" spc="-20" dirty="0">
                <a:solidFill>
                  <a:srgbClr val="E4DCE6"/>
                </a:solidFill>
                <a:latin typeface="Calibri"/>
                <a:cs typeface="Calibri"/>
              </a:rPr>
              <a:t> </a:t>
            </a:r>
            <a:r>
              <a:rPr sz="1350" dirty="0">
                <a:solidFill>
                  <a:srgbClr val="E4DCE6"/>
                </a:solidFill>
                <a:latin typeface="Calibri"/>
                <a:cs typeface="Calibri"/>
              </a:rPr>
              <a:t>(Flask),</a:t>
            </a:r>
            <a:r>
              <a:rPr sz="1350" spc="-20" dirty="0">
                <a:solidFill>
                  <a:srgbClr val="E4DCE6"/>
                </a:solidFill>
                <a:latin typeface="Calibri"/>
                <a:cs typeface="Calibri"/>
              </a:rPr>
              <a:t> </a:t>
            </a:r>
            <a:r>
              <a:rPr sz="1350" spc="-10" dirty="0">
                <a:solidFill>
                  <a:srgbClr val="E4DCE6"/>
                </a:solidFill>
                <a:latin typeface="Calibri"/>
                <a:cs typeface="Calibri"/>
              </a:rPr>
              <a:t>ensuring</a:t>
            </a:r>
            <a:r>
              <a:rPr sz="1350" spc="-25" dirty="0">
                <a:solidFill>
                  <a:srgbClr val="E4DCE6"/>
                </a:solidFill>
                <a:latin typeface="Calibri"/>
                <a:cs typeface="Calibri"/>
              </a:rPr>
              <a:t> </a:t>
            </a:r>
            <a:r>
              <a:rPr sz="1350" dirty="0">
                <a:solidFill>
                  <a:srgbClr val="E4DCE6"/>
                </a:solidFill>
                <a:latin typeface="Calibri"/>
                <a:cs typeface="Calibri"/>
              </a:rPr>
              <a:t>a</a:t>
            </a:r>
            <a:r>
              <a:rPr sz="1350" spc="-20" dirty="0">
                <a:solidFill>
                  <a:srgbClr val="E4DCE6"/>
                </a:solidFill>
                <a:latin typeface="Calibri"/>
                <a:cs typeface="Calibri"/>
              </a:rPr>
              <a:t> </a:t>
            </a:r>
            <a:r>
              <a:rPr sz="1350" dirty="0">
                <a:solidFill>
                  <a:srgbClr val="E4DCE6"/>
                </a:solidFill>
                <a:latin typeface="Calibri"/>
                <a:cs typeface="Calibri"/>
              </a:rPr>
              <a:t>seamless</a:t>
            </a:r>
            <a:r>
              <a:rPr sz="1350" spc="-20" dirty="0">
                <a:solidFill>
                  <a:srgbClr val="E4DCE6"/>
                </a:solidFill>
                <a:latin typeface="Calibri"/>
                <a:cs typeface="Calibri"/>
              </a:rPr>
              <a:t> </a:t>
            </a:r>
            <a:r>
              <a:rPr sz="1350" dirty="0">
                <a:solidFill>
                  <a:srgbClr val="E4DCE6"/>
                </a:solidFill>
                <a:latin typeface="Calibri"/>
                <a:cs typeface="Calibri"/>
              </a:rPr>
              <a:t>and</a:t>
            </a:r>
            <a:r>
              <a:rPr sz="1350" spc="-20" dirty="0">
                <a:solidFill>
                  <a:srgbClr val="E4DCE6"/>
                </a:solidFill>
                <a:latin typeface="Calibri"/>
                <a:cs typeface="Calibri"/>
              </a:rPr>
              <a:t> integrated</a:t>
            </a:r>
            <a:r>
              <a:rPr sz="1350" spc="-35" dirty="0">
                <a:solidFill>
                  <a:srgbClr val="E4DCE6"/>
                </a:solidFill>
                <a:latin typeface="Calibri"/>
                <a:cs typeface="Calibri"/>
              </a:rPr>
              <a:t> </a:t>
            </a:r>
            <a:r>
              <a:rPr sz="1350" dirty="0">
                <a:solidFill>
                  <a:srgbClr val="E4DCE6"/>
                </a:solidFill>
                <a:latin typeface="Calibri"/>
                <a:cs typeface="Calibri"/>
              </a:rPr>
              <a:t>user</a:t>
            </a:r>
            <a:r>
              <a:rPr sz="1350" spc="-35" dirty="0">
                <a:solidFill>
                  <a:srgbClr val="E4DCE6"/>
                </a:solidFill>
                <a:latin typeface="Calibri"/>
                <a:cs typeface="Calibri"/>
              </a:rPr>
              <a:t> </a:t>
            </a:r>
            <a:r>
              <a:rPr sz="1350" spc="-10" dirty="0">
                <a:solidFill>
                  <a:srgbClr val="E4DCE6"/>
                </a:solidFill>
                <a:latin typeface="Calibri"/>
                <a:cs typeface="Calibri"/>
              </a:rPr>
              <a:t>experience</a:t>
            </a:r>
            <a:r>
              <a:rPr sz="1350" spc="-20" dirty="0">
                <a:solidFill>
                  <a:srgbClr val="E4DCE6"/>
                </a:solidFill>
                <a:latin typeface="Calibri"/>
                <a:cs typeface="Calibri"/>
              </a:rPr>
              <a:t> </a:t>
            </a:r>
            <a:r>
              <a:rPr sz="1350" dirty="0">
                <a:solidFill>
                  <a:srgbClr val="E4DCE6"/>
                </a:solidFill>
                <a:latin typeface="Calibri"/>
                <a:cs typeface="Calibri"/>
              </a:rPr>
              <a:t>from</a:t>
            </a:r>
            <a:r>
              <a:rPr sz="1350" spc="-30" dirty="0">
                <a:solidFill>
                  <a:srgbClr val="E4DCE6"/>
                </a:solidFill>
                <a:latin typeface="Calibri"/>
                <a:cs typeface="Calibri"/>
              </a:rPr>
              <a:t> </a:t>
            </a:r>
            <a:r>
              <a:rPr sz="1350" dirty="0">
                <a:solidFill>
                  <a:srgbClr val="E4DCE6"/>
                </a:solidFill>
                <a:latin typeface="Calibri"/>
                <a:cs typeface="Calibri"/>
              </a:rPr>
              <a:t>end</a:t>
            </a:r>
            <a:r>
              <a:rPr sz="1350" spc="-35" dirty="0">
                <a:solidFill>
                  <a:srgbClr val="E4DCE6"/>
                </a:solidFill>
                <a:latin typeface="Calibri"/>
                <a:cs typeface="Calibri"/>
              </a:rPr>
              <a:t> </a:t>
            </a:r>
            <a:r>
              <a:rPr sz="1350" dirty="0">
                <a:solidFill>
                  <a:srgbClr val="E4DCE6"/>
                </a:solidFill>
                <a:latin typeface="Calibri"/>
                <a:cs typeface="Calibri"/>
              </a:rPr>
              <a:t>to</a:t>
            </a:r>
            <a:r>
              <a:rPr sz="1350" spc="-25" dirty="0">
                <a:solidFill>
                  <a:srgbClr val="E4DCE6"/>
                </a:solidFill>
                <a:latin typeface="Calibri"/>
                <a:cs typeface="Calibri"/>
              </a:rPr>
              <a:t> </a:t>
            </a:r>
            <a:r>
              <a:rPr sz="1350" spc="-20" dirty="0">
                <a:solidFill>
                  <a:srgbClr val="E4DCE6"/>
                </a:solidFill>
                <a:latin typeface="Calibri"/>
                <a:cs typeface="Calibri"/>
              </a:rPr>
              <a:t>end.</a:t>
            </a:r>
            <a:endParaRPr sz="1350" dirty="0">
              <a:latin typeface="Calibri"/>
              <a:cs typeface="Calibri"/>
            </a:endParaRPr>
          </a:p>
        </p:txBody>
      </p:sp>
      <p:grpSp>
        <p:nvGrpSpPr>
          <p:cNvPr id="8" name="object 8"/>
          <p:cNvGrpSpPr/>
          <p:nvPr/>
        </p:nvGrpSpPr>
        <p:grpSpPr>
          <a:xfrm>
            <a:off x="602995" y="3886200"/>
            <a:ext cx="701040" cy="1054735"/>
            <a:chOff x="615315" y="2211958"/>
            <a:chExt cx="701040" cy="1054735"/>
          </a:xfrm>
        </p:grpSpPr>
        <p:sp>
          <p:nvSpPr>
            <p:cNvPr id="9" name="object 9"/>
            <p:cNvSpPr/>
            <p:nvPr/>
          </p:nvSpPr>
          <p:spPr>
            <a:xfrm>
              <a:off x="615315" y="2211958"/>
              <a:ext cx="701040" cy="1054735"/>
            </a:xfrm>
            <a:custGeom>
              <a:avLst/>
              <a:gdLst/>
              <a:ahLst/>
              <a:cxnLst/>
              <a:rect l="l" t="t" r="r" b="b"/>
              <a:pathLst>
                <a:path w="701040" h="1054735">
                  <a:moveTo>
                    <a:pt x="350519" y="0"/>
                  </a:moveTo>
                  <a:lnTo>
                    <a:pt x="302956" y="3198"/>
                  </a:lnTo>
                  <a:lnTo>
                    <a:pt x="257338" y="12514"/>
                  </a:lnTo>
                  <a:lnTo>
                    <a:pt x="214082" y="27531"/>
                  </a:lnTo>
                  <a:lnTo>
                    <a:pt x="173606" y="47831"/>
                  </a:lnTo>
                  <a:lnTo>
                    <a:pt x="136327" y="72999"/>
                  </a:lnTo>
                  <a:lnTo>
                    <a:pt x="102665" y="102616"/>
                  </a:lnTo>
                  <a:lnTo>
                    <a:pt x="73035" y="136264"/>
                  </a:lnTo>
                  <a:lnTo>
                    <a:pt x="47856" y="173529"/>
                  </a:lnTo>
                  <a:lnTo>
                    <a:pt x="27545" y="213991"/>
                  </a:lnTo>
                  <a:lnTo>
                    <a:pt x="12520" y="257233"/>
                  </a:lnTo>
                  <a:lnTo>
                    <a:pt x="3199" y="302840"/>
                  </a:lnTo>
                  <a:lnTo>
                    <a:pt x="0" y="350392"/>
                  </a:lnTo>
                  <a:lnTo>
                    <a:pt x="0" y="703961"/>
                  </a:lnTo>
                  <a:lnTo>
                    <a:pt x="3199" y="751516"/>
                  </a:lnTo>
                  <a:lnTo>
                    <a:pt x="12520" y="797129"/>
                  </a:lnTo>
                  <a:lnTo>
                    <a:pt x="27545" y="840382"/>
                  </a:lnTo>
                  <a:lnTo>
                    <a:pt x="47856" y="880857"/>
                  </a:lnTo>
                  <a:lnTo>
                    <a:pt x="73035" y="918136"/>
                  </a:lnTo>
                  <a:lnTo>
                    <a:pt x="102665" y="951801"/>
                  </a:lnTo>
                  <a:lnTo>
                    <a:pt x="136327" y="981433"/>
                  </a:lnTo>
                  <a:lnTo>
                    <a:pt x="173606" y="1006616"/>
                  </a:lnTo>
                  <a:lnTo>
                    <a:pt x="214082" y="1026929"/>
                  </a:lnTo>
                  <a:lnTo>
                    <a:pt x="257338" y="1041957"/>
                  </a:lnTo>
                  <a:lnTo>
                    <a:pt x="302956" y="1051280"/>
                  </a:lnTo>
                  <a:lnTo>
                    <a:pt x="350519" y="1054480"/>
                  </a:lnTo>
                  <a:lnTo>
                    <a:pt x="398083" y="1051280"/>
                  </a:lnTo>
                  <a:lnTo>
                    <a:pt x="443701" y="1041957"/>
                  </a:lnTo>
                  <a:lnTo>
                    <a:pt x="486957" y="1026929"/>
                  </a:lnTo>
                  <a:lnTo>
                    <a:pt x="527433" y="1006616"/>
                  </a:lnTo>
                  <a:lnTo>
                    <a:pt x="564712" y="981433"/>
                  </a:lnTo>
                  <a:lnTo>
                    <a:pt x="598374" y="951801"/>
                  </a:lnTo>
                  <a:lnTo>
                    <a:pt x="628004" y="918136"/>
                  </a:lnTo>
                  <a:lnTo>
                    <a:pt x="653183" y="880857"/>
                  </a:lnTo>
                  <a:lnTo>
                    <a:pt x="673494" y="840382"/>
                  </a:lnTo>
                  <a:lnTo>
                    <a:pt x="688519" y="797129"/>
                  </a:lnTo>
                  <a:lnTo>
                    <a:pt x="697840" y="751516"/>
                  </a:lnTo>
                  <a:lnTo>
                    <a:pt x="701040" y="703961"/>
                  </a:lnTo>
                  <a:lnTo>
                    <a:pt x="701040" y="350392"/>
                  </a:lnTo>
                  <a:lnTo>
                    <a:pt x="697840" y="302840"/>
                  </a:lnTo>
                  <a:lnTo>
                    <a:pt x="688519" y="257233"/>
                  </a:lnTo>
                  <a:lnTo>
                    <a:pt x="673494" y="213991"/>
                  </a:lnTo>
                  <a:lnTo>
                    <a:pt x="653183" y="173529"/>
                  </a:lnTo>
                  <a:lnTo>
                    <a:pt x="628004" y="136264"/>
                  </a:lnTo>
                  <a:lnTo>
                    <a:pt x="598374" y="102615"/>
                  </a:lnTo>
                  <a:lnTo>
                    <a:pt x="564712" y="72999"/>
                  </a:lnTo>
                  <a:lnTo>
                    <a:pt x="527433" y="47831"/>
                  </a:lnTo>
                  <a:lnTo>
                    <a:pt x="486957" y="27531"/>
                  </a:lnTo>
                  <a:lnTo>
                    <a:pt x="443701" y="12514"/>
                  </a:lnTo>
                  <a:lnTo>
                    <a:pt x="398083" y="3198"/>
                  </a:lnTo>
                  <a:lnTo>
                    <a:pt x="350519" y="0"/>
                  </a:lnTo>
                  <a:close/>
                </a:path>
              </a:pathLst>
            </a:custGeom>
            <a:solidFill>
              <a:srgbClr val="282C5E"/>
            </a:solidFill>
          </p:spPr>
          <p:txBody>
            <a:bodyPr wrap="square" lIns="0" tIns="0" rIns="0" bIns="0" rtlCol="0"/>
            <a:lstStyle/>
            <a:p>
              <a:endParaRPr/>
            </a:p>
          </p:txBody>
        </p:sp>
        <p:pic>
          <p:nvPicPr>
            <p:cNvPr id="10" name="object 10"/>
            <p:cNvPicPr/>
            <p:nvPr/>
          </p:nvPicPr>
          <p:blipFill>
            <a:blip r:embed="rId2" cstate="print"/>
            <a:stretch>
              <a:fillRect/>
            </a:stretch>
          </p:blipFill>
          <p:spPr>
            <a:xfrm>
              <a:off x="834771" y="2608084"/>
              <a:ext cx="262128" cy="265163"/>
            </a:xfrm>
            <a:prstGeom prst="rect">
              <a:avLst/>
            </a:prstGeom>
          </p:spPr>
        </p:pic>
      </p:grpSp>
      <p:grpSp>
        <p:nvGrpSpPr>
          <p:cNvPr id="11" name="object 11"/>
          <p:cNvGrpSpPr/>
          <p:nvPr/>
        </p:nvGrpSpPr>
        <p:grpSpPr>
          <a:xfrm>
            <a:off x="615549" y="5257800"/>
            <a:ext cx="701040" cy="1054735"/>
            <a:chOff x="615315" y="3443223"/>
            <a:chExt cx="701040" cy="1292860"/>
          </a:xfrm>
        </p:grpSpPr>
        <p:sp>
          <p:nvSpPr>
            <p:cNvPr id="12" name="object 12"/>
            <p:cNvSpPr/>
            <p:nvPr/>
          </p:nvSpPr>
          <p:spPr>
            <a:xfrm>
              <a:off x="615315" y="3443223"/>
              <a:ext cx="701040" cy="1292860"/>
            </a:xfrm>
            <a:custGeom>
              <a:avLst/>
              <a:gdLst/>
              <a:ahLst/>
              <a:cxnLst/>
              <a:rect l="l" t="t" r="r" b="b"/>
              <a:pathLst>
                <a:path w="701040" h="1292860">
                  <a:moveTo>
                    <a:pt x="350519" y="0"/>
                  </a:moveTo>
                  <a:lnTo>
                    <a:pt x="302956" y="3200"/>
                  </a:lnTo>
                  <a:lnTo>
                    <a:pt x="257338" y="12523"/>
                  </a:lnTo>
                  <a:lnTo>
                    <a:pt x="214082" y="27551"/>
                  </a:lnTo>
                  <a:lnTo>
                    <a:pt x="173606" y="47864"/>
                  </a:lnTo>
                  <a:lnTo>
                    <a:pt x="136327" y="73047"/>
                  </a:lnTo>
                  <a:lnTo>
                    <a:pt x="102665" y="102679"/>
                  </a:lnTo>
                  <a:lnTo>
                    <a:pt x="73035" y="136344"/>
                  </a:lnTo>
                  <a:lnTo>
                    <a:pt x="47856" y="173623"/>
                  </a:lnTo>
                  <a:lnTo>
                    <a:pt x="27545" y="214098"/>
                  </a:lnTo>
                  <a:lnTo>
                    <a:pt x="12520" y="257351"/>
                  </a:lnTo>
                  <a:lnTo>
                    <a:pt x="3199" y="302964"/>
                  </a:lnTo>
                  <a:lnTo>
                    <a:pt x="0" y="350520"/>
                  </a:lnTo>
                  <a:lnTo>
                    <a:pt x="0" y="941831"/>
                  </a:lnTo>
                  <a:lnTo>
                    <a:pt x="3199" y="989387"/>
                  </a:lnTo>
                  <a:lnTo>
                    <a:pt x="12520" y="1035000"/>
                  </a:lnTo>
                  <a:lnTo>
                    <a:pt x="27545" y="1078253"/>
                  </a:lnTo>
                  <a:lnTo>
                    <a:pt x="47856" y="1118728"/>
                  </a:lnTo>
                  <a:lnTo>
                    <a:pt x="73035" y="1156007"/>
                  </a:lnTo>
                  <a:lnTo>
                    <a:pt x="102665" y="1189672"/>
                  </a:lnTo>
                  <a:lnTo>
                    <a:pt x="136327" y="1219304"/>
                  </a:lnTo>
                  <a:lnTo>
                    <a:pt x="173606" y="1244487"/>
                  </a:lnTo>
                  <a:lnTo>
                    <a:pt x="214082" y="1264800"/>
                  </a:lnTo>
                  <a:lnTo>
                    <a:pt x="257338" y="1279828"/>
                  </a:lnTo>
                  <a:lnTo>
                    <a:pt x="302956" y="1289151"/>
                  </a:lnTo>
                  <a:lnTo>
                    <a:pt x="350519" y="1292352"/>
                  </a:lnTo>
                  <a:lnTo>
                    <a:pt x="398083" y="1289151"/>
                  </a:lnTo>
                  <a:lnTo>
                    <a:pt x="443701" y="1279828"/>
                  </a:lnTo>
                  <a:lnTo>
                    <a:pt x="486957" y="1264800"/>
                  </a:lnTo>
                  <a:lnTo>
                    <a:pt x="527433" y="1244487"/>
                  </a:lnTo>
                  <a:lnTo>
                    <a:pt x="564712" y="1219304"/>
                  </a:lnTo>
                  <a:lnTo>
                    <a:pt x="598374" y="1189672"/>
                  </a:lnTo>
                  <a:lnTo>
                    <a:pt x="628004" y="1156007"/>
                  </a:lnTo>
                  <a:lnTo>
                    <a:pt x="653183" y="1118728"/>
                  </a:lnTo>
                  <a:lnTo>
                    <a:pt x="673494" y="1078253"/>
                  </a:lnTo>
                  <a:lnTo>
                    <a:pt x="688519" y="1035000"/>
                  </a:lnTo>
                  <a:lnTo>
                    <a:pt x="697840" y="989387"/>
                  </a:lnTo>
                  <a:lnTo>
                    <a:pt x="701040" y="941831"/>
                  </a:lnTo>
                  <a:lnTo>
                    <a:pt x="701040" y="350520"/>
                  </a:lnTo>
                  <a:lnTo>
                    <a:pt x="697840" y="302964"/>
                  </a:lnTo>
                  <a:lnTo>
                    <a:pt x="688519" y="257351"/>
                  </a:lnTo>
                  <a:lnTo>
                    <a:pt x="673494" y="214098"/>
                  </a:lnTo>
                  <a:lnTo>
                    <a:pt x="653183" y="173623"/>
                  </a:lnTo>
                  <a:lnTo>
                    <a:pt x="628004" y="136344"/>
                  </a:lnTo>
                  <a:lnTo>
                    <a:pt x="598374" y="102679"/>
                  </a:lnTo>
                  <a:lnTo>
                    <a:pt x="564712" y="73047"/>
                  </a:lnTo>
                  <a:lnTo>
                    <a:pt x="527433" y="47864"/>
                  </a:lnTo>
                  <a:lnTo>
                    <a:pt x="486957" y="27551"/>
                  </a:lnTo>
                  <a:lnTo>
                    <a:pt x="443701" y="12523"/>
                  </a:lnTo>
                  <a:lnTo>
                    <a:pt x="398083" y="3200"/>
                  </a:lnTo>
                  <a:lnTo>
                    <a:pt x="350519" y="0"/>
                  </a:lnTo>
                  <a:close/>
                </a:path>
              </a:pathLst>
            </a:custGeom>
            <a:solidFill>
              <a:srgbClr val="282C5E"/>
            </a:solidFill>
          </p:spPr>
          <p:txBody>
            <a:bodyPr wrap="square" lIns="0" tIns="0" rIns="0" bIns="0" rtlCol="0"/>
            <a:lstStyle/>
            <a:p>
              <a:endParaRPr/>
            </a:p>
          </p:txBody>
        </p:sp>
        <p:pic>
          <p:nvPicPr>
            <p:cNvPr id="13" name="object 13"/>
            <p:cNvPicPr/>
            <p:nvPr/>
          </p:nvPicPr>
          <p:blipFill>
            <a:blip r:embed="rId2" cstate="print"/>
            <a:stretch>
              <a:fillRect/>
            </a:stretch>
          </p:blipFill>
          <p:spPr>
            <a:xfrm>
              <a:off x="834771" y="3958348"/>
              <a:ext cx="262128" cy="265163"/>
            </a:xfrm>
            <a:prstGeom prst="rect">
              <a:avLst/>
            </a:prstGeom>
          </p:spPr>
        </p:pic>
      </p:grpSp>
      <p:sp>
        <p:nvSpPr>
          <p:cNvPr id="14" name="TextBox 13">
            <a:extLst>
              <a:ext uri="{FF2B5EF4-FFF2-40B4-BE49-F238E27FC236}">
                <a16:creationId xmlns:a16="http://schemas.microsoft.com/office/drawing/2014/main" id="{02B39FC9-56B0-DA19-2D73-5158089E19FA}"/>
              </a:ext>
            </a:extLst>
          </p:cNvPr>
          <p:cNvSpPr txBox="1"/>
          <p:nvPr/>
        </p:nvSpPr>
        <p:spPr>
          <a:xfrm>
            <a:off x="1371281" y="5058043"/>
            <a:ext cx="12424113" cy="2103140"/>
          </a:xfrm>
          <a:prstGeom prst="rect">
            <a:avLst/>
          </a:prstGeom>
          <a:noFill/>
        </p:spPr>
        <p:txBody>
          <a:bodyPr wrap="square">
            <a:spAutoFit/>
          </a:bodyPr>
          <a:lstStyle/>
          <a:p>
            <a:pPr marL="12700">
              <a:lnSpc>
                <a:spcPct val="100000"/>
              </a:lnSpc>
              <a:spcBef>
                <a:spcPts val="105"/>
              </a:spcBef>
            </a:pPr>
            <a:r>
              <a:rPr lang="en-US" sz="1700" b="1" dirty="0">
                <a:solidFill>
                  <a:srgbClr val="E4DCE6"/>
                </a:solidFill>
                <a:latin typeface="Calibri"/>
                <a:cs typeface="Calibri"/>
              </a:rPr>
              <a:t>Secure</a:t>
            </a:r>
            <a:r>
              <a:rPr lang="en-US" sz="1700" b="1" spc="-25" dirty="0">
                <a:solidFill>
                  <a:srgbClr val="E4DCE6"/>
                </a:solidFill>
                <a:latin typeface="Calibri"/>
                <a:cs typeface="Calibri"/>
              </a:rPr>
              <a:t> </a:t>
            </a:r>
            <a:r>
              <a:rPr lang="en-US" sz="1700" b="1" dirty="0">
                <a:solidFill>
                  <a:srgbClr val="E4DCE6"/>
                </a:solidFill>
                <a:latin typeface="Calibri"/>
                <a:cs typeface="Calibri"/>
              </a:rPr>
              <a:t>by</a:t>
            </a:r>
            <a:r>
              <a:rPr lang="en-US" sz="1700" b="1" spc="-35" dirty="0">
                <a:solidFill>
                  <a:srgbClr val="E4DCE6"/>
                </a:solidFill>
                <a:latin typeface="Calibri"/>
                <a:cs typeface="Calibri"/>
              </a:rPr>
              <a:t> </a:t>
            </a:r>
            <a:r>
              <a:rPr lang="en-US" sz="1700" b="1" spc="-10" dirty="0">
                <a:solidFill>
                  <a:srgbClr val="E4DCE6"/>
                </a:solidFill>
                <a:latin typeface="Calibri"/>
                <a:cs typeface="Calibri"/>
              </a:rPr>
              <a:t>Design</a:t>
            </a:r>
            <a:endParaRPr lang="en-US" sz="1700" b="1" dirty="0">
              <a:latin typeface="Calibri"/>
              <a:cs typeface="Calibri"/>
            </a:endParaRPr>
          </a:p>
          <a:p>
            <a:pPr marL="12700">
              <a:lnSpc>
                <a:spcPct val="100000"/>
              </a:lnSpc>
              <a:spcBef>
                <a:spcPts val="975"/>
              </a:spcBef>
            </a:pPr>
            <a:r>
              <a:rPr lang="en-US" sz="1350" spc="-10" dirty="0">
                <a:solidFill>
                  <a:srgbClr val="E4DCE6"/>
                </a:solidFill>
                <a:latin typeface="Calibri"/>
                <a:cs typeface="Calibri"/>
              </a:rPr>
              <a:t>Equipped</a:t>
            </a:r>
            <a:r>
              <a:rPr lang="en-US" sz="1350" spc="-35" dirty="0">
                <a:solidFill>
                  <a:srgbClr val="E4DCE6"/>
                </a:solidFill>
                <a:latin typeface="Calibri"/>
                <a:cs typeface="Calibri"/>
              </a:rPr>
              <a:t> </a:t>
            </a:r>
            <a:r>
              <a:rPr lang="en-US" sz="1350" dirty="0">
                <a:solidFill>
                  <a:srgbClr val="E4DCE6"/>
                </a:solidFill>
                <a:latin typeface="Calibri"/>
                <a:cs typeface="Calibri"/>
              </a:rPr>
              <a:t>with</a:t>
            </a:r>
            <a:r>
              <a:rPr lang="en-US" sz="1350" spc="-35" dirty="0">
                <a:solidFill>
                  <a:srgbClr val="E4DCE6"/>
                </a:solidFill>
                <a:latin typeface="Calibri"/>
                <a:cs typeface="Calibri"/>
              </a:rPr>
              <a:t> </a:t>
            </a:r>
            <a:r>
              <a:rPr lang="en-US" sz="1350" spc="-10" dirty="0">
                <a:solidFill>
                  <a:srgbClr val="E4DCE6"/>
                </a:solidFill>
                <a:latin typeface="Calibri"/>
                <a:cs typeface="Calibri"/>
              </a:rPr>
              <a:t>robust</a:t>
            </a:r>
            <a:r>
              <a:rPr lang="en-US" sz="1350" spc="-45" dirty="0">
                <a:solidFill>
                  <a:srgbClr val="E4DCE6"/>
                </a:solidFill>
                <a:latin typeface="Calibri"/>
                <a:cs typeface="Calibri"/>
              </a:rPr>
              <a:t> </a:t>
            </a:r>
            <a:r>
              <a:rPr lang="en-US" sz="1350" dirty="0">
                <a:solidFill>
                  <a:srgbClr val="E4DCE6"/>
                </a:solidFill>
                <a:latin typeface="Calibri"/>
                <a:cs typeface="Calibri"/>
              </a:rPr>
              <a:t>user</a:t>
            </a:r>
            <a:r>
              <a:rPr lang="en-US" sz="1350" spc="-35" dirty="0">
                <a:solidFill>
                  <a:srgbClr val="E4DCE6"/>
                </a:solidFill>
                <a:latin typeface="Calibri"/>
                <a:cs typeface="Calibri"/>
              </a:rPr>
              <a:t> </a:t>
            </a:r>
            <a:r>
              <a:rPr lang="en-US" sz="1350" spc="-10" dirty="0">
                <a:solidFill>
                  <a:srgbClr val="E4DCE6"/>
                </a:solidFill>
                <a:latin typeface="Calibri"/>
                <a:cs typeface="Calibri"/>
              </a:rPr>
              <a:t>registration</a:t>
            </a:r>
            <a:r>
              <a:rPr lang="en-US" sz="1350" spc="-25" dirty="0">
                <a:solidFill>
                  <a:srgbClr val="E4DCE6"/>
                </a:solidFill>
                <a:latin typeface="Calibri"/>
                <a:cs typeface="Calibri"/>
              </a:rPr>
              <a:t> </a:t>
            </a:r>
            <a:r>
              <a:rPr lang="en-US" sz="1350" dirty="0">
                <a:solidFill>
                  <a:srgbClr val="E4DCE6"/>
                </a:solidFill>
                <a:latin typeface="Calibri"/>
                <a:cs typeface="Calibri"/>
              </a:rPr>
              <a:t>and</a:t>
            </a:r>
            <a:r>
              <a:rPr lang="en-US" sz="1350" spc="-45" dirty="0">
                <a:solidFill>
                  <a:srgbClr val="E4DCE6"/>
                </a:solidFill>
                <a:latin typeface="Calibri"/>
                <a:cs typeface="Calibri"/>
              </a:rPr>
              <a:t> </a:t>
            </a:r>
            <a:r>
              <a:rPr lang="en-US" sz="1350" dirty="0">
                <a:solidFill>
                  <a:srgbClr val="E4DCE6"/>
                </a:solidFill>
                <a:latin typeface="Calibri"/>
                <a:cs typeface="Calibri"/>
              </a:rPr>
              <a:t>login</a:t>
            </a:r>
            <a:r>
              <a:rPr lang="en-US" sz="1350" spc="-30" dirty="0">
                <a:solidFill>
                  <a:srgbClr val="E4DCE6"/>
                </a:solidFill>
                <a:latin typeface="Calibri"/>
                <a:cs typeface="Calibri"/>
              </a:rPr>
              <a:t> </a:t>
            </a:r>
            <a:r>
              <a:rPr lang="en-US" sz="1350" spc="-10" dirty="0">
                <a:solidFill>
                  <a:srgbClr val="E4DCE6"/>
                </a:solidFill>
                <a:latin typeface="Calibri"/>
                <a:cs typeface="Calibri"/>
              </a:rPr>
              <a:t>functionalities.</a:t>
            </a:r>
            <a:r>
              <a:rPr lang="en-US" sz="1350" spc="-30" dirty="0">
                <a:solidFill>
                  <a:srgbClr val="E4DCE6"/>
                </a:solidFill>
                <a:latin typeface="Calibri"/>
                <a:cs typeface="Calibri"/>
              </a:rPr>
              <a:t> </a:t>
            </a:r>
            <a:r>
              <a:rPr lang="en-US" sz="1350" dirty="0">
                <a:solidFill>
                  <a:srgbClr val="E4DCE6"/>
                </a:solidFill>
                <a:latin typeface="Calibri"/>
                <a:cs typeface="Calibri"/>
              </a:rPr>
              <a:t>All</a:t>
            </a:r>
            <a:r>
              <a:rPr lang="en-US" sz="1350" spc="-25" dirty="0">
                <a:solidFill>
                  <a:srgbClr val="E4DCE6"/>
                </a:solidFill>
                <a:latin typeface="Calibri"/>
                <a:cs typeface="Calibri"/>
              </a:rPr>
              <a:t> </a:t>
            </a:r>
            <a:r>
              <a:rPr lang="en-US" sz="1350" spc="-10" dirty="0">
                <a:solidFill>
                  <a:srgbClr val="E4DCE6"/>
                </a:solidFill>
                <a:latin typeface="Calibri"/>
                <a:cs typeface="Calibri"/>
              </a:rPr>
              <a:t>passwords</a:t>
            </a:r>
            <a:r>
              <a:rPr lang="en-US" sz="1350" spc="-30" dirty="0">
                <a:solidFill>
                  <a:srgbClr val="E4DCE6"/>
                </a:solidFill>
                <a:latin typeface="Calibri"/>
                <a:cs typeface="Calibri"/>
              </a:rPr>
              <a:t> </a:t>
            </a:r>
            <a:r>
              <a:rPr lang="en-US" sz="1350" dirty="0">
                <a:solidFill>
                  <a:srgbClr val="E4DCE6"/>
                </a:solidFill>
                <a:latin typeface="Calibri"/>
                <a:cs typeface="Calibri"/>
              </a:rPr>
              <a:t>are</a:t>
            </a:r>
            <a:r>
              <a:rPr lang="en-US" sz="1350" spc="-30" dirty="0">
                <a:solidFill>
                  <a:srgbClr val="E4DCE6"/>
                </a:solidFill>
                <a:latin typeface="Calibri"/>
                <a:cs typeface="Calibri"/>
              </a:rPr>
              <a:t> </a:t>
            </a:r>
            <a:r>
              <a:rPr lang="en-US" sz="1350" spc="-10" dirty="0">
                <a:solidFill>
                  <a:srgbClr val="E4DCE6"/>
                </a:solidFill>
                <a:latin typeface="Calibri"/>
                <a:cs typeface="Calibri"/>
              </a:rPr>
              <a:t>securely</a:t>
            </a:r>
            <a:r>
              <a:rPr lang="en-US" sz="1350" spc="-25" dirty="0">
                <a:solidFill>
                  <a:srgbClr val="E4DCE6"/>
                </a:solidFill>
                <a:latin typeface="Calibri"/>
                <a:cs typeface="Calibri"/>
              </a:rPr>
              <a:t> </a:t>
            </a:r>
            <a:r>
              <a:rPr lang="en-US" sz="1350" dirty="0">
                <a:solidFill>
                  <a:srgbClr val="E4DCE6"/>
                </a:solidFill>
                <a:latin typeface="Calibri"/>
                <a:cs typeface="Calibri"/>
              </a:rPr>
              <a:t>hashed,</a:t>
            </a:r>
            <a:r>
              <a:rPr lang="en-US" sz="1350" spc="-30" dirty="0">
                <a:solidFill>
                  <a:srgbClr val="E4DCE6"/>
                </a:solidFill>
                <a:latin typeface="Calibri"/>
                <a:cs typeface="Calibri"/>
              </a:rPr>
              <a:t> </a:t>
            </a:r>
            <a:r>
              <a:rPr lang="en-US" sz="1350" dirty="0">
                <a:solidFill>
                  <a:srgbClr val="E4DCE6"/>
                </a:solidFill>
                <a:latin typeface="Calibri"/>
                <a:cs typeface="Calibri"/>
              </a:rPr>
              <a:t>and</a:t>
            </a:r>
            <a:r>
              <a:rPr lang="en-US" sz="1350" spc="-40" dirty="0">
                <a:solidFill>
                  <a:srgbClr val="E4DCE6"/>
                </a:solidFill>
                <a:latin typeface="Calibri"/>
                <a:cs typeface="Calibri"/>
              </a:rPr>
              <a:t> </a:t>
            </a:r>
            <a:r>
              <a:rPr lang="en-US" sz="1350" dirty="0">
                <a:solidFill>
                  <a:srgbClr val="E4DCE6"/>
                </a:solidFill>
                <a:latin typeface="Calibri"/>
                <a:cs typeface="Calibri"/>
              </a:rPr>
              <a:t>sensitive</a:t>
            </a:r>
            <a:r>
              <a:rPr lang="en-US" sz="1350" spc="-30" dirty="0">
                <a:solidFill>
                  <a:srgbClr val="E4DCE6"/>
                </a:solidFill>
                <a:latin typeface="Calibri"/>
                <a:cs typeface="Calibri"/>
              </a:rPr>
              <a:t> </a:t>
            </a:r>
            <a:r>
              <a:rPr lang="en-US" sz="1350" dirty="0">
                <a:solidFill>
                  <a:srgbClr val="E4DCE6"/>
                </a:solidFill>
                <a:latin typeface="Calibri"/>
                <a:cs typeface="Calibri"/>
              </a:rPr>
              <a:t>data</a:t>
            </a:r>
            <a:r>
              <a:rPr lang="en-US" sz="1350" spc="-35" dirty="0">
                <a:solidFill>
                  <a:srgbClr val="E4DCE6"/>
                </a:solidFill>
                <a:latin typeface="Calibri"/>
                <a:cs typeface="Calibri"/>
              </a:rPr>
              <a:t> </a:t>
            </a:r>
            <a:r>
              <a:rPr lang="en-US" sz="1350" dirty="0">
                <a:solidFill>
                  <a:srgbClr val="E4DCE6"/>
                </a:solidFill>
                <a:latin typeface="Calibri"/>
                <a:cs typeface="Calibri"/>
              </a:rPr>
              <a:t>is</a:t>
            </a:r>
            <a:r>
              <a:rPr lang="en-US" sz="1350" spc="-30" dirty="0">
                <a:solidFill>
                  <a:srgbClr val="E4DCE6"/>
                </a:solidFill>
                <a:latin typeface="Calibri"/>
                <a:cs typeface="Calibri"/>
              </a:rPr>
              <a:t> </a:t>
            </a:r>
            <a:r>
              <a:rPr lang="en-US" sz="1350" spc="-10" dirty="0">
                <a:solidFill>
                  <a:srgbClr val="E4DCE6"/>
                </a:solidFill>
                <a:latin typeface="Calibri"/>
                <a:cs typeface="Calibri"/>
              </a:rPr>
              <a:t>protected,</a:t>
            </a:r>
            <a:r>
              <a:rPr lang="en-US" sz="1350" spc="-35" dirty="0">
                <a:solidFill>
                  <a:srgbClr val="E4DCE6"/>
                </a:solidFill>
                <a:latin typeface="Calibri"/>
                <a:cs typeface="Calibri"/>
              </a:rPr>
              <a:t> </a:t>
            </a:r>
            <a:r>
              <a:rPr lang="en-US" sz="1350" spc="-10" dirty="0">
                <a:solidFill>
                  <a:srgbClr val="E4DCE6"/>
                </a:solidFill>
                <a:latin typeface="Calibri"/>
                <a:cs typeface="Calibri"/>
              </a:rPr>
              <a:t>adhering</a:t>
            </a:r>
            <a:r>
              <a:rPr lang="en-US" sz="1350" spc="-30" dirty="0">
                <a:solidFill>
                  <a:srgbClr val="E4DCE6"/>
                </a:solidFill>
                <a:latin typeface="Calibri"/>
                <a:cs typeface="Calibri"/>
              </a:rPr>
              <a:t> </a:t>
            </a:r>
            <a:r>
              <a:rPr lang="en-US" sz="1350" dirty="0">
                <a:solidFill>
                  <a:srgbClr val="E4DCE6"/>
                </a:solidFill>
                <a:latin typeface="Calibri"/>
                <a:cs typeface="Calibri"/>
              </a:rPr>
              <a:t>to</a:t>
            </a:r>
            <a:r>
              <a:rPr lang="en-US" sz="1350" spc="-35" dirty="0">
                <a:solidFill>
                  <a:srgbClr val="E4DCE6"/>
                </a:solidFill>
                <a:latin typeface="Calibri"/>
                <a:cs typeface="Calibri"/>
              </a:rPr>
              <a:t> </a:t>
            </a:r>
            <a:r>
              <a:rPr lang="en-US" sz="1350" dirty="0">
                <a:solidFill>
                  <a:srgbClr val="E4DCE6"/>
                </a:solidFill>
                <a:latin typeface="Calibri"/>
                <a:cs typeface="Calibri"/>
              </a:rPr>
              <a:t>best</a:t>
            </a:r>
            <a:r>
              <a:rPr lang="en-US" sz="1350" spc="-35" dirty="0">
                <a:solidFill>
                  <a:srgbClr val="E4DCE6"/>
                </a:solidFill>
                <a:latin typeface="Calibri"/>
                <a:cs typeface="Calibri"/>
              </a:rPr>
              <a:t> </a:t>
            </a:r>
            <a:r>
              <a:rPr lang="en-US" sz="1350" dirty="0">
                <a:solidFill>
                  <a:srgbClr val="E4DCE6"/>
                </a:solidFill>
                <a:latin typeface="Calibri"/>
                <a:cs typeface="Calibri"/>
              </a:rPr>
              <a:t>security</a:t>
            </a:r>
            <a:r>
              <a:rPr lang="en-US" sz="1350" spc="-25" dirty="0">
                <a:solidFill>
                  <a:srgbClr val="E4DCE6"/>
                </a:solidFill>
                <a:latin typeface="Calibri"/>
                <a:cs typeface="Calibri"/>
              </a:rPr>
              <a:t> </a:t>
            </a:r>
            <a:r>
              <a:rPr lang="en-US" sz="1350" spc="-10" dirty="0">
                <a:solidFill>
                  <a:srgbClr val="E4DCE6"/>
                </a:solidFill>
                <a:latin typeface="Calibri"/>
                <a:cs typeface="Calibri"/>
              </a:rPr>
              <a:t>practices</a:t>
            </a:r>
            <a:r>
              <a:rPr lang="en-US" sz="1800" spc="-10" dirty="0">
                <a:solidFill>
                  <a:srgbClr val="E4DCE6"/>
                </a:solidFill>
                <a:latin typeface="Calibri"/>
                <a:cs typeface="Calibri"/>
              </a:rPr>
              <a:t>.</a:t>
            </a:r>
            <a:endParaRPr lang="en-US" sz="1800" dirty="0">
              <a:latin typeface="Calibri"/>
              <a:cs typeface="Calibri"/>
            </a:endParaRPr>
          </a:p>
          <a:p>
            <a:pPr>
              <a:lnSpc>
                <a:spcPct val="100000"/>
              </a:lnSpc>
            </a:pPr>
            <a:endParaRPr lang="en-US" sz="1800" dirty="0">
              <a:latin typeface="Calibri"/>
              <a:cs typeface="Calibri"/>
            </a:endParaRPr>
          </a:p>
          <a:p>
            <a:pPr>
              <a:lnSpc>
                <a:spcPct val="100000"/>
              </a:lnSpc>
              <a:spcBef>
                <a:spcPts val="1465"/>
              </a:spcBef>
            </a:pPr>
            <a:endParaRPr lang="en-US" sz="1800" dirty="0">
              <a:latin typeface="Calibri"/>
              <a:cs typeface="Calibri"/>
            </a:endParaRPr>
          </a:p>
          <a:p>
            <a:pPr marL="12700">
              <a:lnSpc>
                <a:spcPct val="100000"/>
              </a:lnSpc>
            </a:pPr>
            <a:r>
              <a:rPr lang="en-US" sz="1700" b="1" dirty="0">
                <a:solidFill>
                  <a:srgbClr val="E4DCE6"/>
                </a:solidFill>
                <a:latin typeface="Calibri"/>
                <a:cs typeface="Calibri"/>
              </a:rPr>
              <a:t>Instant</a:t>
            </a:r>
            <a:r>
              <a:rPr lang="en-US" sz="1700" b="1" spc="-55" dirty="0">
                <a:solidFill>
                  <a:srgbClr val="E4DCE6"/>
                </a:solidFill>
                <a:latin typeface="Calibri"/>
                <a:cs typeface="Calibri"/>
              </a:rPr>
              <a:t> </a:t>
            </a:r>
            <a:r>
              <a:rPr lang="en-US" sz="1700" b="1" dirty="0">
                <a:solidFill>
                  <a:srgbClr val="E4DCE6"/>
                </a:solidFill>
                <a:latin typeface="Calibri"/>
                <a:cs typeface="Calibri"/>
              </a:rPr>
              <a:t>&amp;</a:t>
            </a:r>
            <a:r>
              <a:rPr lang="en-US" sz="1700" b="1" spc="-65" dirty="0">
                <a:solidFill>
                  <a:srgbClr val="E4DCE6"/>
                </a:solidFill>
                <a:latin typeface="Calibri"/>
                <a:cs typeface="Calibri"/>
              </a:rPr>
              <a:t> </a:t>
            </a:r>
            <a:r>
              <a:rPr lang="en-US" sz="1700" b="1" spc="-10" dirty="0">
                <a:solidFill>
                  <a:srgbClr val="E4DCE6"/>
                </a:solidFill>
                <a:latin typeface="Calibri"/>
                <a:cs typeface="Calibri"/>
              </a:rPr>
              <a:t>Clear</a:t>
            </a:r>
            <a:endParaRPr lang="en-US" sz="1700" b="1" dirty="0">
              <a:latin typeface="Calibri"/>
              <a:cs typeface="Calibri"/>
            </a:endParaRPr>
          </a:p>
          <a:p>
            <a:pPr marL="12700">
              <a:lnSpc>
                <a:spcPct val="100000"/>
              </a:lnSpc>
              <a:spcBef>
                <a:spcPts val="960"/>
              </a:spcBef>
            </a:pPr>
            <a:r>
              <a:rPr lang="en-US" sz="1350" spc="-10" dirty="0">
                <a:solidFill>
                  <a:srgbClr val="E4DCE6"/>
                </a:solidFill>
                <a:latin typeface="Calibri"/>
                <a:cs typeface="Calibri"/>
              </a:rPr>
              <a:t>Provides</a:t>
            </a:r>
            <a:r>
              <a:rPr lang="en-US" sz="1350" spc="-40" dirty="0">
                <a:solidFill>
                  <a:srgbClr val="E4DCE6"/>
                </a:solidFill>
                <a:latin typeface="Calibri"/>
                <a:cs typeface="Calibri"/>
              </a:rPr>
              <a:t> </a:t>
            </a:r>
            <a:r>
              <a:rPr lang="en-US" sz="1350" dirty="0">
                <a:solidFill>
                  <a:srgbClr val="E4DCE6"/>
                </a:solidFill>
                <a:latin typeface="Calibri"/>
                <a:cs typeface="Calibri"/>
              </a:rPr>
              <a:t>a</a:t>
            </a:r>
            <a:r>
              <a:rPr lang="en-US" sz="1350" spc="-20" dirty="0">
                <a:solidFill>
                  <a:srgbClr val="E4DCE6"/>
                </a:solidFill>
                <a:latin typeface="Calibri"/>
                <a:cs typeface="Calibri"/>
              </a:rPr>
              <a:t> </a:t>
            </a:r>
            <a:r>
              <a:rPr lang="en-US" sz="1350" spc="-10" dirty="0">
                <a:solidFill>
                  <a:srgbClr val="E4DCE6"/>
                </a:solidFill>
                <a:latin typeface="Calibri"/>
                <a:cs typeface="Calibri"/>
              </a:rPr>
              <a:t>conclusive</a:t>
            </a:r>
            <a:r>
              <a:rPr lang="en-US" sz="1350" spc="-40" dirty="0">
                <a:solidFill>
                  <a:srgbClr val="E4DCE6"/>
                </a:solidFill>
                <a:latin typeface="Calibri"/>
                <a:cs typeface="Calibri"/>
              </a:rPr>
              <a:t> </a:t>
            </a:r>
            <a:r>
              <a:rPr lang="en-US" sz="1350" dirty="0">
                <a:solidFill>
                  <a:srgbClr val="E4DCE6"/>
                </a:solidFill>
                <a:latin typeface="Calibri"/>
                <a:cs typeface="Calibri"/>
              </a:rPr>
              <a:t>"Real"</a:t>
            </a:r>
            <a:r>
              <a:rPr lang="en-US" sz="1350" spc="-20" dirty="0">
                <a:solidFill>
                  <a:srgbClr val="E4DCE6"/>
                </a:solidFill>
                <a:latin typeface="Calibri"/>
                <a:cs typeface="Calibri"/>
              </a:rPr>
              <a:t> </a:t>
            </a:r>
            <a:r>
              <a:rPr lang="en-US" sz="1350" dirty="0">
                <a:solidFill>
                  <a:srgbClr val="E4DCE6"/>
                </a:solidFill>
                <a:latin typeface="Calibri"/>
                <a:cs typeface="Calibri"/>
              </a:rPr>
              <a:t>or</a:t>
            </a:r>
            <a:r>
              <a:rPr lang="en-US" sz="1350" spc="-35" dirty="0">
                <a:solidFill>
                  <a:srgbClr val="E4DCE6"/>
                </a:solidFill>
                <a:latin typeface="Calibri"/>
                <a:cs typeface="Calibri"/>
              </a:rPr>
              <a:t> </a:t>
            </a:r>
            <a:r>
              <a:rPr lang="en-US" sz="1350" spc="-10" dirty="0">
                <a:solidFill>
                  <a:srgbClr val="E4DCE6"/>
                </a:solidFill>
                <a:latin typeface="Calibri"/>
                <a:cs typeface="Calibri"/>
              </a:rPr>
              <a:t>"Fake"</a:t>
            </a:r>
            <a:r>
              <a:rPr lang="en-US" sz="1350" spc="-35" dirty="0">
                <a:solidFill>
                  <a:srgbClr val="E4DCE6"/>
                </a:solidFill>
                <a:latin typeface="Calibri"/>
                <a:cs typeface="Calibri"/>
              </a:rPr>
              <a:t> </a:t>
            </a:r>
            <a:r>
              <a:rPr lang="en-US" sz="1350" spc="-10" dirty="0">
                <a:solidFill>
                  <a:srgbClr val="E4DCE6"/>
                </a:solidFill>
                <a:latin typeface="Calibri"/>
                <a:cs typeface="Calibri"/>
              </a:rPr>
              <a:t>verdict</a:t>
            </a:r>
            <a:r>
              <a:rPr lang="en-US" sz="1350" spc="-15" dirty="0">
                <a:solidFill>
                  <a:srgbClr val="E4DCE6"/>
                </a:solidFill>
                <a:latin typeface="Calibri"/>
                <a:cs typeface="Calibri"/>
              </a:rPr>
              <a:t> </a:t>
            </a:r>
            <a:r>
              <a:rPr lang="en-US" sz="1350" dirty="0">
                <a:solidFill>
                  <a:srgbClr val="E4DCE6"/>
                </a:solidFill>
                <a:latin typeface="Calibri"/>
                <a:cs typeface="Calibri"/>
              </a:rPr>
              <a:t>almost</a:t>
            </a:r>
            <a:r>
              <a:rPr lang="en-US" sz="1350" spc="-35" dirty="0">
                <a:solidFill>
                  <a:srgbClr val="E4DCE6"/>
                </a:solidFill>
                <a:latin typeface="Calibri"/>
                <a:cs typeface="Calibri"/>
              </a:rPr>
              <a:t> </a:t>
            </a:r>
            <a:r>
              <a:rPr lang="en-US" sz="1350" spc="-20" dirty="0">
                <a:solidFill>
                  <a:srgbClr val="E4DCE6"/>
                </a:solidFill>
                <a:latin typeface="Calibri"/>
                <a:cs typeface="Calibri"/>
              </a:rPr>
              <a:t>instantaneously, </a:t>
            </a:r>
            <a:r>
              <a:rPr lang="en-US" sz="1350" dirty="0">
                <a:solidFill>
                  <a:srgbClr val="E4DCE6"/>
                </a:solidFill>
                <a:latin typeface="Calibri"/>
                <a:cs typeface="Calibri"/>
              </a:rPr>
              <a:t>based</a:t>
            </a:r>
            <a:r>
              <a:rPr lang="en-US" sz="1350" spc="-35" dirty="0">
                <a:solidFill>
                  <a:srgbClr val="E4DCE6"/>
                </a:solidFill>
                <a:latin typeface="Calibri"/>
                <a:cs typeface="Calibri"/>
              </a:rPr>
              <a:t> </a:t>
            </a:r>
            <a:r>
              <a:rPr lang="en-US" sz="1350" dirty="0">
                <a:solidFill>
                  <a:srgbClr val="E4DCE6"/>
                </a:solidFill>
                <a:latin typeface="Calibri"/>
                <a:cs typeface="Calibri"/>
              </a:rPr>
              <a:t>on</a:t>
            </a:r>
            <a:r>
              <a:rPr lang="en-US" sz="1350" spc="-20" dirty="0">
                <a:solidFill>
                  <a:srgbClr val="E4DCE6"/>
                </a:solidFill>
                <a:latin typeface="Calibri"/>
                <a:cs typeface="Calibri"/>
              </a:rPr>
              <a:t> </a:t>
            </a:r>
            <a:r>
              <a:rPr lang="en-US" sz="1350" dirty="0">
                <a:solidFill>
                  <a:srgbClr val="E4DCE6"/>
                </a:solidFill>
                <a:latin typeface="Calibri"/>
                <a:cs typeface="Calibri"/>
              </a:rPr>
              <a:t>a</a:t>
            </a:r>
            <a:r>
              <a:rPr lang="en-US" sz="1350" spc="-30" dirty="0">
                <a:solidFill>
                  <a:srgbClr val="E4DCE6"/>
                </a:solidFill>
                <a:latin typeface="Calibri"/>
                <a:cs typeface="Calibri"/>
              </a:rPr>
              <a:t> </a:t>
            </a:r>
            <a:r>
              <a:rPr lang="en-US" sz="1350" spc="-10" dirty="0">
                <a:solidFill>
                  <a:srgbClr val="E4DCE6"/>
                </a:solidFill>
                <a:latin typeface="Calibri"/>
                <a:cs typeface="Calibri"/>
              </a:rPr>
              <a:t>sophisticated</a:t>
            </a:r>
            <a:r>
              <a:rPr lang="en-US" sz="1350" spc="-25" dirty="0">
                <a:solidFill>
                  <a:srgbClr val="E4DCE6"/>
                </a:solidFill>
                <a:latin typeface="Calibri"/>
                <a:cs typeface="Calibri"/>
              </a:rPr>
              <a:t> </a:t>
            </a:r>
            <a:r>
              <a:rPr lang="en-US" sz="1350" dirty="0">
                <a:solidFill>
                  <a:srgbClr val="E4DCE6"/>
                </a:solidFill>
                <a:latin typeface="Calibri"/>
                <a:cs typeface="Calibri"/>
              </a:rPr>
              <a:t>blend</a:t>
            </a:r>
            <a:r>
              <a:rPr lang="en-US" sz="1350" spc="-40" dirty="0">
                <a:solidFill>
                  <a:srgbClr val="E4DCE6"/>
                </a:solidFill>
                <a:latin typeface="Calibri"/>
                <a:cs typeface="Calibri"/>
              </a:rPr>
              <a:t> </a:t>
            </a:r>
            <a:r>
              <a:rPr lang="en-US" sz="1350" dirty="0">
                <a:solidFill>
                  <a:srgbClr val="E4DCE6"/>
                </a:solidFill>
                <a:latin typeface="Calibri"/>
                <a:cs typeface="Calibri"/>
              </a:rPr>
              <a:t>of</a:t>
            </a:r>
            <a:r>
              <a:rPr lang="en-US" sz="1350" spc="-30" dirty="0">
                <a:solidFill>
                  <a:srgbClr val="E4DCE6"/>
                </a:solidFill>
                <a:latin typeface="Calibri"/>
                <a:cs typeface="Calibri"/>
              </a:rPr>
              <a:t> </a:t>
            </a:r>
            <a:r>
              <a:rPr lang="en-US" sz="1350" dirty="0">
                <a:solidFill>
                  <a:srgbClr val="E4DCE6"/>
                </a:solidFill>
                <a:latin typeface="Calibri"/>
                <a:cs typeface="Calibri"/>
              </a:rPr>
              <a:t>both</a:t>
            </a:r>
            <a:r>
              <a:rPr lang="en-US" sz="1350" spc="-30" dirty="0">
                <a:solidFill>
                  <a:srgbClr val="E4DCE6"/>
                </a:solidFill>
                <a:latin typeface="Calibri"/>
                <a:cs typeface="Calibri"/>
              </a:rPr>
              <a:t> </a:t>
            </a:r>
            <a:r>
              <a:rPr lang="en-US" sz="1350" dirty="0">
                <a:solidFill>
                  <a:srgbClr val="E4DCE6"/>
                </a:solidFill>
                <a:latin typeface="Calibri"/>
                <a:cs typeface="Calibri"/>
              </a:rPr>
              <a:t>visual</a:t>
            </a:r>
            <a:r>
              <a:rPr lang="en-US" sz="1350" spc="-30" dirty="0">
                <a:solidFill>
                  <a:srgbClr val="E4DCE6"/>
                </a:solidFill>
                <a:latin typeface="Calibri"/>
                <a:cs typeface="Calibri"/>
              </a:rPr>
              <a:t> </a:t>
            </a:r>
            <a:r>
              <a:rPr lang="en-US" sz="1350" dirty="0">
                <a:solidFill>
                  <a:srgbClr val="E4DCE6"/>
                </a:solidFill>
                <a:latin typeface="Calibri"/>
                <a:cs typeface="Calibri"/>
              </a:rPr>
              <a:t>and</a:t>
            </a:r>
            <a:r>
              <a:rPr lang="en-US" sz="1350" spc="-35" dirty="0">
                <a:solidFill>
                  <a:srgbClr val="E4DCE6"/>
                </a:solidFill>
                <a:latin typeface="Calibri"/>
                <a:cs typeface="Calibri"/>
              </a:rPr>
              <a:t> </a:t>
            </a:r>
            <a:r>
              <a:rPr lang="en-US" sz="1350" dirty="0">
                <a:solidFill>
                  <a:srgbClr val="E4DCE6"/>
                </a:solidFill>
                <a:latin typeface="Calibri"/>
                <a:cs typeface="Calibri"/>
              </a:rPr>
              <a:t>textual</a:t>
            </a:r>
            <a:r>
              <a:rPr lang="en-US" sz="1350" spc="-15" dirty="0">
                <a:solidFill>
                  <a:srgbClr val="E4DCE6"/>
                </a:solidFill>
                <a:latin typeface="Calibri"/>
                <a:cs typeface="Calibri"/>
              </a:rPr>
              <a:t> </a:t>
            </a:r>
            <a:r>
              <a:rPr lang="en-US" sz="1350" spc="-10" dirty="0">
                <a:solidFill>
                  <a:srgbClr val="E4DCE6"/>
                </a:solidFill>
                <a:latin typeface="Calibri"/>
                <a:cs typeface="Calibri"/>
              </a:rPr>
              <a:t>analysis,</a:t>
            </a:r>
            <a:r>
              <a:rPr lang="en-US" sz="1350" spc="-20" dirty="0">
                <a:solidFill>
                  <a:srgbClr val="E4DCE6"/>
                </a:solidFill>
                <a:latin typeface="Calibri"/>
                <a:cs typeface="Calibri"/>
              </a:rPr>
              <a:t> </a:t>
            </a:r>
            <a:r>
              <a:rPr lang="en-US" sz="1350" dirty="0">
                <a:solidFill>
                  <a:srgbClr val="E4DCE6"/>
                </a:solidFill>
                <a:latin typeface="Calibri"/>
                <a:cs typeface="Calibri"/>
              </a:rPr>
              <a:t>giving</a:t>
            </a:r>
            <a:r>
              <a:rPr lang="en-US" sz="1350" spc="-30" dirty="0">
                <a:solidFill>
                  <a:srgbClr val="E4DCE6"/>
                </a:solidFill>
                <a:latin typeface="Calibri"/>
                <a:cs typeface="Calibri"/>
              </a:rPr>
              <a:t> </a:t>
            </a:r>
            <a:r>
              <a:rPr lang="en-US" sz="1350" spc="-10" dirty="0">
                <a:solidFill>
                  <a:srgbClr val="E4DCE6"/>
                </a:solidFill>
                <a:latin typeface="Calibri"/>
                <a:cs typeface="Calibri"/>
              </a:rPr>
              <a:t>merchants</a:t>
            </a:r>
            <a:r>
              <a:rPr lang="en-US" sz="1350" spc="-30" dirty="0">
                <a:solidFill>
                  <a:srgbClr val="E4DCE6"/>
                </a:solidFill>
                <a:latin typeface="Calibri"/>
                <a:cs typeface="Calibri"/>
              </a:rPr>
              <a:t> </a:t>
            </a:r>
            <a:r>
              <a:rPr lang="en-US" sz="1350" spc="-10" dirty="0">
                <a:solidFill>
                  <a:srgbClr val="E4DCE6"/>
                </a:solidFill>
                <a:latin typeface="Calibri"/>
                <a:cs typeface="Calibri"/>
              </a:rPr>
              <a:t>immediate</a:t>
            </a:r>
            <a:r>
              <a:rPr lang="en-US" sz="1350" spc="-30" dirty="0">
                <a:solidFill>
                  <a:srgbClr val="E4DCE6"/>
                </a:solidFill>
                <a:latin typeface="Calibri"/>
                <a:cs typeface="Calibri"/>
              </a:rPr>
              <a:t> </a:t>
            </a:r>
            <a:r>
              <a:rPr lang="en-US" sz="1350" spc="-10" dirty="0">
                <a:solidFill>
                  <a:srgbClr val="E4DCE6"/>
                </a:solidFill>
                <a:latin typeface="Calibri"/>
                <a:cs typeface="Calibri"/>
              </a:rPr>
              <a:t>clarity.</a:t>
            </a:r>
            <a:endParaRPr lang="en-US" sz="1350" dirty="0">
              <a:latin typeface="Calibri"/>
              <a:cs typeface="Calibri"/>
            </a:endParaRPr>
          </a:p>
        </p:txBody>
      </p:sp>
      <p:pic>
        <p:nvPicPr>
          <p:cNvPr id="15" name="Picture 14">
            <a:extLst>
              <a:ext uri="{FF2B5EF4-FFF2-40B4-BE49-F238E27FC236}">
                <a16:creationId xmlns:a16="http://schemas.microsoft.com/office/drawing/2014/main" id="{2BEB173F-3293-F205-4326-3EBE8D4BF1D0}"/>
              </a:ext>
            </a:extLst>
          </p:cNvPr>
          <p:cNvPicPr>
            <a:picLocks noChangeAspect="1"/>
          </p:cNvPicPr>
          <p:nvPr/>
        </p:nvPicPr>
        <p:blipFill>
          <a:blip r:embed="rId3"/>
          <a:stretch>
            <a:fillRect/>
          </a:stretch>
        </p:blipFill>
        <p:spPr>
          <a:xfrm>
            <a:off x="670181" y="6600736"/>
            <a:ext cx="701101" cy="10546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866123" y="46"/>
            <a:ext cx="5763895" cy="8229600"/>
            <a:chOff x="8866123" y="46"/>
            <a:chExt cx="5763895" cy="8229600"/>
          </a:xfrm>
        </p:grpSpPr>
        <p:pic>
          <p:nvPicPr>
            <p:cNvPr id="3" name="object 3"/>
            <p:cNvPicPr/>
            <p:nvPr/>
          </p:nvPicPr>
          <p:blipFill>
            <a:blip r:embed="rId2" cstate="print"/>
            <a:stretch>
              <a:fillRect/>
            </a:stretch>
          </p:blipFill>
          <p:spPr>
            <a:xfrm>
              <a:off x="12837795" y="7750816"/>
              <a:ext cx="1724660" cy="411351"/>
            </a:xfrm>
            <a:prstGeom prst="rect">
              <a:avLst/>
            </a:prstGeom>
          </p:spPr>
        </p:pic>
        <p:pic>
          <p:nvPicPr>
            <p:cNvPr id="4" name="object 4"/>
            <p:cNvPicPr/>
            <p:nvPr/>
          </p:nvPicPr>
          <p:blipFill>
            <a:blip r:embed="rId3" cstate="print"/>
            <a:stretch>
              <a:fillRect/>
            </a:stretch>
          </p:blipFill>
          <p:spPr>
            <a:xfrm>
              <a:off x="8866123" y="46"/>
              <a:ext cx="5763641" cy="8229216"/>
            </a:xfrm>
            <a:prstGeom prst="rect">
              <a:avLst/>
            </a:prstGeom>
          </p:spPr>
        </p:pic>
      </p:grpSp>
      <p:pic>
        <p:nvPicPr>
          <p:cNvPr id="5" name="object 5"/>
          <p:cNvPicPr/>
          <p:nvPr/>
        </p:nvPicPr>
        <p:blipFill>
          <a:blip r:embed="rId4" cstate="print"/>
          <a:stretch>
            <a:fillRect/>
          </a:stretch>
        </p:blipFill>
        <p:spPr>
          <a:xfrm>
            <a:off x="481634" y="478408"/>
            <a:ext cx="1092022" cy="270764"/>
          </a:xfrm>
          <a:prstGeom prst="rect">
            <a:avLst/>
          </a:prstGeom>
        </p:spPr>
      </p:pic>
      <p:pic>
        <p:nvPicPr>
          <p:cNvPr id="6" name="object 6"/>
          <p:cNvPicPr/>
          <p:nvPr/>
        </p:nvPicPr>
        <p:blipFill>
          <a:blip r:embed="rId5" cstate="print"/>
          <a:stretch>
            <a:fillRect/>
          </a:stretch>
        </p:blipFill>
        <p:spPr>
          <a:xfrm>
            <a:off x="1699958" y="465708"/>
            <a:ext cx="1951799" cy="227711"/>
          </a:xfrm>
          <a:prstGeom prst="rect">
            <a:avLst/>
          </a:prstGeom>
        </p:spPr>
      </p:pic>
      <p:pic>
        <p:nvPicPr>
          <p:cNvPr id="7" name="object 7"/>
          <p:cNvPicPr/>
          <p:nvPr/>
        </p:nvPicPr>
        <p:blipFill>
          <a:blip r:embed="rId6" cstate="print"/>
          <a:stretch>
            <a:fillRect/>
          </a:stretch>
        </p:blipFill>
        <p:spPr>
          <a:xfrm>
            <a:off x="471703" y="911733"/>
            <a:ext cx="124206" cy="124968"/>
          </a:xfrm>
          <a:prstGeom prst="rect">
            <a:avLst/>
          </a:prstGeom>
        </p:spPr>
      </p:pic>
      <p:grpSp>
        <p:nvGrpSpPr>
          <p:cNvPr id="8" name="object 8"/>
          <p:cNvGrpSpPr/>
          <p:nvPr/>
        </p:nvGrpSpPr>
        <p:grpSpPr>
          <a:xfrm>
            <a:off x="659168" y="903097"/>
            <a:ext cx="977900" cy="135255"/>
            <a:chOff x="659168" y="903097"/>
            <a:chExt cx="977900" cy="135255"/>
          </a:xfrm>
        </p:grpSpPr>
        <p:pic>
          <p:nvPicPr>
            <p:cNvPr id="9" name="object 9"/>
            <p:cNvPicPr/>
            <p:nvPr/>
          </p:nvPicPr>
          <p:blipFill>
            <a:blip r:embed="rId7" cstate="print"/>
            <a:stretch>
              <a:fillRect/>
            </a:stretch>
          </p:blipFill>
          <p:spPr>
            <a:xfrm>
              <a:off x="659168" y="910336"/>
              <a:ext cx="90309" cy="127762"/>
            </a:xfrm>
            <a:prstGeom prst="rect">
              <a:avLst/>
            </a:prstGeom>
          </p:spPr>
        </p:pic>
        <p:pic>
          <p:nvPicPr>
            <p:cNvPr id="10" name="object 10"/>
            <p:cNvPicPr/>
            <p:nvPr/>
          </p:nvPicPr>
          <p:blipFill>
            <a:blip r:embed="rId8" cstate="print"/>
            <a:stretch>
              <a:fillRect/>
            </a:stretch>
          </p:blipFill>
          <p:spPr>
            <a:xfrm>
              <a:off x="773722" y="903097"/>
              <a:ext cx="862799" cy="135000"/>
            </a:xfrm>
            <a:prstGeom prst="rect">
              <a:avLst/>
            </a:prstGeom>
          </p:spPr>
        </p:pic>
      </p:grpSp>
      <p:pic>
        <p:nvPicPr>
          <p:cNvPr id="11" name="object 11"/>
          <p:cNvPicPr/>
          <p:nvPr/>
        </p:nvPicPr>
        <p:blipFill>
          <a:blip r:embed="rId9" cstate="print"/>
          <a:stretch>
            <a:fillRect/>
          </a:stretch>
        </p:blipFill>
        <p:spPr>
          <a:xfrm>
            <a:off x="1700085" y="903097"/>
            <a:ext cx="999045" cy="167894"/>
          </a:xfrm>
          <a:prstGeom prst="rect">
            <a:avLst/>
          </a:prstGeom>
        </p:spPr>
      </p:pic>
      <p:sp>
        <p:nvSpPr>
          <p:cNvPr id="12" name="object 12"/>
          <p:cNvSpPr/>
          <p:nvPr/>
        </p:nvSpPr>
        <p:spPr>
          <a:xfrm>
            <a:off x="2780283" y="903097"/>
            <a:ext cx="549275" cy="135255"/>
          </a:xfrm>
          <a:custGeom>
            <a:avLst/>
            <a:gdLst/>
            <a:ahLst/>
            <a:cxnLst/>
            <a:rect l="l" t="t" r="r" b="b"/>
            <a:pathLst>
              <a:path w="549275" h="135255">
                <a:moveTo>
                  <a:pt x="14732" y="133350"/>
                </a:moveTo>
                <a:lnTo>
                  <a:pt x="3302" y="133350"/>
                </a:lnTo>
                <a:lnTo>
                  <a:pt x="4572" y="133603"/>
                </a:lnTo>
                <a:lnTo>
                  <a:pt x="13589" y="133603"/>
                </a:lnTo>
                <a:lnTo>
                  <a:pt x="14732" y="133350"/>
                </a:lnTo>
                <a:close/>
              </a:path>
              <a:path w="549275" h="135255">
                <a:moveTo>
                  <a:pt x="148717" y="133350"/>
                </a:moveTo>
                <a:lnTo>
                  <a:pt x="137414" y="133350"/>
                </a:lnTo>
                <a:lnTo>
                  <a:pt x="138684" y="133603"/>
                </a:lnTo>
                <a:lnTo>
                  <a:pt x="147574" y="133603"/>
                </a:lnTo>
                <a:lnTo>
                  <a:pt x="148717" y="133350"/>
                </a:lnTo>
                <a:close/>
              </a:path>
              <a:path w="549275" h="135255">
                <a:moveTo>
                  <a:pt x="17272" y="132714"/>
                </a:moveTo>
                <a:lnTo>
                  <a:pt x="888" y="132714"/>
                </a:lnTo>
                <a:lnTo>
                  <a:pt x="2794" y="133350"/>
                </a:lnTo>
                <a:lnTo>
                  <a:pt x="15367" y="133350"/>
                </a:lnTo>
                <a:lnTo>
                  <a:pt x="17272" y="132714"/>
                </a:lnTo>
                <a:close/>
              </a:path>
              <a:path w="549275" h="135255">
                <a:moveTo>
                  <a:pt x="83058" y="132714"/>
                </a:moveTo>
                <a:lnTo>
                  <a:pt x="67309" y="132714"/>
                </a:lnTo>
                <a:lnTo>
                  <a:pt x="69215" y="133350"/>
                </a:lnTo>
                <a:lnTo>
                  <a:pt x="81153" y="133350"/>
                </a:lnTo>
                <a:lnTo>
                  <a:pt x="83058" y="132714"/>
                </a:lnTo>
                <a:close/>
              </a:path>
              <a:path w="549275" h="135255">
                <a:moveTo>
                  <a:pt x="152527" y="22478"/>
                </a:moveTo>
                <a:lnTo>
                  <a:pt x="133858" y="22478"/>
                </a:lnTo>
                <a:lnTo>
                  <a:pt x="133858" y="131699"/>
                </a:lnTo>
                <a:lnTo>
                  <a:pt x="135000" y="132714"/>
                </a:lnTo>
                <a:lnTo>
                  <a:pt x="136906" y="133350"/>
                </a:lnTo>
                <a:lnTo>
                  <a:pt x="149352" y="133350"/>
                </a:lnTo>
                <a:lnTo>
                  <a:pt x="151257" y="132714"/>
                </a:lnTo>
                <a:lnTo>
                  <a:pt x="151595" y="132714"/>
                </a:lnTo>
                <a:lnTo>
                  <a:pt x="152273" y="131699"/>
                </a:lnTo>
                <a:lnTo>
                  <a:pt x="152527" y="131191"/>
                </a:lnTo>
                <a:lnTo>
                  <a:pt x="152527" y="22478"/>
                </a:lnTo>
                <a:close/>
              </a:path>
              <a:path w="549275" h="135255">
                <a:moveTo>
                  <a:pt x="23495" y="9144"/>
                </a:moveTo>
                <a:lnTo>
                  <a:pt x="5270" y="9144"/>
                </a:lnTo>
                <a:lnTo>
                  <a:pt x="3937" y="9525"/>
                </a:lnTo>
                <a:lnTo>
                  <a:pt x="2286" y="10795"/>
                </a:lnTo>
                <a:lnTo>
                  <a:pt x="451" y="12064"/>
                </a:lnTo>
                <a:lnTo>
                  <a:pt x="533" y="12192"/>
                </a:lnTo>
                <a:lnTo>
                  <a:pt x="177" y="13080"/>
                </a:lnTo>
                <a:lnTo>
                  <a:pt x="76" y="13334"/>
                </a:lnTo>
                <a:lnTo>
                  <a:pt x="0" y="131699"/>
                </a:lnTo>
                <a:lnTo>
                  <a:pt x="677" y="132714"/>
                </a:lnTo>
                <a:lnTo>
                  <a:pt x="17610" y="132714"/>
                </a:lnTo>
                <a:lnTo>
                  <a:pt x="18288" y="131699"/>
                </a:lnTo>
                <a:lnTo>
                  <a:pt x="18542" y="131191"/>
                </a:lnTo>
                <a:lnTo>
                  <a:pt x="18668" y="22478"/>
                </a:lnTo>
                <a:lnTo>
                  <a:pt x="37088" y="22478"/>
                </a:lnTo>
                <a:lnTo>
                  <a:pt x="35560" y="19050"/>
                </a:lnTo>
                <a:lnTo>
                  <a:pt x="34925" y="17399"/>
                </a:lnTo>
                <a:lnTo>
                  <a:pt x="34163" y="15875"/>
                </a:lnTo>
                <a:lnTo>
                  <a:pt x="32385" y="13334"/>
                </a:lnTo>
                <a:lnTo>
                  <a:pt x="31242" y="12192"/>
                </a:lnTo>
                <a:lnTo>
                  <a:pt x="29972" y="11429"/>
                </a:lnTo>
                <a:lnTo>
                  <a:pt x="28575" y="10541"/>
                </a:lnTo>
                <a:lnTo>
                  <a:pt x="27051" y="9905"/>
                </a:lnTo>
                <a:lnTo>
                  <a:pt x="23495" y="9144"/>
                </a:lnTo>
                <a:close/>
              </a:path>
              <a:path w="549275" h="135255">
                <a:moveTo>
                  <a:pt x="84137" y="131699"/>
                </a:moveTo>
                <a:lnTo>
                  <a:pt x="65912" y="131699"/>
                </a:lnTo>
                <a:lnTo>
                  <a:pt x="67437" y="132714"/>
                </a:lnTo>
                <a:lnTo>
                  <a:pt x="82613" y="132714"/>
                </a:lnTo>
                <a:lnTo>
                  <a:pt x="84137" y="131699"/>
                </a:lnTo>
                <a:close/>
              </a:path>
              <a:path w="549275" h="135255">
                <a:moveTo>
                  <a:pt x="133858" y="131699"/>
                </a:moveTo>
                <a:lnTo>
                  <a:pt x="84137" y="131699"/>
                </a:lnTo>
                <a:lnTo>
                  <a:pt x="82613" y="132714"/>
                </a:lnTo>
                <a:lnTo>
                  <a:pt x="134874" y="132714"/>
                </a:lnTo>
                <a:lnTo>
                  <a:pt x="133858" y="131699"/>
                </a:lnTo>
                <a:close/>
              </a:path>
              <a:path w="549275" h="135255">
                <a:moveTo>
                  <a:pt x="37088" y="22478"/>
                </a:moveTo>
                <a:lnTo>
                  <a:pt x="18668" y="22478"/>
                </a:lnTo>
                <a:lnTo>
                  <a:pt x="65913" y="131191"/>
                </a:lnTo>
                <a:lnTo>
                  <a:pt x="66082" y="131699"/>
                </a:lnTo>
                <a:lnTo>
                  <a:pt x="83947" y="131699"/>
                </a:lnTo>
                <a:lnTo>
                  <a:pt x="84201" y="131191"/>
                </a:lnTo>
                <a:lnTo>
                  <a:pt x="94243" y="109093"/>
                </a:lnTo>
                <a:lnTo>
                  <a:pt x="75692" y="109093"/>
                </a:lnTo>
                <a:lnTo>
                  <a:pt x="37088" y="22478"/>
                </a:lnTo>
                <a:close/>
              </a:path>
              <a:path w="549275" h="135255">
                <a:moveTo>
                  <a:pt x="146558" y="9144"/>
                </a:moveTo>
                <a:lnTo>
                  <a:pt x="129032" y="9144"/>
                </a:lnTo>
                <a:lnTo>
                  <a:pt x="126238" y="9905"/>
                </a:lnTo>
                <a:lnTo>
                  <a:pt x="124968" y="10413"/>
                </a:lnTo>
                <a:lnTo>
                  <a:pt x="123634" y="11429"/>
                </a:lnTo>
                <a:lnTo>
                  <a:pt x="122682" y="12064"/>
                </a:lnTo>
                <a:lnTo>
                  <a:pt x="121539" y="13080"/>
                </a:lnTo>
                <a:lnTo>
                  <a:pt x="120650" y="14477"/>
                </a:lnTo>
                <a:lnTo>
                  <a:pt x="119634" y="15875"/>
                </a:lnTo>
                <a:lnTo>
                  <a:pt x="118745" y="17399"/>
                </a:lnTo>
                <a:lnTo>
                  <a:pt x="117983" y="19430"/>
                </a:lnTo>
                <a:lnTo>
                  <a:pt x="76200" y="109093"/>
                </a:lnTo>
                <a:lnTo>
                  <a:pt x="94243" y="109093"/>
                </a:lnTo>
                <a:lnTo>
                  <a:pt x="133604" y="22478"/>
                </a:lnTo>
                <a:lnTo>
                  <a:pt x="152527" y="22478"/>
                </a:lnTo>
                <a:lnTo>
                  <a:pt x="152527" y="15112"/>
                </a:lnTo>
                <a:lnTo>
                  <a:pt x="152385" y="14477"/>
                </a:lnTo>
                <a:lnTo>
                  <a:pt x="152273" y="13970"/>
                </a:lnTo>
                <a:lnTo>
                  <a:pt x="151765" y="13080"/>
                </a:lnTo>
                <a:lnTo>
                  <a:pt x="151384" y="12192"/>
                </a:lnTo>
                <a:lnTo>
                  <a:pt x="150749" y="11429"/>
                </a:lnTo>
                <a:lnTo>
                  <a:pt x="149479" y="10159"/>
                </a:lnTo>
                <a:lnTo>
                  <a:pt x="148886" y="9905"/>
                </a:lnTo>
                <a:lnTo>
                  <a:pt x="147912" y="9525"/>
                </a:lnTo>
                <a:lnTo>
                  <a:pt x="148081" y="9525"/>
                </a:lnTo>
                <a:lnTo>
                  <a:pt x="146558" y="9144"/>
                </a:lnTo>
                <a:close/>
              </a:path>
              <a:path w="549275" h="135255">
                <a:moveTo>
                  <a:pt x="237744" y="40131"/>
                </a:moveTo>
                <a:lnTo>
                  <a:pt x="221361" y="40131"/>
                </a:lnTo>
                <a:lnTo>
                  <a:pt x="214122" y="41275"/>
                </a:lnTo>
                <a:lnTo>
                  <a:pt x="207899" y="43687"/>
                </a:lnTo>
                <a:lnTo>
                  <a:pt x="201676" y="45974"/>
                </a:lnTo>
                <a:lnTo>
                  <a:pt x="179959" y="81406"/>
                </a:lnTo>
                <a:lnTo>
                  <a:pt x="179959" y="95630"/>
                </a:lnTo>
                <a:lnTo>
                  <a:pt x="180975" y="102234"/>
                </a:lnTo>
                <a:lnTo>
                  <a:pt x="182880" y="107950"/>
                </a:lnTo>
                <a:lnTo>
                  <a:pt x="184785" y="113792"/>
                </a:lnTo>
                <a:lnTo>
                  <a:pt x="187833" y="118618"/>
                </a:lnTo>
                <a:lnTo>
                  <a:pt x="195707" y="126746"/>
                </a:lnTo>
                <a:lnTo>
                  <a:pt x="200660" y="129794"/>
                </a:lnTo>
                <a:lnTo>
                  <a:pt x="206629" y="131825"/>
                </a:lnTo>
                <a:lnTo>
                  <a:pt x="212598" y="133984"/>
                </a:lnTo>
                <a:lnTo>
                  <a:pt x="219583" y="135000"/>
                </a:lnTo>
                <a:lnTo>
                  <a:pt x="235966" y="135000"/>
                </a:lnTo>
                <a:lnTo>
                  <a:pt x="242400" y="133984"/>
                </a:lnTo>
                <a:lnTo>
                  <a:pt x="242877" y="133984"/>
                </a:lnTo>
                <a:lnTo>
                  <a:pt x="255651" y="129031"/>
                </a:lnTo>
                <a:lnTo>
                  <a:pt x="260858" y="125729"/>
                </a:lnTo>
                <a:lnTo>
                  <a:pt x="264802" y="121666"/>
                </a:lnTo>
                <a:lnTo>
                  <a:pt x="222885" y="121666"/>
                </a:lnTo>
                <a:lnTo>
                  <a:pt x="218748" y="120903"/>
                </a:lnTo>
                <a:lnTo>
                  <a:pt x="218340" y="120903"/>
                </a:lnTo>
                <a:lnTo>
                  <a:pt x="214122" y="118999"/>
                </a:lnTo>
                <a:lnTo>
                  <a:pt x="200025" y="100710"/>
                </a:lnTo>
                <a:lnTo>
                  <a:pt x="199009" y="96520"/>
                </a:lnTo>
                <a:lnTo>
                  <a:pt x="198689" y="93725"/>
                </a:lnTo>
                <a:lnTo>
                  <a:pt x="198573" y="92709"/>
                </a:lnTo>
                <a:lnTo>
                  <a:pt x="198501" y="82423"/>
                </a:lnTo>
                <a:lnTo>
                  <a:pt x="198924" y="79375"/>
                </a:lnTo>
                <a:lnTo>
                  <a:pt x="199030" y="78612"/>
                </a:lnTo>
                <a:lnTo>
                  <a:pt x="205761" y="62992"/>
                </a:lnTo>
                <a:lnTo>
                  <a:pt x="208280" y="59817"/>
                </a:lnTo>
                <a:lnTo>
                  <a:pt x="211455" y="57530"/>
                </a:lnTo>
                <a:lnTo>
                  <a:pt x="219075" y="54228"/>
                </a:lnTo>
                <a:lnTo>
                  <a:pt x="223647" y="53339"/>
                </a:lnTo>
                <a:lnTo>
                  <a:pt x="266545" y="53339"/>
                </a:lnTo>
                <a:lnTo>
                  <a:pt x="265684" y="52450"/>
                </a:lnTo>
                <a:lnTo>
                  <a:pt x="261620" y="48513"/>
                </a:lnTo>
                <a:lnTo>
                  <a:pt x="256667" y="45338"/>
                </a:lnTo>
                <a:lnTo>
                  <a:pt x="250698" y="43306"/>
                </a:lnTo>
                <a:lnTo>
                  <a:pt x="245080" y="41275"/>
                </a:lnTo>
                <a:lnTo>
                  <a:pt x="245602" y="41275"/>
                </a:lnTo>
                <a:lnTo>
                  <a:pt x="237744" y="40131"/>
                </a:lnTo>
                <a:close/>
              </a:path>
              <a:path w="549275" h="135255">
                <a:moveTo>
                  <a:pt x="266545" y="53339"/>
                </a:moveTo>
                <a:lnTo>
                  <a:pt x="234823" y="53339"/>
                </a:lnTo>
                <a:lnTo>
                  <a:pt x="239649" y="54228"/>
                </a:lnTo>
                <a:lnTo>
                  <a:pt x="243459" y="56133"/>
                </a:lnTo>
                <a:lnTo>
                  <a:pt x="259080" y="92709"/>
                </a:lnTo>
                <a:lnTo>
                  <a:pt x="258674" y="95630"/>
                </a:lnTo>
                <a:lnTo>
                  <a:pt x="258550" y="96520"/>
                </a:lnTo>
                <a:lnTo>
                  <a:pt x="233807" y="121666"/>
                </a:lnTo>
                <a:lnTo>
                  <a:pt x="264802" y="121666"/>
                </a:lnTo>
                <a:lnTo>
                  <a:pt x="277622" y="93725"/>
                </a:lnTo>
                <a:lnTo>
                  <a:pt x="277502" y="78612"/>
                </a:lnTo>
                <a:lnTo>
                  <a:pt x="276924" y="74929"/>
                </a:lnTo>
                <a:lnTo>
                  <a:pt x="276845" y="74422"/>
                </a:lnTo>
                <a:lnTo>
                  <a:pt x="276725" y="73659"/>
                </a:lnTo>
                <a:lnTo>
                  <a:pt x="276606" y="72898"/>
                </a:lnTo>
                <a:lnTo>
                  <a:pt x="272542" y="61468"/>
                </a:lnTo>
                <a:lnTo>
                  <a:pt x="269621" y="56514"/>
                </a:lnTo>
                <a:lnTo>
                  <a:pt x="266545" y="53339"/>
                </a:lnTo>
                <a:close/>
              </a:path>
              <a:path w="549275" h="135255">
                <a:moveTo>
                  <a:pt x="345694" y="40131"/>
                </a:moveTo>
                <a:lnTo>
                  <a:pt x="333121" y="40131"/>
                </a:lnTo>
                <a:lnTo>
                  <a:pt x="327152" y="41275"/>
                </a:lnTo>
                <a:lnTo>
                  <a:pt x="298831" y="74549"/>
                </a:lnTo>
                <a:lnTo>
                  <a:pt x="297942" y="81279"/>
                </a:lnTo>
                <a:lnTo>
                  <a:pt x="298006" y="95503"/>
                </a:lnTo>
                <a:lnTo>
                  <a:pt x="319278" y="131318"/>
                </a:lnTo>
                <a:lnTo>
                  <a:pt x="324358" y="133857"/>
                </a:lnTo>
                <a:lnTo>
                  <a:pt x="330454" y="135000"/>
                </a:lnTo>
                <a:lnTo>
                  <a:pt x="344170" y="135000"/>
                </a:lnTo>
                <a:lnTo>
                  <a:pt x="349656" y="133857"/>
                </a:lnTo>
                <a:lnTo>
                  <a:pt x="350012" y="133857"/>
                </a:lnTo>
                <a:lnTo>
                  <a:pt x="355854" y="130936"/>
                </a:lnTo>
                <a:lnTo>
                  <a:pt x="361315" y="128143"/>
                </a:lnTo>
                <a:lnTo>
                  <a:pt x="366649" y="124332"/>
                </a:lnTo>
                <a:lnTo>
                  <a:pt x="369586" y="121538"/>
                </a:lnTo>
                <a:lnTo>
                  <a:pt x="336042" y="121538"/>
                </a:lnTo>
                <a:lnTo>
                  <a:pt x="332708" y="120650"/>
                </a:lnTo>
                <a:lnTo>
                  <a:pt x="332443" y="120650"/>
                </a:lnTo>
                <a:lnTo>
                  <a:pt x="329057" y="118618"/>
                </a:lnTo>
                <a:lnTo>
                  <a:pt x="316484" y="91312"/>
                </a:lnTo>
                <a:lnTo>
                  <a:pt x="316484" y="82803"/>
                </a:lnTo>
                <a:lnTo>
                  <a:pt x="322199" y="64261"/>
                </a:lnTo>
                <a:lnTo>
                  <a:pt x="324231" y="61086"/>
                </a:lnTo>
                <a:lnTo>
                  <a:pt x="326771" y="58547"/>
                </a:lnTo>
                <a:lnTo>
                  <a:pt x="333121" y="54736"/>
                </a:lnTo>
                <a:lnTo>
                  <a:pt x="336931" y="53721"/>
                </a:lnTo>
                <a:lnTo>
                  <a:pt x="387654" y="53721"/>
                </a:lnTo>
                <a:lnTo>
                  <a:pt x="387654" y="53212"/>
                </a:lnTo>
                <a:lnTo>
                  <a:pt x="369697" y="53212"/>
                </a:lnTo>
                <a:lnTo>
                  <a:pt x="365259" y="49022"/>
                </a:lnTo>
                <a:lnTo>
                  <a:pt x="360426" y="45593"/>
                </a:lnTo>
                <a:lnTo>
                  <a:pt x="351028" y="41275"/>
                </a:lnTo>
                <a:lnTo>
                  <a:pt x="345694" y="40131"/>
                </a:lnTo>
                <a:close/>
              </a:path>
              <a:path w="549275" h="135255">
                <a:moveTo>
                  <a:pt x="387719" y="119379"/>
                </a:moveTo>
                <a:lnTo>
                  <a:pt x="371856" y="119379"/>
                </a:lnTo>
                <a:lnTo>
                  <a:pt x="371856" y="131318"/>
                </a:lnTo>
                <a:lnTo>
                  <a:pt x="371983" y="131825"/>
                </a:lnTo>
                <a:lnTo>
                  <a:pt x="372491" y="132587"/>
                </a:lnTo>
                <a:lnTo>
                  <a:pt x="372999" y="132842"/>
                </a:lnTo>
                <a:lnTo>
                  <a:pt x="374269" y="133350"/>
                </a:lnTo>
                <a:lnTo>
                  <a:pt x="385445" y="133350"/>
                </a:lnTo>
                <a:lnTo>
                  <a:pt x="386715" y="132842"/>
                </a:lnTo>
                <a:lnTo>
                  <a:pt x="387096" y="132587"/>
                </a:lnTo>
                <a:lnTo>
                  <a:pt x="387604" y="131825"/>
                </a:lnTo>
                <a:lnTo>
                  <a:pt x="387719" y="119379"/>
                </a:lnTo>
                <a:close/>
              </a:path>
              <a:path w="549275" h="135255">
                <a:moveTo>
                  <a:pt x="387654" y="53721"/>
                </a:moveTo>
                <a:lnTo>
                  <a:pt x="346456" y="53721"/>
                </a:lnTo>
                <a:lnTo>
                  <a:pt x="351155" y="55118"/>
                </a:lnTo>
                <a:lnTo>
                  <a:pt x="355727" y="57911"/>
                </a:lnTo>
                <a:lnTo>
                  <a:pt x="360172" y="60705"/>
                </a:lnTo>
                <a:lnTo>
                  <a:pt x="364871" y="64770"/>
                </a:lnTo>
                <a:lnTo>
                  <a:pt x="369697" y="70103"/>
                </a:lnTo>
                <a:lnTo>
                  <a:pt x="369697" y="104648"/>
                </a:lnTo>
                <a:lnTo>
                  <a:pt x="354457" y="117728"/>
                </a:lnTo>
                <a:lnTo>
                  <a:pt x="352171" y="119125"/>
                </a:lnTo>
                <a:lnTo>
                  <a:pt x="349885" y="120014"/>
                </a:lnTo>
                <a:lnTo>
                  <a:pt x="347726" y="120650"/>
                </a:lnTo>
                <a:lnTo>
                  <a:pt x="344525" y="121538"/>
                </a:lnTo>
                <a:lnTo>
                  <a:pt x="369586" y="121538"/>
                </a:lnTo>
                <a:lnTo>
                  <a:pt x="371856" y="119379"/>
                </a:lnTo>
                <a:lnTo>
                  <a:pt x="387719" y="119379"/>
                </a:lnTo>
                <a:lnTo>
                  <a:pt x="387654" y="53721"/>
                </a:lnTo>
                <a:close/>
              </a:path>
              <a:path w="549275" h="135255">
                <a:moveTo>
                  <a:pt x="386461" y="888"/>
                </a:moveTo>
                <a:lnTo>
                  <a:pt x="370840" y="888"/>
                </a:lnTo>
                <a:lnTo>
                  <a:pt x="370332" y="1270"/>
                </a:lnTo>
                <a:lnTo>
                  <a:pt x="369824" y="2031"/>
                </a:lnTo>
                <a:lnTo>
                  <a:pt x="369697" y="53212"/>
                </a:lnTo>
                <a:lnTo>
                  <a:pt x="387654" y="53212"/>
                </a:lnTo>
                <a:lnTo>
                  <a:pt x="387604" y="2031"/>
                </a:lnTo>
                <a:lnTo>
                  <a:pt x="387223" y="1650"/>
                </a:lnTo>
                <a:lnTo>
                  <a:pt x="386969" y="1270"/>
                </a:lnTo>
                <a:lnTo>
                  <a:pt x="386461" y="888"/>
                </a:lnTo>
                <a:close/>
              </a:path>
              <a:path w="549275" h="135255">
                <a:moveTo>
                  <a:pt x="384302" y="253"/>
                </a:moveTo>
                <a:lnTo>
                  <a:pt x="373253" y="253"/>
                </a:lnTo>
                <a:lnTo>
                  <a:pt x="372364" y="507"/>
                </a:lnTo>
                <a:lnTo>
                  <a:pt x="371221" y="888"/>
                </a:lnTo>
                <a:lnTo>
                  <a:pt x="386143" y="888"/>
                </a:lnTo>
                <a:lnTo>
                  <a:pt x="385191" y="507"/>
                </a:lnTo>
                <a:lnTo>
                  <a:pt x="384302" y="253"/>
                </a:lnTo>
                <a:close/>
              </a:path>
              <a:path w="549275" h="135255">
                <a:moveTo>
                  <a:pt x="469519" y="40131"/>
                </a:moveTo>
                <a:lnTo>
                  <a:pt x="454660" y="40131"/>
                </a:lnTo>
                <a:lnTo>
                  <a:pt x="448183" y="41275"/>
                </a:lnTo>
                <a:lnTo>
                  <a:pt x="436626" y="45593"/>
                </a:lnTo>
                <a:lnTo>
                  <a:pt x="431673" y="48768"/>
                </a:lnTo>
                <a:lnTo>
                  <a:pt x="427609" y="52958"/>
                </a:lnTo>
                <a:lnTo>
                  <a:pt x="423545" y="57023"/>
                </a:lnTo>
                <a:lnTo>
                  <a:pt x="420370" y="62102"/>
                </a:lnTo>
                <a:lnTo>
                  <a:pt x="418211" y="67945"/>
                </a:lnTo>
                <a:lnTo>
                  <a:pt x="416052" y="73913"/>
                </a:lnTo>
                <a:lnTo>
                  <a:pt x="414909" y="80645"/>
                </a:lnTo>
                <a:lnTo>
                  <a:pt x="414909" y="95757"/>
                </a:lnTo>
                <a:lnTo>
                  <a:pt x="427482" y="123189"/>
                </a:lnTo>
                <a:lnTo>
                  <a:pt x="430890" y="126492"/>
                </a:lnTo>
                <a:lnTo>
                  <a:pt x="431766" y="127253"/>
                </a:lnTo>
                <a:lnTo>
                  <a:pt x="436626" y="130048"/>
                </a:lnTo>
                <a:lnTo>
                  <a:pt x="448691" y="134111"/>
                </a:lnTo>
                <a:lnTo>
                  <a:pt x="455803" y="135000"/>
                </a:lnTo>
                <a:lnTo>
                  <a:pt x="468376" y="135000"/>
                </a:lnTo>
                <a:lnTo>
                  <a:pt x="495173" y="129667"/>
                </a:lnTo>
                <a:lnTo>
                  <a:pt x="497205" y="128904"/>
                </a:lnTo>
                <a:lnTo>
                  <a:pt x="498348" y="128397"/>
                </a:lnTo>
                <a:lnTo>
                  <a:pt x="499491" y="127253"/>
                </a:lnTo>
                <a:lnTo>
                  <a:pt x="499999" y="126492"/>
                </a:lnTo>
                <a:lnTo>
                  <a:pt x="499999" y="122174"/>
                </a:lnTo>
                <a:lnTo>
                  <a:pt x="459613" y="122174"/>
                </a:lnTo>
                <a:lnTo>
                  <a:pt x="454533" y="121411"/>
                </a:lnTo>
                <a:lnTo>
                  <a:pt x="433451" y="90804"/>
                </a:lnTo>
                <a:lnTo>
                  <a:pt x="499618" y="90804"/>
                </a:lnTo>
                <a:lnTo>
                  <a:pt x="501269" y="90297"/>
                </a:lnTo>
                <a:lnTo>
                  <a:pt x="502666" y="89153"/>
                </a:lnTo>
                <a:lnTo>
                  <a:pt x="504063" y="88137"/>
                </a:lnTo>
                <a:lnTo>
                  <a:pt x="504825" y="86359"/>
                </a:lnTo>
                <a:lnTo>
                  <a:pt x="504825" y="79121"/>
                </a:lnTo>
                <a:lnTo>
                  <a:pt x="433451" y="79121"/>
                </a:lnTo>
                <a:lnTo>
                  <a:pt x="433705" y="75692"/>
                </a:lnTo>
                <a:lnTo>
                  <a:pt x="434340" y="72262"/>
                </a:lnTo>
                <a:lnTo>
                  <a:pt x="435610" y="69087"/>
                </a:lnTo>
                <a:lnTo>
                  <a:pt x="436880" y="65785"/>
                </a:lnTo>
                <a:lnTo>
                  <a:pt x="438531" y="62992"/>
                </a:lnTo>
                <a:lnTo>
                  <a:pt x="443103" y="58166"/>
                </a:lnTo>
                <a:lnTo>
                  <a:pt x="445897" y="56133"/>
                </a:lnTo>
                <a:lnTo>
                  <a:pt x="448898" y="54863"/>
                </a:lnTo>
                <a:lnTo>
                  <a:pt x="452628" y="53212"/>
                </a:lnTo>
                <a:lnTo>
                  <a:pt x="456438" y="52450"/>
                </a:lnTo>
                <a:lnTo>
                  <a:pt x="494910" y="52450"/>
                </a:lnTo>
                <a:lnTo>
                  <a:pt x="491236" y="48513"/>
                </a:lnTo>
                <a:lnTo>
                  <a:pt x="486791" y="45593"/>
                </a:lnTo>
                <a:lnTo>
                  <a:pt x="481456" y="43433"/>
                </a:lnTo>
                <a:lnTo>
                  <a:pt x="476299" y="41275"/>
                </a:lnTo>
                <a:lnTo>
                  <a:pt x="476805" y="41275"/>
                </a:lnTo>
                <a:lnTo>
                  <a:pt x="469519" y="40131"/>
                </a:lnTo>
                <a:close/>
              </a:path>
              <a:path w="549275" h="135255">
                <a:moveTo>
                  <a:pt x="499110" y="115950"/>
                </a:moveTo>
                <a:lnTo>
                  <a:pt x="495554" y="115950"/>
                </a:lnTo>
                <a:lnTo>
                  <a:pt x="493903" y="116712"/>
                </a:lnTo>
                <a:lnTo>
                  <a:pt x="489966" y="118109"/>
                </a:lnTo>
                <a:lnTo>
                  <a:pt x="487299" y="118872"/>
                </a:lnTo>
                <a:lnTo>
                  <a:pt x="484631" y="119760"/>
                </a:lnTo>
                <a:lnTo>
                  <a:pt x="481456" y="120523"/>
                </a:lnTo>
                <a:lnTo>
                  <a:pt x="474218" y="121793"/>
                </a:lnTo>
                <a:lnTo>
                  <a:pt x="470154" y="122174"/>
                </a:lnTo>
                <a:lnTo>
                  <a:pt x="499999" y="122174"/>
                </a:lnTo>
                <a:lnTo>
                  <a:pt x="499999" y="116967"/>
                </a:lnTo>
                <a:lnTo>
                  <a:pt x="499575" y="116331"/>
                </a:lnTo>
                <a:lnTo>
                  <a:pt x="499110" y="115950"/>
                </a:lnTo>
                <a:close/>
              </a:path>
              <a:path w="549275" h="135255">
                <a:moveTo>
                  <a:pt x="494910" y="52450"/>
                </a:moveTo>
                <a:lnTo>
                  <a:pt x="469519" y="52450"/>
                </a:lnTo>
                <a:lnTo>
                  <a:pt x="476123" y="54863"/>
                </a:lnTo>
                <a:lnTo>
                  <a:pt x="484886" y="64388"/>
                </a:lnTo>
                <a:lnTo>
                  <a:pt x="487044" y="70866"/>
                </a:lnTo>
                <a:lnTo>
                  <a:pt x="487002" y="72262"/>
                </a:lnTo>
                <a:lnTo>
                  <a:pt x="486908" y="75310"/>
                </a:lnTo>
                <a:lnTo>
                  <a:pt x="486791" y="79121"/>
                </a:lnTo>
                <a:lnTo>
                  <a:pt x="504825" y="79121"/>
                </a:lnTo>
                <a:lnTo>
                  <a:pt x="504825" y="75310"/>
                </a:lnTo>
                <a:lnTo>
                  <a:pt x="503936" y="70103"/>
                </a:lnTo>
                <a:lnTo>
                  <a:pt x="502285" y="65150"/>
                </a:lnTo>
                <a:lnTo>
                  <a:pt x="500761" y="60198"/>
                </a:lnTo>
                <a:lnTo>
                  <a:pt x="498220" y="55879"/>
                </a:lnTo>
                <a:lnTo>
                  <a:pt x="494910" y="52450"/>
                </a:lnTo>
                <a:close/>
              </a:path>
              <a:path w="549275" h="135255">
                <a:moveTo>
                  <a:pt x="546607" y="0"/>
                </a:moveTo>
                <a:lnTo>
                  <a:pt x="533654" y="0"/>
                </a:lnTo>
                <a:lnTo>
                  <a:pt x="533019" y="253"/>
                </a:lnTo>
                <a:lnTo>
                  <a:pt x="532257" y="507"/>
                </a:lnTo>
                <a:lnTo>
                  <a:pt x="531876" y="888"/>
                </a:lnTo>
                <a:lnTo>
                  <a:pt x="531368" y="1650"/>
                </a:lnTo>
                <a:lnTo>
                  <a:pt x="531368" y="131825"/>
                </a:lnTo>
                <a:lnTo>
                  <a:pt x="531621" y="132079"/>
                </a:lnTo>
                <a:lnTo>
                  <a:pt x="531876" y="132460"/>
                </a:lnTo>
                <a:lnTo>
                  <a:pt x="532257" y="132714"/>
                </a:lnTo>
                <a:lnTo>
                  <a:pt x="533019" y="132969"/>
                </a:lnTo>
                <a:lnTo>
                  <a:pt x="533654" y="133350"/>
                </a:lnTo>
                <a:lnTo>
                  <a:pt x="546607" y="133350"/>
                </a:lnTo>
                <a:lnTo>
                  <a:pt x="547243" y="132969"/>
                </a:lnTo>
                <a:lnTo>
                  <a:pt x="547878" y="132714"/>
                </a:lnTo>
                <a:lnTo>
                  <a:pt x="548386" y="132460"/>
                </a:lnTo>
                <a:lnTo>
                  <a:pt x="548640" y="132079"/>
                </a:lnTo>
                <a:lnTo>
                  <a:pt x="548894" y="131825"/>
                </a:lnTo>
                <a:lnTo>
                  <a:pt x="549148" y="131318"/>
                </a:lnTo>
                <a:lnTo>
                  <a:pt x="549148" y="2031"/>
                </a:lnTo>
                <a:lnTo>
                  <a:pt x="548386" y="888"/>
                </a:lnTo>
                <a:lnTo>
                  <a:pt x="547878" y="507"/>
                </a:lnTo>
                <a:lnTo>
                  <a:pt x="546607" y="0"/>
                </a:lnTo>
                <a:close/>
              </a:path>
            </a:pathLst>
          </a:custGeom>
          <a:solidFill>
            <a:srgbClr val="EDADF6"/>
          </a:solidFill>
        </p:spPr>
        <p:txBody>
          <a:bodyPr wrap="square" lIns="0" tIns="0" rIns="0" bIns="0" rtlCol="0"/>
          <a:lstStyle/>
          <a:p>
            <a:endParaRPr/>
          </a:p>
        </p:txBody>
      </p:sp>
      <p:grpSp>
        <p:nvGrpSpPr>
          <p:cNvPr id="13" name="object 13"/>
          <p:cNvGrpSpPr/>
          <p:nvPr/>
        </p:nvGrpSpPr>
        <p:grpSpPr>
          <a:xfrm>
            <a:off x="468934" y="1163932"/>
            <a:ext cx="8205470" cy="4392295"/>
            <a:chOff x="468934" y="1292225"/>
            <a:chExt cx="8205470" cy="4392295"/>
          </a:xfrm>
        </p:grpSpPr>
        <p:pic>
          <p:nvPicPr>
            <p:cNvPr id="14" name="object 14"/>
            <p:cNvPicPr/>
            <p:nvPr/>
          </p:nvPicPr>
          <p:blipFill>
            <a:blip r:embed="rId10" cstate="print"/>
            <a:stretch>
              <a:fillRect/>
            </a:stretch>
          </p:blipFill>
          <p:spPr>
            <a:xfrm>
              <a:off x="468934" y="1292225"/>
              <a:ext cx="8205089" cy="4392041"/>
            </a:xfrm>
            <a:prstGeom prst="rect">
              <a:avLst/>
            </a:prstGeom>
          </p:spPr>
        </p:pic>
        <p:pic>
          <p:nvPicPr>
            <p:cNvPr id="15" name="object 15"/>
            <p:cNvPicPr/>
            <p:nvPr/>
          </p:nvPicPr>
          <p:blipFill>
            <a:blip r:embed="rId11" cstate="print"/>
            <a:stretch>
              <a:fillRect/>
            </a:stretch>
          </p:blipFill>
          <p:spPr>
            <a:xfrm>
              <a:off x="4276470" y="1762887"/>
              <a:ext cx="1353616" cy="113284"/>
            </a:xfrm>
            <a:prstGeom prst="rect">
              <a:avLst/>
            </a:prstGeom>
          </p:spPr>
        </p:pic>
        <p:pic>
          <p:nvPicPr>
            <p:cNvPr id="16" name="object 16"/>
            <p:cNvPicPr/>
            <p:nvPr/>
          </p:nvPicPr>
          <p:blipFill>
            <a:blip r:embed="rId12" cstate="print"/>
            <a:stretch>
              <a:fillRect/>
            </a:stretch>
          </p:blipFill>
          <p:spPr>
            <a:xfrm>
              <a:off x="3730243" y="1755533"/>
              <a:ext cx="201167" cy="201155"/>
            </a:xfrm>
            <a:prstGeom prst="rect">
              <a:avLst/>
            </a:prstGeom>
          </p:spPr>
        </p:pic>
        <p:pic>
          <p:nvPicPr>
            <p:cNvPr id="17" name="object 17"/>
            <p:cNvPicPr/>
            <p:nvPr/>
          </p:nvPicPr>
          <p:blipFill>
            <a:blip r:embed="rId13" cstate="print"/>
            <a:stretch>
              <a:fillRect/>
            </a:stretch>
          </p:blipFill>
          <p:spPr>
            <a:xfrm>
              <a:off x="4276598" y="2569083"/>
              <a:ext cx="754168" cy="142366"/>
            </a:xfrm>
            <a:prstGeom prst="rect">
              <a:avLst/>
            </a:prstGeom>
          </p:spPr>
        </p:pic>
        <p:pic>
          <p:nvPicPr>
            <p:cNvPr id="18" name="object 18"/>
            <p:cNvPicPr/>
            <p:nvPr/>
          </p:nvPicPr>
          <p:blipFill>
            <a:blip r:embed="rId12" cstate="print"/>
            <a:stretch>
              <a:fillRect/>
            </a:stretch>
          </p:blipFill>
          <p:spPr>
            <a:xfrm>
              <a:off x="3730243" y="2560205"/>
              <a:ext cx="201167" cy="201155"/>
            </a:xfrm>
            <a:prstGeom prst="rect">
              <a:avLst/>
            </a:prstGeom>
          </p:spPr>
        </p:pic>
        <p:pic>
          <p:nvPicPr>
            <p:cNvPr id="19" name="object 19"/>
            <p:cNvPicPr/>
            <p:nvPr/>
          </p:nvPicPr>
          <p:blipFill>
            <a:blip r:embed="rId14" cstate="print"/>
            <a:stretch>
              <a:fillRect/>
            </a:stretch>
          </p:blipFill>
          <p:spPr>
            <a:xfrm>
              <a:off x="4276090" y="3375279"/>
              <a:ext cx="696341" cy="113284"/>
            </a:xfrm>
            <a:prstGeom prst="rect">
              <a:avLst/>
            </a:prstGeom>
          </p:spPr>
        </p:pic>
        <p:pic>
          <p:nvPicPr>
            <p:cNvPr id="20" name="object 20"/>
            <p:cNvPicPr/>
            <p:nvPr/>
          </p:nvPicPr>
          <p:blipFill>
            <a:blip r:embed="rId12" cstate="print"/>
            <a:stretch>
              <a:fillRect/>
            </a:stretch>
          </p:blipFill>
          <p:spPr>
            <a:xfrm>
              <a:off x="3730243" y="3367925"/>
              <a:ext cx="201167" cy="201155"/>
            </a:xfrm>
            <a:prstGeom prst="rect">
              <a:avLst/>
            </a:prstGeom>
          </p:spPr>
        </p:pic>
      </p:grpSp>
      <p:sp>
        <p:nvSpPr>
          <p:cNvPr id="30" name="object 30"/>
          <p:cNvSpPr txBox="1"/>
          <p:nvPr/>
        </p:nvSpPr>
        <p:spPr>
          <a:xfrm>
            <a:off x="468934" y="5441304"/>
            <a:ext cx="8232140" cy="186690"/>
          </a:xfrm>
          <a:prstGeom prst="rect">
            <a:avLst/>
          </a:prstGeom>
        </p:spPr>
        <p:txBody>
          <a:bodyPr vert="horz" wrap="square" lIns="0" tIns="13335" rIns="0" bIns="0" rtlCol="0">
            <a:spAutoFit/>
          </a:bodyPr>
          <a:lstStyle/>
          <a:p>
            <a:pPr marL="12700">
              <a:lnSpc>
                <a:spcPct val="100000"/>
              </a:lnSpc>
              <a:spcBef>
                <a:spcPts val="105"/>
              </a:spcBef>
              <a:tabLst>
                <a:tab pos="4048760" algn="l"/>
                <a:tab pos="4184015" algn="l"/>
                <a:tab pos="8218805" algn="l"/>
              </a:tabLst>
            </a:pPr>
            <a:r>
              <a:rPr sz="1050" u="heavy" spc="-25" dirty="0">
                <a:solidFill>
                  <a:srgbClr val="E4DCE6"/>
                </a:solidFill>
                <a:uFill>
                  <a:solidFill>
                    <a:srgbClr val="EDADF6"/>
                  </a:solidFill>
                </a:uFill>
                <a:latin typeface="Malgun Gothic"/>
                <a:cs typeface="Malgun Gothic"/>
              </a:rPr>
              <a:t>01</a:t>
            </a:r>
            <a:r>
              <a:rPr sz="1050" u="heavy" dirty="0">
                <a:solidFill>
                  <a:srgbClr val="E4DCE6"/>
                </a:solidFill>
                <a:uFill>
                  <a:solidFill>
                    <a:srgbClr val="EDADF6"/>
                  </a:solidFill>
                </a:uFill>
                <a:latin typeface="Malgun Gothic"/>
                <a:cs typeface="Malgun Gothic"/>
              </a:rPr>
              <a:t>	</a:t>
            </a:r>
            <a:r>
              <a:rPr sz="1050" dirty="0">
                <a:solidFill>
                  <a:srgbClr val="E4DCE6"/>
                </a:solidFill>
                <a:latin typeface="Malgun Gothic"/>
                <a:cs typeface="Malgun Gothic"/>
              </a:rPr>
              <a:t>	</a:t>
            </a:r>
            <a:r>
              <a:rPr sz="1050" u="heavy" spc="-25" dirty="0">
                <a:solidFill>
                  <a:srgbClr val="E4DCE6"/>
                </a:solidFill>
                <a:uFill>
                  <a:solidFill>
                    <a:srgbClr val="EDADF6"/>
                  </a:solidFill>
                </a:uFill>
                <a:latin typeface="Malgun Gothic"/>
                <a:cs typeface="Malgun Gothic"/>
              </a:rPr>
              <a:t>02</a:t>
            </a:r>
            <a:r>
              <a:rPr sz="1050" u="heavy" dirty="0">
                <a:solidFill>
                  <a:srgbClr val="E4DCE6"/>
                </a:solidFill>
                <a:uFill>
                  <a:solidFill>
                    <a:srgbClr val="EDADF6"/>
                  </a:solidFill>
                </a:uFill>
                <a:latin typeface="Malgun Gothic"/>
                <a:cs typeface="Malgun Gothic"/>
              </a:rPr>
              <a:t>	</a:t>
            </a:r>
            <a:endParaRPr sz="1050">
              <a:latin typeface="Malgun Gothic"/>
              <a:cs typeface="Malgun Gothic"/>
            </a:endParaRPr>
          </a:p>
        </p:txBody>
      </p:sp>
      <p:sp>
        <p:nvSpPr>
          <p:cNvPr id="40" name="object 40"/>
          <p:cNvSpPr txBox="1"/>
          <p:nvPr/>
        </p:nvSpPr>
        <p:spPr>
          <a:xfrm>
            <a:off x="581532" y="6841487"/>
            <a:ext cx="8232140" cy="186690"/>
          </a:xfrm>
          <a:prstGeom prst="rect">
            <a:avLst/>
          </a:prstGeom>
        </p:spPr>
        <p:txBody>
          <a:bodyPr vert="horz" wrap="square" lIns="0" tIns="13335" rIns="0" bIns="0" rtlCol="0">
            <a:spAutoFit/>
          </a:bodyPr>
          <a:lstStyle/>
          <a:p>
            <a:pPr marL="12700">
              <a:lnSpc>
                <a:spcPct val="100000"/>
              </a:lnSpc>
              <a:spcBef>
                <a:spcPts val="105"/>
              </a:spcBef>
              <a:tabLst>
                <a:tab pos="8218805" algn="l"/>
              </a:tabLst>
            </a:pPr>
            <a:r>
              <a:rPr sz="1050" u="heavy" spc="-25" dirty="0">
                <a:solidFill>
                  <a:srgbClr val="E4DCE6"/>
                </a:solidFill>
                <a:uFill>
                  <a:solidFill>
                    <a:srgbClr val="EDADF6"/>
                  </a:solidFill>
                </a:uFill>
                <a:latin typeface="Malgun Gothic"/>
                <a:cs typeface="Malgun Gothic"/>
              </a:rPr>
              <a:t>03</a:t>
            </a:r>
            <a:r>
              <a:rPr sz="1050" u="heavy" dirty="0">
                <a:solidFill>
                  <a:srgbClr val="E4DCE6"/>
                </a:solidFill>
                <a:uFill>
                  <a:solidFill>
                    <a:srgbClr val="EDADF6"/>
                  </a:solidFill>
                </a:uFill>
                <a:latin typeface="Malgun Gothic"/>
                <a:cs typeface="Malgun Gothic"/>
              </a:rPr>
              <a:t>	</a:t>
            </a:r>
            <a:endParaRPr sz="1050" dirty="0">
              <a:latin typeface="Malgun Gothic"/>
              <a:cs typeface="Malgun Gothic"/>
            </a:endParaRPr>
          </a:p>
        </p:txBody>
      </p:sp>
      <p:sp>
        <p:nvSpPr>
          <p:cNvPr id="47" name="object 47"/>
          <p:cNvSpPr/>
          <p:nvPr/>
        </p:nvSpPr>
        <p:spPr>
          <a:xfrm>
            <a:off x="1933628" y="8210868"/>
            <a:ext cx="422909" cy="19050"/>
          </a:xfrm>
          <a:custGeom>
            <a:avLst/>
            <a:gdLst/>
            <a:ahLst/>
            <a:cxnLst/>
            <a:rect l="l" t="t" r="r" b="b"/>
            <a:pathLst>
              <a:path w="422910" h="19050">
                <a:moveTo>
                  <a:pt x="19885" y="14646"/>
                </a:moveTo>
                <a:lnTo>
                  <a:pt x="13662" y="14646"/>
                </a:lnTo>
                <a:lnTo>
                  <a:pt x="9852" y="15126"/>
                </a:lnTo>
                <a:lnTo>
                  <a:pt x="3248" y="17047"/>
                </a:lnTo>
                <a:lnTo>
                  <a:pt x="581" y="18324"/>
                </a:lnTo>
                <a:lnTo>
                  <a:pt x="0" y="18729"/>
                </a:lnTo>
                <a:lnTo>
                  <a:pt x="35698" y="18729"/>
                </a:lnTo>
                <a:lnTo>
                  <a:pt x="34871" y="18160"/>
                </a:lnTo>
                <a:lnTo>
                  <a:pt x="33982" y="17756"/>
                </a:lnTo>
                <a:lnTo>
                  <a:pt x="32839" y="17298"/>
                </a:lnTo>
                <a:lnTo>
                  <a:pt x="31823" y="16839"/>
                </a:lnTo>
                <a:lnTo>
                  <a:pt x="30426" y="16414"/>
                </a:lnTo>
                <a:lnTo>
                  <a:pt x="27378" y="15629"/>
                </a:lnTo>
                <a:lnTo>
                  <a:pt x="25727" y="15301"/>
                </a:lnTo>
                <a:lnTo>
                  <a:pt x="21790" y="14777"/>
                </a:lnTo>
                <a:lnTo>
                  <a:pt x="19885" y="14646"/>
                </a:lnTo>
                <a:close/>
              </a:path>
              <a:path w="422910" h="19050">
                <a:moveTo>
                  <a:pt x="59128" y="15846"/>
                </a:moveTo>
                <a:lnTo>
                  <a:pt x="48935" y="15846"/>
                </a:lnTo>
                <a:lnTo>
                  <a:pt x="48333" y="16043"/>
                </a:lnTo>
                <a:lnTo>
                  <a:pt x="47702" y="16447"/>
                </a:lnTo>
                <a:lnTo>
                  <a:pt x="47444" y="16654"/>
                </a:lnTo>
                <a:lnTo>
                  <a:pt x="47190" y="17101"/>
                </a:lnTo>
                <a:lnTo>
                  <a:pt x="47190" y="18117"/>
                </a:lnTo>
                <a:lnTo>
                  <a:pt x="47444" y="18729"/>
                </a:lnTo>
                <a:lnTo>
                  <a:pt x="61933" y="18729"/>
                </a:lnTo>
                <a:lnTo>
                  <a:pt x="59128" y="15846"/>
                </a:lnTo>
                <a:close/>
              </a:path>
              <a:path w="422910" h="19050">
                <a:moveTo>
                  <a:pt x="113992" y="15836"/>
                </a:moveTo>
                <a:lnTo>
                  <a:pt x="104467" y="15836"/>
                </a:lnTo>
                <a:lnTo>
                  <a:pt x="103762" y="16043"/>
                </a:lnTo>
                <a:lnTo>
                  <a:pt x="101817" y="18729"/>
                </a:lnTo>
                <a:lnTo>
                  <a:pt x="115643" y="18729"/>
                </a:lnTo>
                <a:lnTo>
                  <a:pt x="115770" y="17069"/>
                </a:lnTo>
                <a:lnTo>
                  <a:pt x="115516" y="16654"/>
                </a:lnTo>
                <a:lnTo>
                  <a:pt x="115135" y="16349"/>
                </a:lnTo>
                <a:lnTo>
                  <a:pt x="114627" y="16043"/>
                </a:lnTo>
                <a:lnTo>
                  <a:pt x="113992" y="15836"/>
                </a:lnTo>
                <a:close/>
              </a:path>
              <a:path w="422910" h="19050">
                <a:moveTo>
                  <a:pt x="152473" y="14646"/>
                </a:moveTo>
                <a:lnTo>
                  <a:pt x="146250" y="14646"/>
                </a:lnTo>
                <a:lnTo>
                  <a:pt x="142440" y="15126"/>
                </a:lnTo>
                <a:lnTo>
                  <a:pt x="135836" y="17047"/>
                </a:lnTo>
                <a:lnTo>
                  <a:pt x="133169" y="18324"/>
                </a:lnTo>
                <a:lnTo>
                  <a:pt x="132587" y="18729"/>
                </a:lnTo>
                <a:lnTo>
                  <a:pt x="168286" y="18729"/>
                </a:lnTo>
                <a:lnTo>
                  <a:pt x="167459" y="18160"/>
                </a:lnTo>
                <a:lnTo>
                  <a:pt x="166570" y="17756"/>
                </a:lnTo>
                <a:lnTo>
                  <a:pt x="165427" y="17298"/>
                </a:lnTo>
                <a:lnTo>
                  <a:pt x="164411" y="16839"/>
                </a:lnTo>
                <a:lnTo>
                  <a:pt x="163014" y="16414"/>
                </a:lnTo>
                <a:lnTo>
                  <a:pt x="159966" y="15629"/>
                </a:lnTo>
                <a:lnTo>
                  <a:pt x="158315" y="15301"/>
                </a:lnTo>
                <a:lnTo>
                  <a:pt x="154378" y="14777"/>
                </a:lnTo>
                <a:lnTo>
                  <a:pt x="152473" y="14646"/>
                </a:lnTo>
                <a:close/>
              </a:path>
              <a:path w="422910" h="19050">
                <a:moveTo>
                  <a:pt x="226387" y="15967"/>
                </a:moveTo>
                <a:lnTo>
                  <a:pt x="183207" y="15967"/>
                </a:lnTo>
                <a:lnTo>
                  <a:pt x="182445" y="16272"/>
                </a:lnTo>
                <a:lnTo>
                  <a:pt x="182191" y="16534"/>
                </a:lnTo>
                <a:lnTo>
                  <a:pt x="181937" y="16905"/>
                </a:lnTo>
                <a:lnTo>
                  <a:pt x="181810" y="17277"/>
                </a:lnTo>
                <a:lnTo>
                  <a:pt x="181556" y="17746"/>
                </a:lnTo>
                <a:lnTo>
                  <a:pt x="181336" y="18729"/>
                </a:lnTo>
                <a:lnTo>
                  <a:pt x="228131" y="18729"/>
                </a:lnTo>
                <a:lnTo>
                  <a:pt x="226768" y="16119"/>
                </a:lnTo>
                <a:lnTo>
                  <a:pt x="226387" y="15967"/>
                </a:lnTo>
                <a:close/>
              </a:path>
              <a:path w="422910" h="19050">
                <a:moveTo>
                  <a:pt x="204670" y="0"/>
                </a:moveTo>
                <a:lnTo>
                  <a:pt x="196415" y="0"/>
                </a:lnTo>
                <a:lnTo>
                  <a:pt x="195780" y="142"/>
                </a:lnTo>
                <a:lnTo>
                  <a:pt x="194764" y="534"/>
                </a:lnTo>
                <a:lnTo>
                  <a:pt x="194383" y="764"/>
                </a:lnTo>
                <a:lnTo>
                  <a:pt x="194129" y="1287"/>
                </a:lnTo>
                <a:lnTo>
                  <a:pt x="194001" y="15967"/>
                </a:lnTo>
                <a:lnTo>
                  <a:pt x="207211" y="15967"/>
                </a:lnTo>
                <a:lnTo>
                  <a:pt x="207083" y="1287"/>
                </a:lnTo>
                <a:lnTo>
                  <a:pt x="206321" y="534"/>
                </a:lnTo>
                <a:lnTo>
                  <a:pt x="205305" y="142"/>
                </a:lnTo>
                <a:lnTo>
                  <a:pt x="204670" y="0"/>
                </a:lnTo>
                <a:close/>
              </a:path>
              <a:path w="422910" h="19050">
                <a:moveTo>
                  <a:pt x="279600" y="14646"/>
                </a:moveTo>
                <a:lnTo>
                  <a:pt x="268678" y="14646"/>
                </a:lnTo>
                <a:lnTo>
                  <a:pt x="263852" y="15399"/>
                </a:lnTo>
                <a:lnTo>
                  <a:pt x="259661" y="16905"/>
                </a:lnTo>
                <a:lnTo>
                  <a:pt x="255343" y="18411"/>
                </a:lnTo>
                <a:lnTo>
                  <a:pt x="254801" y="18729"/>
                </a:lnTo>
                <a:lnTo>
                  <a:pt x="292915" y="18729"/>
                </a:lnTo>
                <a:lnTo>
                  <a:pt x="292390" y="18411"/>
                </a:lnTo>
                <a:lnTo>
                  <a:pt x="284455" y="15399"/>
                </a:lnTo>
                <a:lnTo>
                  <a:pt x="279600" y="14646"/>
                </a:lnTo>
                <a:close/>
              </a:path>
              <a:path w="422910" h="19050">
                <a:moveTo>
                  <a:pt x="334591" y="15726"/>
                </a:moveTo>
                <a:lnTo>
                  <a:pt x="327225" y="15726"/>
                </a:lnTo>
                <a:lnTo>
                  <a:pt x="326590" y="15857"/>
                </a:lnTo>
                <a:lnTo>
                  <a:pt x="326209" y="16054"/>
                </a:lnTo>
                <a:lnTo>
                  <a:pt x="325701" y="16250"/>
                </a:lnTo>
                <a:lnTo>
                  <a:pt x="325320" y="16469"/>
                </a:lnTo>
                <a:lnTo>
                  <a:pt x="325066" y="16949"/>
                </a:lnTo>
                <a:lnTo>
                  <a:pt x="324939" y="18729"/>
                </a:lnTo>
                <a:lnTo>
                  <a:pt x="336877" y="18729"/>
                </a:lnTo>
                <a:lnTo>
                  <a:pt x="335226" y="15857"/>
                </a:lnTo>
                <a:lnTo>
                  <a:pt x="334591" y="15726"/>
                </a:lnTo>
                <a:close/>
              </a:path>
              <a:path w="422910" h="19050">
                <a:moveTo>
                  <a:pt x="363166" y="14646"/>
                </a:moveTo>
                <a:lnTo>
                  <a:pt x="356308" y="14646"/>
                </a:lnTo>
                <a:lnTo>
                  <a:pt x="352498" y="15508"/>
                </a:lnTo>
                <a:lnTo>
                  <a:pt x="345381" y="18729"/>
                </a:lnTo>
                <a:lnTo>
                  <a:pt x="376032" y="18729"/>
                </a:lnTo>
                <a:lnTo>
                  <a:pt x="374469" y="17887"/>
                </a:lnTo>
                <a:lnTo>
                  <a:pt x="372691" y="16862"/>
                </a:lnTo>
                <a:lnTo>
                  <a:pt x="370659" y="16065"/>
                </a:lnTo>
                <a:lnTo>
                  <a:pt x="365833" y="14929"/>
                </a:lnTo>
                <a:lnTo>
                  <a:pt x="363166" y="14646"/>
                </a:lnTo>
                <a:close/>
              </a:path>
              <a:path w="422910" h="19050">
                <a:moveTo>
                  <a:pt x="411553" y="14646"/>
                </a:moveTo>
                <a:lnTo>
                  <a:pt x="405076" y="14646"/>
                </a:lnTo>
                <a:lnTo>
                  <a:pt x="403171" y="14853"/>
                </a:lnTo>
                <a:lnTo>
                  <a:pt x="399361" y="15683"/>
                </a:lnTo>
                <a:lnTo>
                  <a:pt x="397329" y="16349"/>
                </a:lnTo>
                <a:lnTo>
                  <a:pt x="395424" y="17266"/>
                </a:lnTo>
                <a:lnTo>
                  <a:pt x="393392" y="18182"/>
                </a:lnTo>
                <a:lnTo>
                  <a:pt x="392466" y="18729"/>
                </a:lnTo>
                <a:lnTo>
                  <a:pt x="422790" y="18729"/>
                </a:lnTo>
                <a:lnTo>
                  <a:pt x="421713" y="17975"/>
                </a:lnTo>
                <a:lnTo>
                  <a:pt x="418665" y="16643"/>
                </a:lnTo>
                <a:lnTo>
                  <a:pt x="415490" y="15312"/>
                </a:lnTo>
                <a:lnTo>
                  <a:pt x="411553" y="14646"/>
                </a:lnTo>
                <a:close/>
              </a:path>
            </a:pathLst>
          </a:custGeom>
          <a:solidFill>
            <a:srgbClr val="E4DCE6"/>
          </a:solidFill>
        </p:spPr>
        <p:txBody>
          <a:bodyPr wrap="square" lIns="0" tIns="0" rIns="0" bIns="0" rtlCol="0"/>
          <a:lstStyle/>
          <a:p>
            <a:endParaRPr/>
          </a:p>
        </p:txBody>
      </p:sp>
      <p:sp>
        <p:nvSpPr>
          <p:cNvPr id="50" name="object 50"/>
          <p:cNvSpPr/>
          <p:nvPr/>
        </p:nvSpPr>
        <p:spPr>
          <a:xfrm>
            <a:off x="3008757" y="8225514"/>
            <a:ext cx="127000" cy="4445"/>
          </a:xfrm>
          <a:custGeom>
            <a:avLst/>
            <a:gdLst/>
            <a:ahLst/>
            <a:cxnLst/>
            <a:rect l="l" t="t" r="r" b="b"/>
            <a:pathLst>
              <a:path w="127000" h="4445">
                <a:moveTo>
                  <a:pt x="26542" y="0"/>
                </a:moveTo>
                <a:lnTo>
                  <a:pt x="14477" y="0"/>
                </a:lnTo>
                <a:lnTo>
                  <a:pt x="9143" y="807"/>
                </a:lnTo>
                <a:lnTo>
                  <a:pt x="0" y="4083"/>
                </a:lnTo>
                <a:lnTo>
                  <a:pt x="41359" y="4083"/>
                </a:lnTo>
                <a:lnTo>
                  <a:pt x="40512" y="3602"/>
                </a:lnTo>
                <a:lnTo>
                  <a:pt x="31890" y="807"/>
                </a:lnTo>
                <a:lnTo>
                  <a:pt x="32234" y="807"/>
                </a:lnTo>
                <a:lnTo>
                  <a:pt x="26542" y="0"/>
                </a:lnTo>
                <a:close/>
              </a:path>
              <a:path w="127000" h="4445">
                <a:moveTo>
                  <a:pt x="83946" y="1080"/>
                </a:moveTo>
                <a:lnTo>
                  <a:pt x="76580" y="1080"/>
                </a:lnTo>
                <a:lnTo>
                  <a:pt x="75945" y="1211"/>
                </a:lnTo>
                <a:lnTo>
                  <a:pt x="75564" y="1408"/>
                </a:lnTo>
                <a:lnTo>
                  <a:pt x="75056" y="1604"/>
                </a:lnTo>
                <a:lnTo>
                  <a:pt x="74675" y="1823"/>
                </a:lnTo>
                <a:lnTo>
                  <a:pt x="74294" y="2597"/>
                </a:lnTo>
                <a:lnTo>
                  <a:pt x="74294" y="4083"/>
                </a:lnTo>
                <a:lnTo>
                  <a:pt x="86232" y="4083"/>
                </a:lnTo>
                <a:lnTo>
                  <a:pt x="86105" y="2303"/>
                </a:lnTo>
                <a:lnTo>
                  <a:pt x="85978" y="2063"/>
                </a:lnTo>
                <a:lnTo>
                  <a:pt x="85470" y="1604"/>
                </a:lnTo>
                <a:lnTo>
                  <a:pt x="85089" y="1408"/>
                </a:lnTo>
                <a:lnTo>
                  <a:pt x="84581" y="1211"/>
                </a:lnTo>
                <a:lnTo>
                  <a:pt x="83946" y="1080"/>
                </a:lnTo>
                <a:close/>
              </a:path>
              <a:path w="127000" h="4445">
                <a:moveTo>
                  <a:pt x="115315" y="0"/>
                </a:moveTo>
                <a:lnTo>
                  <a:pt x="106425" y="0"/>
                </a:lnTo>
                <a:lnTo>
                  <a:pt x="102361" y="862"/>
                </a:lnTo>
                <a:lnTo>
                  <a:pt x="98297" y="2586"/>
                </a:lnTo>
                <a:lnTo>
                  <a:pt x="94881" y="4083"/>
                </a:lnTo>
                <a:lnTo>
                  <a:pt x="126987" y="4083"/>
                </a:lnTo>
                <a:lnTo>
                  <a:pt x="125856" y="3329"/>
                </a:lnTo>
                <a:lnTo>
                  <a:pt x="122681" y="1997"/>
                </a:lnTo>
                <a:lnTo>
                  <a:pt x="119379" y="665"/>
                </a:lnTo>
                <a:lnTo>
                  <a:pt x="115315" y="0"/>
                </a:lnTo>
                <a:close/>
              </a:path>
            </a:pathLst>
          </a:custGeom>
          <a:solidFill>
            <a:srgbClr val="E4DCE6"/>
          </a:solidFill>
        </p:spPr>
        <p:txBody>
          <a:bodyPr wrap="square" lIns="0" tIns="0" rIns="0" bIns="0" rtlCol="0"/>
          <a:lstStyle/>
          <a:p>
            <a:endParaRPr/>
          </a:p>
        </p:txBody>
      </p:sp>
      <p:sp>
        <p:nvSpPr>
          <p:cNvPr id="64" name="TextBox 63">
            <a:extLst>
              <a:ext uri="{FF2B5EF4-FFF2-40B4-BE49-F238E27FC236}">
                <a16:creationId xmlns:a16="http://schemas.microsoft.com/office/drawing/2014/main" id="{ADA90697-B16B-2EA8-0CA2-A0EFBFE33E32}"/>
              </a:ext>
            </a:extLst>
          </p:cNvPr>
          <p:cNvSpPr txBox="1"/>
          <p:nvPr/>
        </p:nvSpPr>
        <p:spPr>
          <a:xfrm>
            <a:off x="402892" y="5998284"/>
            <a:ext cx="3963448" cy="724622"/>
          </a:xfrm>
          <a:prstGeom prst="rect">
            <a:avLst/>
          </a:prstGeom>
          <a:noFill/>
        </p:spPr>
        <p:txBody>
          <a:bodyPr wrap="square">
            <a:spAutoFit/>
          </a:bodyPr>
          <a:lstStyle/>
          <a:p>
            <a:pPr marL="0" indent="0" algn="l">
              <a:lnSpc>
                <a:spcPts val="1650"/>
              </a:lnSpc>
              <a:buNone/>
            </a:pPr>
            <a:r>
              <a:rPr lang="en-US" sz="1050" dirty="0">
                <a:solidFill>
                  <a:srgbClr val="E5DCE6"/>
                </a:solidFill>
                <a:latin typeface="Montserrat" pitchFamily="34" charset="0"/>
                <a:ea typeface="Montserrat" pitchFamily="34" charset="-122"/>
                <a:cs typeface="Montserrat" pitchFamily="34" charset="-120"/>
              </a:rPr>
              <a:t>The user-facing interface, built with modern web technologies: </a:t>
            </a:r>
            <a:r>
              <a:rPr lang="en-US" sz="1050" b="1" dirty="0">
                <a:solidFill>
                  <a:srgbClr val="E5DCE6"/>
                </a:solidFill>
                <a:latin typeface="Montserrat" pitchFamily="34" charset="0"/>
                <a:ea typeface="Montserrat" pitchFamily="34" charset="-122"/>
                <a:cs typeface="Montserrat" pitchFamily="34" charset="-120"/>
              </a:rPr>
              <a:t>Bootstrap 5</a:t>
            </a:r>
            <a:r>
              <a:rPr lang="en-US" sz="1050" dirty="0">
                <a:solidFill>
                  <a:srgbClr val="E5DCE6"/>
                </a:solidFill>
                <a:latin typeface="Montserrat" pitchFamily="34" charset="0"/>
                <a:ea typeface="Montserrat" pitchFamily="34" charset="-122"/>
                <a:cs typeface="Montserrat" pitchFamily="34" charset="-120"/>
              </a:rPr>
              <a:t> for responsive design, </a:t>
            </a:r>
            <a:r>
              <a:rPr lang="en-US" sz="1050" b="1" dirty="0">
                <a:solidFill>
                  <a:srgbClr val="E5DCE6"/>
                </a:solidFill>
                <a:latin typeface="Montserrat" pitchFamily="34" charset="0"/>
                <a:ea typeface="Montserrat" pitchFamily="34" charset="-122"/>
                <a:cs typeface="Montserrat" pitchFamily="34" charset="-120"/>
              </a:rPr>
              <a:t>HTML</a:t>
            </a:r>
            <a:r>
              <a:rPr lang="en-US" sz="1050" dirty="0">
                <a:solidFill>
                  <a:srgbClr val="E5DCE6"/>
                </a:solidFill>
                <a:latin typeface="Montserrat" pitchFamily="34" charset="0"/>
                <a:ea typeface="Montserrat" pitchFamily="34" charset="-122"/>
                <a:cs typeface="Montserrat" pitchFamily="34" charset="-120"/>
              </a:rPr>
              <a:t> for structure, and </a:t>
            </a:r>
            <a:r>
              <a:rPr lang="en-US" sz="1050" b="1" dirty="0">
                <a:solidFill>
                  <a:srgbClr val="E5DCE6"/>
                </a:solidFill>
                <a:latin typeface="Montserrat" pitchFamily="34" charset="0"/>
                <a:ea typeface="Montserrat" pitchFamily="34" charset="-122"/>
                <a:cs typeface="Montserrat" pitchFamily="34" charset="-120"/>
              </a:rPr>
              <a:t>JavaScript</a:t>
            </a:r>
            <a:r>
              <a:rPr lang="en-US" sz="1050" dirty="0">
                <a:solidFill>
                  <a:srgbClr val="E5DCE6"/>
                </a:solidFill>
                <a:latin typeface="Montserrat" pitchFamily="34" charset="0"/>
                <a:ea typeface="Montserrat" pitchFamily="34" charset="-122"/>
                <a:cs typeface="Montserrat" pitchFamily="34" charset="-120"/>
              </a:rPr>
              <a:t> for interactive elements.</a:t>
            </a:r>
            <a:endParaRPr lang="en-US" sz="1050" dirty="0"/>
          </a:p>
        </p:txBody>
      </p:sp>
      <p:sp>
        <p:nvSpPr>
          <p:cNvPr id="66" name="TextBox 65">
            <a:extLst>
              <a:ext uri="{FF2B5EF4-FFF2-40B4-BE49-F238E27FC236}">
                <a16:creationId xmlns:a16="http://schemas.microsoft.com/office/drawing/2014/main" id="{C8FBA57B-22F9-0ECE-54AA-C0185279D47C}"/>
              </a:ext>
            </a:extLst>
          </p:cNvPr>
          <p:cNvSpPr txBox="1"/>
          <p:nvPr/>
        </p:nvSpPr>
        <p:spPr>
          <a:xfrm>
            <a:off x="4593644" y="5923817"/>
            <a:ext cx="4107430" cy="942630"/>
          </a:xfrm>
          <a:prstGeom prst="rect">
            <a:avLst/>
          </a:prstGeom>
          <a:noFill/>
        </p:spPr>
        <p:txBody>
          <a:bodyPr wrap="square">
            <a:spAutoFit/>
          </a:bodyPr>
          <a:lstStyle/>
          <a:p>
            <a:pPr marL="0" indent="0" algn="l">
              <a:lnSpc>
                <a:spcPts val="1650"/>
              </a:lnSpc>
              <a:buNone/>
            </a:pPr>
            <a:r>
              <a:rPr lang="en-US" sz="1050" dirty="0">
                <a:solidFill>
                  <a:srgbClr val="E5DCE6"/>
                </a:solidFill>
                <a:latin typeface="Montserrat" pitchFamily="34" charset="0"/>
                <a:ea typeface="Montserrat" pitchFamily="34" charset="-122"/>
                <a:cs typeface="Montserrat" pitchFamily="34" charset="-120"/>
              </a:rPr>
              <a:t>The core "engine" of UPI-Shield, powered by </a:t>
            </a:r>
            <a:r>
              <a:rPr lang="en-US" sz="1050" b="1" dirty="0">
                <a:solidFill>
                  <a:srgbClr val="E5DCE6"/>
                </a:solidFill>
                <a:latin typeface="Montserrat" pitchFamily="34" charset="0"/>
                <a:ea typeface="Montserrat" pitchFamily="34" charset="-122"/>
                <a:cs typeface="Montserrat" pitchFamily="34" charset="-120"/>
              </a:rPr>
              <a:t>Flask</a:t>
            </a:r>
            <a:r>
              <a:rPr lang="en-US" sz="1050" dirty="0">
                <a:solidFill>
                  <a:srgbClr val="E5DCE6"/>
                </a:solidFill>
                <a:latin typeface="Montserrat" pitchFamily="34" charset="0"/>
                <a:ea typeface="Montserrat" pitchFamily="34" charset="-122"/>
                <a:cs typeface="Montserrat" pitchFamily="34" charset="-120"/>
              </a:rPr>
              <a:t>. This tier manages user accounts, handles security protocols, processes API requests, and orchestrates both the </a:t>
            </a:r>
            <a:r>
              <a:rPr lang="en-US" sz="1050" b="1" dirty="0">
                <a:solidFill>
                  <a:srgbClr val="E5DCE6"/>
                </a:solidFill>
                <a:latin typeface="Montserrat" pitchFamily="34" charset="0"/>
                <a:ea typeface="Montserrat" pitchFamily="34" charset="-122"/>
                <a:cs typeface="Montserrat" pitchFamily="34" charset="-120"/>
              </a:rPr>
              <a:t>CNN</a:t>
            </a:r>
            <a:r>
              <a:rPr lang="en-US" sz="1050" dirty="0">
                <a:solidFill>
                  <a:srgbClr val="E5DCE6"/>
                </a:solidFill>
                <a:latin typeface="Montserrat" pitchFamily="34" charset="0"/>
                <a:ea typeface="Montserrat" pitchFamily="34" charset="-122"/>
                <a:cs typeface="Montserrat" pitchFamily="34" charset="-120"/>
              </a:rPr>
              <a:t> and </a:t>
            </a:r>
            <a:r>
              <a:rPr lang="en-US" sz="1050" b="1" dirty="0">
                <a:solidFill>
                  <a:srgbClr val="E5DCE6"/>
                </a:solidFill>
                <a:latin typeface="Montserrat" pitchFamily="34" charset="0"/>
                <a:ea typeface="Montserrat" pitchFamily="34" charset="-122"/>
                <a:cs typeface="Montserrat" pitchFamily="34" charset="-120"/>
              </a:rPr>
              <a:t>OCR</a:t>
            </a:r>
            <a:r>
              <a:rPr lang="en-US" sz="1050" dirty="0">
                <a:solidFill>
                  <a:srgbClr val="E5DCE6"/>
                </a:solidFill>
                <a:latin typeface="Montserrat" pitchFamily="34" charset="0"/>
                <a:ea typeface="Montserrat" pitchFamily="34" charset="-122"/>
                <a:cs typeface="Montserrat" pitchFamily="34" charset="-120"/>
              </a:rPr>
              <a:t> models for fraud detection.</a:t>
            </a:r>
            <a:endParaRPr lang="en-US" sz="1050" dirty="0"/>
          </a:p>
        </p:txBody>
      </p:sp>
      <p:sp>
        <p:nvSpPr>
          <p:cNvPr id="68" name="TextBox 67">
            <a:extLst>
              <a:ext uri="{FF2B5EF4-FFF2-40B4-BE49-F238E27FC236}">
                <a16:creationId xmlns:a16="http://schemas.microsoft.com/office/drawing/2014/main" id="{C650AAB3-6706-B32D-348E-672C3C1D4521}"/>
              </a:ext>
            </a:extLst>
          </p:cNvPr>
          <p:cNvSpPr txBox="1"/>
          <p:nvPr/>
        </p:nvSpPr>
        <p:spPr>
          <a:xfrm>
            <a:off x="468934" y="7358893"/>
            <a:ext cx="7315200" cy="506614"/>
          </a:xfrm>
          <a:prstGeom prst="rect">
            <a:avLst/>
          </a:prstGeom>
          <a:noFill/>
        </p:spPr>
        <p:txBody>
          <a:bodyPr wrap="square">
            <a:spAutoFit/>
          </a:bodyPr>
          <a:lstStyle/>
          <a:p>
            <a:pPr marL="0" indent="0" algn="l">
              <a:lnSpc>
                <a:spcPts val="1650"/>
              </a:lnSpc>
              <a:buNone/>
            </a:pPr>
            <a:r>
              <a:rPr lang="en-US" sz="1050">
                <a:solidFill>
                  <a:srgbClr val="E5DCE6"/>
                </a:solidFill>
                <a:latin typeface="Montserrat" pitchFamily="34" charset="0"/>
                <a:ea typeface="Montserrat" pitchFamily="34" charset="-122"/>
                <a:cs typeface="Montserrat" pitchFamily="34" charset="-120"/>
              </a:rPr>
              <a:t>The core "engine" of UPI-Shield, powered by </a:t>
            </a:r>
            <a:r>
              <a:rPr lang="en-US" sz="1050" b="1">
                <a:solidFill>
                  <a:srgbClr val="E5DCE6"/>
                </a:solidFill>
                <a:latin typeface="Montserrat" pitchFamily="34" charset="0"/>
                <a:ea typeface="Montserrat" pitchFamily="34" charset="-122"/>
                <a:cs typeface="Montserrat" pitchFamily="34" charset="-120"/>
              </a:rPr>
              <a:t>Flask</a:t>
            </a:r>
            <a:r>
              <a:rPr lang="en-US" sz="1050">
                <a:solidFill>
                  <a:srgbClr val="E5DCE6"/>
                </a:solidFill>
                <a:latin typeface="Montserrat" pitchFamily="34" charset="0"/>
                <a:ea typeface="Montserrat" pitchFamily="34" charset="-122"/>
                <a:cs typeface="Montserrat" pitchFamily="34" charset="-120"/>
              </a:rPr>
              <a:t>. This tier manages user accounts, handles security protocols, processes API requests, and orchestrates both the </a:t>
            </a:r>
            <a:r>
              <a:rPr lang="en-US" sz="1050" b="1">
                <a:solidFill>
                  <a:srgbClr val="E5DCE6"/>
                </a:solidFill>
                <a:latin typeface="Montserrat" pitchFamily="34" charset="0"/>
                <a:ea typeface="Montserrat" pitchFamily="34" charset="-122"/>
                <a:cs typeface="Montserrat" pitchFamily="34" charset="-120"/>
              </a:rPr>
              <a:t>CNN</a:t>
            </a:r>
            <a:r>
              <a:rPr lang="en-US" sz="1050">
                <a:solidFill>
                  <a:srgbClr val="E5DCE6"/>
                </a:solidFill>
                <a:latin typeface="Montserrat" pitchFamily="34" charset="0"/>
                <a:ea typeface="Montserrat" pitchFamily="34" charset="-122"/>
                <a:cs typeface="Montserrat" pitchFamily="34" charset="-120"/>
              </a:rPr>
              <a:t> and </a:t>
            </a:r>
            <a:r>
              <a:rPr lang="en-US" sz="1050" b="1">
                <a:solidFill>
                  <a:srgbClr val="E5DCE6"/>
                </a:solidFill>
                <a:latin typeface="Montserrat" pitchFamily="34" charset="0"/>
                <a:ea typeface="Montserrat" pitchFamily="34" charset="-122"/>
                <a:cs typeface="Montserrat" pitchFamily="34" charset="-120"/>
              </a:rPr>
              <a:t>OCR</a:t>
            </a:r>
            <a:r>
              <a:rPr lang="en-US" sz="1050">
                <a:solidFill>
                  <a:srgbClr val="E5DCE6"/>
                </a:solidFill>
                <a:latin typeface="Montserrat" pitchFamily="34" charset="0"/>
                <a:ea typeface="Montserrat" pitchFamily="34" charset="-122"/>
                <a:cs typeface="Montserrat" pitchFamily="34" charset="-120"/>
              </a:rPr>
              <a:t> models for fraud detection.</a:t>
            </a:r>
            <a:endParaRPr lang="en-US" sz="1050" dirty="0"/>
          </a:p>
        </p:txBody>
      </p:sp>
      <p:sp>
        <p:nvSpPr>
          <p:cNvPr id="70" name="TextBox 69">
            <a:extLst>
              <a:ext uri="{FF2B5EF4-FFF2-40B4-BE49-F238E27FC236}">
                <a16:creationId xmlns:a16="http://schemas.microsoft.com/office/drawing/2014/main" id="{C2837187-463F-0D9B-FF29-3AA63C612597}"/>
              </a:ext>
            </a:extLst>
          </p:cNvPr>
          <p:cNvSpPr txBox="1"/>
          <p:nvPr/>
        </p:nvSpPr>
        <p:spPr>
          <a:xfrm>
            <a:off x="468934" y="7105750"/>
            <a:ext cx="7315200" cy="284180"/>
          </a:xfrm>
          <a:prstGeom prst="rect">
            <a:avLst/>
          </a:prstGeom>
          <a:noFill/>
        </p:spPr>
        <p:txBody>
          <a:bodyPr wrap="square">
            <a:spAutoFit/>
          </a:bodyPr>
          <a:lstStyle/>
          <a:p>
            <a:pPr marL="0" indent="0" algn="l">
              <a:lnSpc>
                <a:spcPts val="1600"/>
              </a:lnSpc>
              <a:buNone/>
            </a:pPr>
            <a:r>
              <a:rPr lang="en-US" sz="1300" b="1" dirty="0">
                <a:solidFill>
                  <a:srgbClr val="E5DCE6"/>
                </a:solidFill>
                <a:latin typeface="Bricolage Grotesque Extra Bold" pitchFamily="34" charset="0"/>
                <a:ea typeface="Bricolage Grotesque Extra Bold" pitchFamily="34" charset="-122"/>
                <a:cs typeface="Bricolage Grotesque Extra Bold" pitchFamily="34" charset="-120"/>
              </a:rPr>
              <a:t>Data Tier (Storage)</a:t>
            </a:r>
            <a:endParaRPr lang="en-US" sz="1300" dirty="0"/>
          </a:p>
        </p:txBody>
      </p:sp>
      <p:sp>
        <p:nvSpPr>
          <p:cNvPr id="72" name="TextBox 71">
            <a:extLst>
              <a:ext uri="{FF2B5EF4-FFF2-40B4-BE49-F238E27FC236}">
                <a16:creationId xmlns:a16="http://schemas.microsoft.com/office/drawing/2014/main" id="{A9BA0709-0556-B8E9-2167-E30A09C506B5}"/>
              </a:ext>
            </a:extLst>
          </p:cNvPr>
          <p:cNvSpPr txBox="1"/>
          <p:nvPr/>
        </p:nvSpPr>
        <p:spPr>
          <a:xfrm>
            <a:off x="402892" y="5762087"/>
            <a:ext cx="7315200" cy="284180"/>
          </a:xfrm>
          <a:prstGeom prst="rect">
            <a:avLst/>
          </a:prstGeom>
          <a:noFill/>
        </p:spPr>
        <p:txBody>
          <a:bodyPr wrap="square">
            <a:spAutoFit/>
          </a:bodyPr>
          <a:lstStyle/>
          <a:p>
            <a:pPr marL="0" indent="0" algn="l">
              <a:lnSpc>
                <a:spcPts val="1600"/>
              </a:lnSpc>
              <a:buNone/>
            </a:pPr>
            <a:r>
              <a:rPr lang="en-US" sz="1300" b="1" dirty="0">
                <a:solidFill>
                  <a:srgbClr val="E5DCE6"/>
                </a:solidFill>
                <a:latin typeface="Bricolage Grotesque Extra Bold" pitchFamily="34" charset="0"/>
                <a:ea typeface="Bricolage Grotesque Extra Bold" pitchFamily="34" charset="-122"/>
                <a:cs typeface="Bricolage Grotesque Extra Bold" pitchFamily="34" charset="-120"/>
              </a:rPr>
              <a:t>Presentation Tier (Frontend)</a:t>
            </a:r>
            <a:endParaRPr lang="en-US" sz="1300" dirty="0"/>
          </a:p>
        </p:txBody>
      </p:sp>
      <p:sp>
        <p:nvSpPr>
          <p:cNvPr id="74" name="TextBox 73">
            <a:extLst>
              <a:ext uri="{FF2B5EF4-FFF2-40B4-BE49-F238E27FC236}">
                <a16:creationId xmlns:a16="http://schemas.microsoft.com/office/drawing/2014/main" id="{F9E5C881-A11A-A590-BB1A-093D20F51A04}"/>
              </a:ext>
            </a:extLst>
          </p:cNvPr>
          <p:cNvSpPr txBox="1"/>
          <p:nvPr/>
        </p:nvSpPr>
        <p:spPr>
          <a:xfrm>
            <a:off x="4611560" y="5702396"/>
            <a:ext cx="7315200" cy="284180"/>
          </a:xfrm>
          <a:prstGeom prst="rect">
            <a:avLst/>
          </a:prstGeom>
          <a:noFill/>
        </p:spPr>
        <p:txBody>
          <a:bodyPr wrap="square">
            <a:spAutoFit/>
          </a:bodyPr>
          <a:lstStyle/>
          <a:p>
            <a:pPr marL="0" indent="0" algn="l">
              <a:lnSpc>
                <a:spcPts val="1600"/>
              </a:lnSpc>
              <a:buNone/>
            </a:pPr>
            <a:r>
              <a:rPr lang="en-US" sz="1300" b="1" dirty="0">
                <a:solidFill>
                  <a:srgbClr val="E5DCE6"/>
                </a:solidFill>
                <a:latin typeface="Bricolage Grotesque Extra Bold" pitchFamily="34" charset="0"/>
                <a:ea typeface="Bricolage Grotesque Extra Bold" pitchFamily="34" charset="-122"/>
                <a:cs typeface="Bricolage Grotesque Extra Bold" pitchFamily="34" charset="-120"/>
              </a:rPr>
              <a:t>Logic Tier (Backend)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70890" y="2340482"/>
            <a:ext cx="6433820" cy="2806700"/>
          </a:xfrm>
          <a:custGeom>
            <a:avLst/>
            <a:gdLst/>
            <a:ahLst/>
            <a:cxnLst/>
            <a:rect l="l" t="t" r="r" b="b"/>
            <a:pathLst>
              <a:path w="6433820" h="2806700">
                <a:moveTo>
                  <a:pt x="6341364" y="0"/>
                </a:moveTo>
                <a:lnTo>
                  <a:pt x="92456" y="0"/>
                </a:lnTo>
                <a:lnTo>
                  <a:pt x="56471" y="7266"/>
                </a:lnTo>
                <a:lnTo>
                  <a:pt x="27082" y="27082"/>
                </a:lnTo>
                <a:lnTo>
                  <a:pt x="7266" y="56471"/>
                </a:lnTo>
                <a:lnTo>
                  <a:pt x="0" y="92455"/>
                </a:lnTo>
                <a:lnTo>
                  <a:pt x="0" y="2714371"/>
                </a:lnTo>
                <a:lnTo>
                  <a:pt x="7266" y="2750282"/>
                </a:lnTo>
                <a:lnTo>
                  <a:pt x="27082" y="2779633"/>
                </a:lnTo>
                <a:lnTo>
                  <a:pt x="56471" y="2799435"/>
                </a:lnTo>
                <a:lnTo>
                  <a:pt x="92456" y="2806699"/>
                </a:lnTo>
                <a:lnTo>
                  <a:pt x="6341364" y="2806699"/>
                </a:lnTo>
                <a:lnTo>
                  <a:pt x="6377348" y="2799435"/>
                </a:lnTo>
                <a:lnTo>
                  <a:pt x="6406737" y="2779633"/>
                </a:lnTo>
                <a:lnTo>
                  <a:pt x="6426553" y="2750282"/>
                </a:lnTo>
                <a:lnTo>
                  <a:pt x="6433820" y="2714371"/>
                </a:lnTo>
                <a:lnTo>
                  <a:pt x="6433820" y="92455"/>
                </a:lnTo>
                <a:lnTo>
                  <a:pt x="6426553" y="56471"/>
                </a:lnTo>
                <a:lnTo>
                  <a:pt x="6406737" y="27082"/>
                </a:lnTo>
                <a:lnTo>
                  <a:pt x="6377348" y="7266"/>
                </a:lnTo>
                <a:lnTo>
                  <a:pt x="6341364" y="0"/>
                </a:lnTo>
                <a:close/>
              </a:path>
            </a:pathLst>
          </a:custGeom>
          <a:solidFill>
            <a:srgbClr val="282C5E"/>
          </a:solidFill>
        </p:spPr>
        <p:txBody>
          <a:bodyPr wrap="square" lIns="0" tIns="0" rIns="0" bIns="0" rtlCol="0"/>
          <a:lstStyle/>
          <a:p>
            <a:endParaRPr/>
          </a:p>
        </p:txBody>
      </p:sp>
      <p:sp>
        <p:nvSpPr>
          <p:cNvPr id="4" name="object 4"/>
          <p:cNvSpPr/>
          <p:nvPr/>
        </p:nvSpPr>
        <p:spPr>
          <a:xfrm>
            <a:off x="7587234" y="2340482"/>
            <a:ext cx="6272276" cy="2806700"/>
          </a:xfrm>
          <a:custGeom>
            <a:avLst/>
            <a:gdLst/>
            <a:ahLst/>
            <a:cxnLst/>
            <a:rect l="l" t="t" r="r" b="b"/>
            <a:pathLst>
              <a:path w="6433819" h="2806700">
                <a:moveTo>
                  <a:pt x="6341364" y="0"/>
                </a:moveTo>
                <a:lnTo>
                  <a:pt x="92455" y="0"/>
                </a:lnTo>
                <a:lnTo>
                  <a:pt x="56471" y="7266"/>
                </a:lnTo>
                <a:lnTo>
                  <a:pt x="27082" y="27082"/>
                </a:lnTo>
                <a:lnTo>
                  <a:pt x="7266" y="56471"/>
                </a:lnTo>
                <a:lnTo>
                  <a:pt x="0" y="92455"/>
                </a:lnTo>
                <a:lnTo>
                  <a:pt x="0" y="2714371"/>
                </a:lnTo>
                <a:lnTo>
                  <a:pt x="7266" y="2750282"/>
                </a:lnTo>
                <a:lnTo>
                  <a:pt x="27082" y="2779633"/>
                </a:lnTo>
                <a:lnTo>
                  <a:pt x="56471" y="2799435"/>
                </a:lnTo>
                <a:lnTo>
                  <a:pt x="92455" y="2806699"/>
                </a:lnTo>
                <a:lnTo>
                  <a:pt x="6341364" y="2806699"/>
                </a:lnTo>
                <a:lnTo>
                  <a:pt x="6377348" y="2799435"/>
                </a:lnTo>
                <a:lnTo>
                  <a:pt x="6406737" y="2779633"/>
                </a:lnTo>
                <a:lnTo>
                  <a:pt x="6426553" y="2750282"/>
                </a:lnTo>
                <a:lnTo>
                  <a:pt x="6433820" y="2714371"/>
                </a:lnTo>
                <a:lnTo>
                  <a:pt x="6433820" y="92455"/>
                </a:lnTo>
                <a:lnTo>
                  <a:pt x="6426553" y="56471"/>
                </a:lnTo>
                <a:lnTo>
                  <a:pt x="6406737" y="27082"/>
                </a:lnTo>
                <a:lnTo>
                  <a:pt x="6377348" y="7266"/>
                </a:lnTo>
                <a:lnTo>
                  <a:pt x="6341364" y="0"/>
                </a:lnTo>
                <a:close/>
              </a:path>
            </a:pathLst>
          </a:custGeom>
          <a:solidFill>
            <a:srgbClr val="282C5E"/>
          </a:solidFill>
        </p:spPr>
        <p:txBody>
          <a:bodyPr wrap="square" lIns="0" tIns="0" rIns="0" bIns="0" rtlCol="0"/>
          <a:lstStyle/>
          <a:p>
            <a:pPr marL="0" indent="0" algn="l">
              <a:lnSpc>
                <a:spcPts val="2750"/>
              </a:lnSpc>
              <a:buNone/>
            </a:pPr>
            <a:endParaRPr lang="en-US" sz="1800" dirty="0"/>
          </a:p>
        </p:txBody>
      </p:sp>
      <p:sp>
        <p:nvSpPr>
          <p:cNvPr id="5" name="object 5"/>
          <p:cNvSpPr txBox="1"/>
          <p:nvPr/>
        </p:nvSpPr>
        <p:spPr>
          <a:xfrm>
            <a:off x="729217" y="792095"/>
            <a:ext cx="3741370" cy="312330"/>
          </a:xfrm>
          <a:prstGeom prst="rect">
            <a:avLst/>
          </a:prstGeom>
        </p:spPr>
        <p:txBody>
          <a:bodyPr vert="horz" wrap="square" lIns="0" tIns="12065" rIns="0" bIns="0" rtlCol="0">
            <a:spAutoFit/>
          </a:bodyPr>
          <a:lstStyle/>
          <a:p>
            <a:pPr marL="0" indent="0" algn="l">
              <a:lnSpc>
                <a:spcPts val="2500"/>
              </a:lnSpc>
              <a:buNone/>
            </a:pPr>
            <a:r>
              <a:rPr lang="en-US" sz="2000" b="1" dirty="0">
                <a:solidFill>
                  <a:srgbClr val="EEAEF6"/>
                </a:solidFill>
                <a:latin typeface="Bricolage Grotesque Extra Bold" pitchFamily="34" charset="0"/>
                <a:ea typeface="Bricolage Grotesque Extra Bold" pitchFamily="34" charset="-122"/>
                <a:cs typeface="Bricolage Grotesque Extra Bold" pitchFamily="34" charset="-120"/>
              </a:rPr>
              <a:t>The Core Intelligence</a:t>
            </a:r>
            <a:endParaRPr lang="en-US" sz="2000" dirty="0"/>
          </a:p>
        </p:txBody>
      </p:sp>
      <p:sp>
        <p:nvSpPr>
          <p:cNvPr id="6" name="object 6"/>
          <p:cNvSpPr txBox="1">
            <a:spLocks noGrp="1"/>
          </p:cNvSpPr>
          <p:nvPr>
            <p:ph type="title"/>
          </p:nvPr>
        </p:nvSpPr>
        <p:spPr>
          <a:xfrm>
            <a:off x="758444" y="1395729"/>
            <a:ext cx="9833356" cy="673902"/>
          </a:xfrm>
          <a:prstGeom prst="rect">
            <a:avLst/>
          </a:prstGeom>
        </p:spPr>
        <p:txBody>
          <a:bodyPr vert="horz" wrap="square" lIns="0" tIns="12065" rIns="0" bIns="0" rtlCol="0">
            <a:spAutoFit/>
          </a:bodyPr>
          <a:lstStyle/>
          <a:p>
            <a:pPr marL="12700">
              <a:lnSpc>
                <a:spcPct val="100000"/>
              </a:lnSpc>
              <a:spcBef>
                <a:spcPts val="95"/>
              </a:spcBef>
            </a:pPr>
            <a:r>
              <a:rPr sz="4300" b="1" dirty="0">
                <a:latin typeface="Bricolage Grotesque Extra Bold" panose="02000000000000000000" charset="-120"/>
                <a:ea typeface="Bricolage Grotesque Extra Bold" panose="02000000000000000000" charset="-120"/>
                <a:cs typeface="Bricolage Grotesque Extra Bold" panose="02000000000000000000" charset="-120"/>
              </a:rPr>
              <a:t>The</a:t>
            </a:r>
            <a:r>
              <a:rPr sz="4300" b="1" spc="-95" dirty="0">
                <a:latin typeface="Bricolage Grotesque Extra Bold" panose="02000000000000000000" charset="-120"/>
                <a:ea typeface="Bricolage Grotesque Extra Bold" panose="02000000000000000000" charset="-120"/>
                <a:cs typeface="Bricolage Grotesque Extra Bold" panose="02000000000000000000" charset="-120"/>
              </a:rPr>
              <a:t> </a:t>
            </a:r>
            <a:r>
              <a:rPr sz="4300" b="1" dirty="0">
                <a:latin typeface="Bricolage Grotesque Extra Bold" panose="02000000000000000000" charset="-120"/>
                <a:ea typeface="Bricolage Grotesque Extra Bold" panose="02000000000000000000" charset="-120"/>
                <a:cs typeface="Bricolage Grotesque Extra Bold" panose="02000000000000000000" charset="-120"/>
              </a:rPr>
              <a:t>"Hybrid</a:t>
            </a:r>
            <a:r>
              <a:rPr sz="4300" b="1" spc="-100" dirty="0">
                <a:latin typeface="Bricolage Grotesque Extra Bold" panose="02000000000000000000" charset="-120"/>
                <a:ea typeface="Bricolage Grotesque Extra Bold" panose="02000000000000000000" charset="-120"/>
                <a:cs typeface="Bricolage Grotesque Extra Bold" panose="02000000000000000000" charset="-120"/>
              </a:rPr>
              <a:t> </a:t>
            </a:r>
            <a:r>
              <a:rPr sz="4300" b="1" dirty="0">
                <a:latin typeface="Bricolage Grotesque Extra Bold" panose="02000000000000000000" charset="-120"/>
                <a:ea typeface="Bricolage Grotesque Extra Bold" panose="02000000000000000000" charset="-120"/>
                <a:cs typeface="Bricolage Grotesque Extra Bold" panose="02000000000000000000" charset="-120"/>
              </a:rPr>
              <a:t>Brain"</a:t>
            </a:r>
            <a:r>
              <a:rPr sz="4300" b="1" spc="-75" dirty="0">
                <a:latin typeface="Bricolage Grotesque Extra Bold" panose="02000000000000000000" charset="-120"/>
                <a:ea typeface="Bricolage Grotesque Extra Bold" panose="02000000000000000000" charset="-120"/>
                <a:cs typeface="Bricolage Grotesque Extra Bold" panose="02000000000000000000" charset="-120"/>
              </a:rPr>
              <a:t> </a:t>
            </a:r>
            <a:r>
              <a:rPr sz="4300" b="1" dirty="0">
                <a:latin typeface="Bricolage Grotesque Extra Bold" panose="02000000000000000000" charset="-120"/>
                <a:ea typeface="Bricolage Grotesque Extra Bold" panose="02000000000000000000" charset="-120"/>
                <a:cs typeface="Bricolage Grotesque Extra Bold" panose="02000000000000000000" charset="-120"/>
              </a:rPr>
              <a:t>-</a:t>
            </a:r>
            <a:r>
              <a:rPr sz="4300" b="1" spc="-90" dirty="0">
                <a:latin typeface="Bricolage Grotesque Extra Bold" panose="02000000000000000000" charset="-120"/>
                <a:ea typeface="Bricolage Grotesque Extra Bold" panose="02000000000000000000" charset="-120"/>
                <a:cs typeface="Bricolage Grotesque Extra Bold" panose="02000000000000000000" charset="-120"/>
              </a:rPr>
              <a:t> </a:t>
            </a:r>
            <a:r>
              <a:rPr sz="4300" b="1" dirty="0">
                <a:latin typeface="Bricolage Grotesque Extra Bold" panose="02000000000000000000" charset="-120"/>
                <a:ea typeface="Bricolage Grotesque Extra Bold" panose="02000000000000000000" charset="-120"/>
                <a:cs typeface="Bricolage Grotesque Extra Bold" panose="02000000000000000000" charset="-120"/>
              </a:rPr>
              <a:t>Part</a:t>
            </a:r>
            <a:r>
              <a:rPr sz="4300" b="1" spc="-100" dirty="0">
                <a:latin typeface="Bricolage Grotesque Extra Bold" panose="02000000000000000000" charset="-120"/>
                <a:ea typeface="Bricolage Grotesque Extra Bold" panose="02000000000000000000" charset="-120"/>
                <a:cs typeface="Bricolage Grotesque Extra Bold" panose="02000000000000000000" charset="-120"/>
              </a:rPr>
              <a:t> </a:t>
            </a:r>
            <a:r>
              <a:rPr sz="4300" b="1" dirty="0">
                <a:latin typeface="Bricolage Grotesque Extra Bold" panose="02000000000000000000" charset="-120"/>
                <a:ea typeface="Bricolage Grotesque Extra Bold" panose="02000000000000000000" charset="-120"/>
                <a:cs typeface="Bricolage Grotesque Extra Bold" panose="02000000000000000000" charset="-120"/>
              </a:rPr>
              <a:t>1:</a:t>
            </a:r>
            <a:r>
              <a:rPr sz="4300" b="1" spc="-85" dirty="0">
                <a:latin typeface="Bricolage Grotesque Extra Bold" panose="02000000000000000000" charset="-120"/>
                <a:ea typeface="Bricolage Grotesque Extra Bold" panose="02000000000000000000" charset="-120"/>
                <a:cs typeface="Bricolage Grotesque Extra Bold" panose="02000000000000000000" charset="-120"/>
              </a:rPr>
              <a:t> </a:t>
            </a:r>
            <a:r>
              <a:rPr sz="4300" b="1" dirty="0">
                <a:latin typeface="Bricolage Grotesque Extra Bold" panose="02000000000000000000" charset="-120"/>
                <a:ea typeface="Bricolage Grotesque Extra Bold" panose="02000000000000000000" charset="-120"/>
                <a:cs typeface="Bricolage Grotesque Extra Bold" panose="02000000000000000000" charset="-120"/>
              </a:rPr>
              <a:t>The</a:t>
            </a:r>
            <a:r>
              <a:rPr sz="4300" b="1" spc="-90" dirty="0">
                <a:latin typeface="Bricolage Grotesque Extra Bold" panose="02000000000000000000" charset="-120"/>
                <a:ea typeface="Bricolage Grotesque Extra Bold" panose="02000000000000000000" charset="-120"/>
                <a:cs typeface="Bricolage Grotesque Extra Bold" panose="02000000000000000000" charset="-120"/>
              </a:rPr>
              <a:t> </a:t>
            </a:r>
            <a:r>
              <a:rPr sz="4300" b="1" spc="-25" dirty="0">
                <a:latin typeface="Bricolage Grotesque Extra Bold" panose="02000000000000000000" charset="-120"/>
                <a:ea typeface="Bricolage Grotesque Extra Bold" panose="02000000000000000000" charset="-120"/>
                <a:cs typeface="Bricolage Grotesque Extra Bold" panose="02000000000000000000" charset="-120"/>
              </a:rPr>
              <a:t>CNN</a:t>
            </a:r>
            <a:endParaRPr sz="4300" b="1" dirty="0">
              <a:latin typeface="Bricolage Grotesque Extra Bold" panose="02000000000000000000" charset="-120"/>
              <a:ea typeface="Bricolage Grotesque Extra Bold" panose="02000000000000000000" charset="-120"/>
              <a:cs typeface="Bricolage Grotesque Extra Bold" panose="02000000000000000000" charset="-120"/>
            </a:endParaRPr>
          </a:p>
        </p:txBody>
      </p:sp>
      <p:sp>
        <p:nvSpPr>
          <p:cNvPr id="7" name="object 7"/>
          <p:cNvSpPr txBox="1"/>
          <p:nvPr/>
        </p:nvSpPr>
        <p:spPr>
          <a:xfrm>
            <a:off x="1275080" y="2430907"/>
            <a:ext cx="11173460" cy="397353"/>
          </a:xfrm>
          <a:prstGeom prst="rect">
            <a:avLst/>
          </a:prstGeom>
        </p:spPr>
        <p:txBody>
          <a:bodyPr vert="horz" wrap="square" lIns="0" tIns="13335" rIns="0" bIns="0" rtlCol="0">
            <a:spAutoFit/>
          </a:bodyPr>
          <a:lstStyle/>
          <a:p>
            <a:pPr marL="0" indent="0" algn="l">
              <a:lnSpc>
                <a:spcPts val="3200"/>
              </a:lnSpc>
              <a:buNone/>
            </a:pPr>
            <a:r>
              <a:rPr lang="en-US" sz="2550" b="1" dirty="0">
                <a:solidFill>
                  <a:srgbClr val="E5DCE6"/>
                </a:solidFill>
                <a:latin typeface="Bricolage Grotesque Extra Bold" pitchFamily="34" charset="0"/>
                <a:ea typeface="Bricolage Grotesque Extra Bold" pitchFamily="34" charset="-122"/>
                <a:cs typeface="Bricolage Grotesque Extra Bold" pitchFamily="34" charset="-120"/>
              </a:rPr>
              <a:t>Role: Visual Artifact Detection</a:t>
            </a:r>
            <a:endParaRPr lang="en-US" sz="2550" dirty="0"/>
          </a:p>
        </p:txBody>
      </p:sp>
      <p:sp>
        <p:nvSpPr>
          <p:cNvPr id="8" name="object 8"/>
          <p:cNvSpPr txBox="1"/>
          <p:nvPr/>
        </p:nvSpPr>
        <p:spPr>
          <a:xfrm>
            <a:off x="1275080" y="3142614"/>
            <a:ext cx="5067808" cy="1409681"/>
          </a:xfrm>
          <a:prstGeom prst="rect">
            <a:avLst/>
          </a:prstGeom>
        </p:spPr>
        <p:txBody>
          <a:bodyPr vert="horz" wrap="square" lIns="0" tIns="13335" rIns="0" bIns="0" rtlCol="0">
            <a:spAutoFit/>
          </a:bodyPr>
          <a:lstStyle/>
          <a:p>
            <a:pPr marL="0" indent="0" algn="l">
              <a:lnSpc>
                <a:spcPts val="2750"/>
              </a:lnSpc>
              <a:buNone/>
            </a:pPr>
            <a:r>
              <a:rPr lang="en-US" sz="1700" dirty="0">
                <a:solidFill>
                  <a:srgbClr val="E5DCE6"/>
                </a:solidFill>
                <a:latin typeface="Montserrat" pitchFamily="34" charset="0"/>
                <a:ea typeface="Montserrat" pitchFamily="34" charset="-122"/>
                <a:cs typeface="Montserrat" pitchFamily="34" charset="-120"/>
              </a:rPr>
              <a:t>The Convolutional Neural Network (CNN) is specifically tasked with identifying </a:t>
            </a:r>
            <a:r>
              <a:rPr lang="en-US" sz="1700" b="1" dirty="0">
                <a:solidFill>
                  <a:srgbClr val="E5DCE6"/>
                </a:solidFill>
                <a:latin typeface="Montserrat" pitchFamily="34" charset="0"/>
                <a:ea typeface="Montserrat" pitchFamily="34" charset="-122"/>
                <a:cs typeface="Montserrat" pitchFamily="34" charset="-120"/>
              </a:rPr>
              <a:t>visual anomalies</a:t>
            </a:r>
            <a:r>
              <a:rPr lang="en-US" sz="1700" dirty="0">
                <a:solidFill>
                  <a:srgbClr val="E5DCE6"/>
                </a:solidFill>
                <a:latin typeface="Montserrat" pitchFamily="34" charset="0"/>
                <a:ea typeface="Montserrat" pitchFamily="34" charset="-122"/>
                <a:cs typeface="Montserrat" pitchFamily="34" charset="-120"/>
              </a:rPr>
              <a:t> that betray a forged screenshot. It looks for inconsistencies imperceptible to the human eye.</a:t>
            </a:r>
            <a:endParaRPr lang="en-US" sz="1700" dirty="0"/>
          </a:p>
        </p:txBody>
      </p:sp>
      <p:sp>
        <p:nvSpPr>
          <p:cNvPr id="9" name="object 9"/>
          <p:cNvSpPr txBox="1"/>
          <p:nvPr/>
        </p:nvSpPr>
        <p:spPr>
          <a:xfrm>
            <a:off x="7748778" y="2588909"/>
            <a:ext cx="6110732" cy="807722"/>
          </a:xfrm>
          <a:prstGeom prst="rect">
            <a:avLst/>
          </a:prstGeom>
        </p:spPr>
        <p:txBody>
          <a:bodyPr vert="horz" wrap="square" lIns="0" tIns="13335" rIns="0" bIns="0" rtlCol="0">
            <a:spAutoFit/>
          </a:bodyPr>
          <a:lstStyle/>
          <a:p>
            <a:pPr marL="0" indent="0" algn="l">
              <a:lnSpc>
                <a:spcPts val="3200"/>
              </a:lnSpc>
              <a:buNone/>
            </a:pPr>
            <a:r>
              <a:rPr lang="en-US" sz="2550" b="1" dirty="0">
                <a:solidFill>
                  <a:srgbClr val="E5DCE6"/>
                </a:solidFill>
                <a:latin typeface="Bricolage Grotesque Extra Bold" pitchFamily="34" charset="0"/>
                <a:ea typeface="Bricolage Grotesque Extra Bold" pitchFamily="34" charset="-122"/>
                <a:cs typeface="Bricolage Grotesque Extra Bold" pitchFamily="34" charset="-120"/>
              </a:rPr>
              <a:t>Technique: Transfer Learning with MobileNetV3</a:t>
            </a:r>
            <a:endParaRPr lang="en-US" sz="2550" dirty="0"/>
          </a:p>
        </p:txBody>
      </p:sp>
      <p:sp>
        <p:nvSpPr>
          <p:cNvPr id="10" name="object 10"/>
          <p:cNvSpPr txBox="1"/>
          <p:nvPr/>
        </p:nvSpPr>
        <p:spPr>
          <a:xfrm>
            <a:off x="1150620" y="5366862"/>
            <a:ext cx="12329160" cy="331181"/>
          </a:xfrm>
          <a:prstGeom prst="rect">
            <a:avLst/>
          </a:prstGeom>
        </p:spPr>
        <p:txBody>
          <a:bodyPr vert="horz" wrap="square" lIns="0" tIns="12065" rIns="0" bIns="0" rtlCol="0">
            <a:spAutoFit/>
          </a:bodyPr>
          <a:lstStyle/>
          <a:p>
            <a:pPr marL="0" indent="0" algn="l">
              <a:lnSpc>
                <a:spcPts val="2750"/>
              </a:lnSpc>
              <a:buNone/>
            </a:pPr>
            <a:r>
              <a:rPr lang="en-US" sz="1700" dirty="0">
                <a:solidFill>
                  <a:srgbClr val="E5DCE6"/>
                </a:solidFill>
                <a:latin typeface="Montserrat" pitchFamily="34" charset="0"/>
                <a:ea typeface="Montserrat" pitchFamily="34" charset="-122"/>
                <a:cs typeface="Montserrat" pitchFamily="34" charset="-120"/>
              </a:rPr>
              <a:t>The CNN acts as an "expert" in spotting digital imperfections. It meticulously analyzes:</a:t>
            </a:r>
            <a:endParaRPr lang="en-US" sz="1700" dirty="0"/>
          </a:p>
        </p:txBody>
      </p:sp>
      <p:sp>
        <p:nvSpPr>
          <p:cNvPr id="11" name="TextBox 10">
            <a:extLst>
              <a:ext uri="{FF2B5EF4-FFF2-40B4-BE49-F238E27FC236}">
                <a16:creationId xmlns:a16="http://schemas.microsoft.com/office/drawing/2014/main" id="{C4246DC7-2FFE-4E06-87BA-465FB905663C}"/>
              </a:ext>
            </a:extLst>
          </p:cNvPr>
          <p:cNvSpPr txBox="1"/>
          <p:nvPr/>
        </p:nvSpPr>
        <p:spPr>
          <a:xfrm>
            <a:off x="1150620" y="5773325"/>
            <a:ext cx="9822180" cy="417807"/>
          </a:xfrm>
          <a:prstGeom prst="rect">
            <a:avLst/>
          </a:prstGeom>
          <a:noFill/>
        </p:spPr>
        <p:txBody>
          <a:bodyPr wrap="square">
            <a:spAutoFit/>
          </a:bodyPr>
          <a:lstStyle/>
          <a:p>
            <a:pPr marL="342900" indent="-342900" algn="l">
              <a:lnSpc>
                <a:spcPts val="2750"/>
              </a:lnSpc>
              <a:buSzPct val="100000"/>
              <a:buChar char="•"/>
            </a:pPr>
            <a:r>
              <a:rPr lang="en-US" sz="1800" b="1" dirty="0">
                <a:solidFill>
                  <a:srgbClr val="E5DCE6"/>
                </a:solidFill>
                <a:latin typeface="Montserrat" pitchFamily="34" charset="0"/>
                <a:ea typeface="Montserrat" pitchFamily="34" charset="-122"/>
                <a:cs typeface="Montserrat" pitchFamily="34" charset="-120"/>
              </a:rPr>
              <a:t>Subtle pixel noise changes:</a:t>
            </a:r>
            <a:r>
              <a:rPr lang="en-US" sz="1800" dirty="0">
                <a:solidFill>
                  <a:srgbClr val="E5DCE6"/>
                </a:solidFill>
                <a:latin typeface="Montserrat" pitchFamily="34" charset="0"/>
                <a:ea typeface="Montserrat" pitchFamily="34" charset="-122"/>
                <a:cs typeface="Montserrat" pitchFamily="34" charset="-120"/>
              </a:rPr>
              <a:t> Inconsistencies that indicate image manipulation.</a:t>
            </a:r>
            <a:endParaRPr lang="en-US" sz="1800" dirty="0"/>
          </a:p>
        </p:txBody>
      </p:sp>
      <p:sp>
        <p:nvSpPr>
          <p:cNvPr id="15" name="TextBox 14">
            <a:extLst>
              <a:ext uri="{FF2B5EF4-FFF2-40B4-BE49-F238E27FC236}">
                <a16:creationId xmlns:a16="http://schemas.microsoft.com/office/drawing/2014/main" id="{80A51D7E-42CA-4D1C-9173-8BDC1D57CAC5}"/>
              </a:ext>
            </a:extLst>
          </p:cNvPr>
          <p:cNvSpPr txBox="1"/>
          <p:nvPr/>
        </p:nvSpPr>
        <p:spPr>
          <a:xfrm>
            <a:off x="1150620" y="6266414"/>
            <a:ext cx="12031980" cy="417807"/>
          </a:xfrm>
          <a:prstGeom prst="rect">
            <a:avLst/>
          </a:prstGeom>
          <a:noFill/>
        </p:spPr>
        <p:txBody>
          <a:bodyPr wrap="square">
            <a:spAutoFit/>
          </a:bodyPr>
          <a:lstStyle/>
          <a:p>
            <a:pPr marL="342900" indent="-342900" algn="l">
              <a:lnSpc>
                <a:spcPts val="2750"/>
              </a:lnSpc>
              <a:buSzPct val="100000"/>
              <a:buChar char="•"/>
            </a:pPr>
            <a:r>
              <a:rPr lang="en-US" sz="1800" b="1" dirty="0">
                <a:solidFill>
                  <a:srgbClr val="E5DCE6"/>
                </a:solidFill>
                <a:latin typeface="Montserrat" pitchFamily="34" charset="0"/>
                <a:ea typeface="Montserrat" pitchFamily="34" charset="-122"/>
                <a:cs typeface="Montserrat" pitchFamily="34" charset="-120"/>
              </a:rPr>
              <a:t>Mismatched image compression:</a:t>
            </a:r>
            <a:r>
              <a:rPr lang="en-US" sz="1800" dirty="0">
                <a:solidFill>
                  <a:srgbClr val="E5DCE6"/>
                </a:solidFill>
                <a:latin typeface="Montserrat" pitchFamily="34" charset="0"/>
                <a:ea typeface="Montserrat" pitchFamily="34" charset="-122"/>
                <a:cs typeface="Montserrat" pitchFamily="34" charset="-120"/>
              </a:rPr>
              <a:t> Variations in compression patterns suggesting edited sections.</a:t>
            </a:r>
            <a:endParaRPr lang="en-US" sz="1800" dirty="0"/>
          </a:p>
        </p:txBody>
      </p:sp>
      <p:sp>
        <p:nvSpPr>
          <p:cNvPr id="17" name="TextBox 16">
            <a:extLst>
              <a:ext uri="{FF2B5EF4-FFF2-40B4-BE49-F238E27FC236}">
                <a16:creationId xmlns:a16="http://schemas.microsoft.com/office/drawing/2014/main" id="{F49BA09C-235B-44BD-90CA-34A3873289D1}"/>
              </a:ext>
            </a:extLst>
          </p:cNvPr>
          <p:cNvSpPr txBox="1"/>
          <p:nvPr/>
        </p:nvSpPr>
        <p:spPr>
          <a:xfrm>
            <a:off x="1150620" y="6759503"/>
            <a:ext cx="12546711" cy="417807"/>
          </a:xfrm>
          <a:prstGeom prst="rect">
            <a:avLst/>
          </a:prstGeom>
          <a:noFill/>
        </p:spPr>
        <p:txBody>
          <a:bodyPr wrap="square">
            <a:spAutoFit/>
          </a:bodyPr>
          <a:lstStyle/>
          <a:p>
            <a:pPr marL="342900" indent="-342900" algn="l">
              <a:lnSpc>
                <a:spcPts val="2750"/>
              </a:lnSpc>
              <a:buSzPct val="100000"/>
              <a:buChar char="•"/>
            </a:pPr>
            <a:r>
              <a:rPr lang="en-US" sz="1800" b="1" dirty="0">
                <a:solidFill>
                  <a:srgbClr val="E5DCE6"/>
                </a:solidFill>
                <a:latin typeface="Montserrat" pitchFamily="34" charset="0"/>
                <a:ea typeface="Montserrat" pitchFamily="34" charset="-122"/>
                <a:cs typeface="Montserrat" pitchFamily="34" charset="-120"/>
              </a:rPr>
              <a:t>Unnatural edges:</a:t>
            </a:r>
            <a:r>
              <a:rPr lang="en-US" sz="1800" dirty="0">
                <a:solidFill>
                  <a:srgbClr val="E5DCE6"/>
                </a:solidFill>
                <a:latin typeface="Montserrat" pitchFamily="34" charset="0"/>
                <a:ea typeface="Montserrat" pitchFamily="34" charset="-122"/>
                <a:cs typeface="Montserrat" pitchFamily="34" charset="-120"/>
              </a:rPr>
              <a:t> Sharp or irregular boundaries caused by pasting new text or elements onto the original image.</a:t>
            </a:r>
            <a:endParaRPr lang="en-US" sz="1800" dirty="0"/>
          </a:p>
        </p:txBody>
      </p:sp>
      <p:sp>
        <p:nvSpPr>
          <p:cNvPr id="19" name="TextBox 18">
            <a:extLst>
              <a:ext uri="{FF2B5EF4-FFF2-40B4-BE49-F238E27FC236}">
                <a16:creationId xmlns:a16="http://schemas.microsoft.com/office/drawing/2014/main" id="{407F4BCB-8DEE-4876-8F6A-6EA4874527A3}"/>
              </a:ext>
            </a:extLst>
          </p:cNvPr>
          <p:cNvSpPr txBox="1"/>
          <p:nvPr/>
        </p:nvSpPr>
        <p:spPr>
          <a:xfrm>
            <a:off x="7748778" y="3471028"/>
            <a:ext cx="6110732" cy="1491434"/>
          </a:xfrm>
          <a:prstGeom prst="rect">
            <a:avLst/>
          </a:prstGeom>
          <a:noFill/>
        </p:spPr>
        <p:txBody>
          <a:bodyPr wrap="square">
            <a:spAutoFit/>
          </a:bodyPr>
          <a:lstStyle/>
          <a:p>
            <a:pPr marL="0" indent="0" algn="l">
              <a:lnSpc>
                <a:spcPts val="2750"/>
              </a:lnSpc>
              <a:buNone/>
            </a:pPr>
            <a:r>
              <a:rPr lang="en-US" sz="1800" dirty="0">
                <a:solidFill>
                  <a:srgbClr val="E5DCE6"/>
                </a:solidFill>
                <a:latin typeface="Montserrat" pitchFamily="34" charset="0"/>
                <a:ea typeface="Montserrat" pitchFamily="34" charset="-122"/>
                <a:cs typeface="Montserrat" pitchFamily="34" charset="-120"/>
              </a:rPr>
              <a:t>We utilize </a:t>
            </a:r>
            <a:r>
              <a:rPr lang="en-US" sz="1800" b="1" dirty="0">
                <a:solidFill>
                  <a:srgbClr val="E5DCE6"/>
                </a:solidFill>
                <a:latin typeface="Montserrat" pitchFamily="34" charset="0"/>
                <a:ea typeface="Montserrat" pitchFamily="34" charset="-122"/>
                <a:cs typeface="Montserrat" pitchFamily="34" charset="-120"/>
              </a:rPr>
              <a:t>Transfer Learning</a:t>
            </a:r>
            <a:r>
              <a:rPr lang="en-US" sz="1800" dirty="0">
                <a:solidFill>
                  <a:srgbClr val="E5DCE6"/>
                </a:solidFill>
                <a:latin typeface="Montserrat" pitchFamily="34" charset="0"/>
                <a:ea typeface="Montserrat" pitchFamily="34" charset="-122"/>
                <a:cs typeface="Montserrat" pitchFamily="34" charset="-120"/>
              </a:rPr>
              <a:t> with </a:t>
            </a:r>
            <a:r>
              <a:rPr lang="en-US" sz="1800" b="1" dirty="0">
                <a:solidFill>
                  <a:srgbClr val="E5DCE6"/>
                </a:solidFill>
                <a:latin typeface="Montserrat" pitchFamily="34" charset="0"/>
                <a:ea typeface="Montserrat" pitchFamily="34" charset="-122"/>
                <a:cs typeface="Montserrat" pitchFamily="34" charset="-120"/>
              </a:rPr>
              <a:t>MobileNetV3</a:t>
            </a:r>
            <a:r>
              <a:rPr lang="en-US" sz="1800" dirty="0">
                <a:solidFill>
                  <a:srgbClr val="E5DCE6"/>
                </a:solidFill>
                <a:latin typeface="Montserrat" pitchFamily="34" charset="0"/>
                <a:ea typeface="Montserrat" pitchFamily="34" charset="-122"/>
                <a:cs typeface="Montserrat" pitchFamily="34" charset="-120"/>
              </a:rPr>
              <a:t>, a highly efficient and lightweight CNN architecture. This allows for rapid and accurate processing without requiring extensive computational resources.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05789" y="2310773"/>
            <a:ext cx="6489065" cy="2245995"/>
          </a:xfrm>
          <a:custGeom>
            <a:avLst/>
            <a:gdLst/>
            <a:ahLst/>
            <a:cxnLst/>
            <a:rect l="l" t="t" r="r" b="b"/>
            <a:pathLst>
              <a:path w="6489065" h="2245995">
                <a:moveTo>
                  <a:pt x="5993257" y="0"/>
                </a:moveTo>
                <a:lnTo>
                  <a:pt x="495757" y="0"/>
                </a:lnTo>
                <a:lnTo>
                  <a:pt x="448014" y="2268"/>
                </a:lnTo>
                <a:lnTo>
                  <a:pt x="401555" y="8935"/>
                </a:lnTo>
                <a:lnTo>
                  <a:pt x="356587" y="19794"/>
                </a:lnTo>
                <a:lnTo>
                  <a:pt x="313318" y="34636"/>
                </a:lnTo>
                <a:lnTo>
                  <a:pt x="271957" y="53255"/>
                </a:lnTo>
                <a:lnTo>
                  <a:pt x="232710" y="75442"/>
                </a:lnTo>
                <a:lnTo>
                  <a:pt x="195785" y="100990"/>
                </a:lnTo>
                <a:lnTo>
                  <a:pt x="161391" y="129692"/>
                </a:lnTo>
                <a:lnTo>
                  <a:pt x="129735" y="161340"/>
                </a:lnTo>
                <a:lnTo>
                  <a:pt x="101026" y="195726"/>
                </a:lnTo>
                <a:lnTo>
                  <a:pt x="75470" y="232644"/>
                </a:lnTo>
                <a:lnTo>
                  <a:pt x="53275" y="271885"/>
                </a:lnTo>
                <a:lnTo>
                  <a:pt x="34650" y="313242"/>
                </a:lnTo>
                <a:lnTo>
                  <a:pt x="19802" y="356508"/>
                </a:lnTo>
                <a:lnTo>
                  <a:pt x="8939" y="401474"/>
                </a:lnTo>
                <a:lnTo>
                  <a:pt x="2269" y="447935"/>
                </a:lnTo>
                <a:lnTo>
                  <a:pt x="0" y="495680"/>
                </a:lnTo>
                <a:lnTo>
                  <a:pt x="0" y="1750187"/>
                </a:lnTo>
                <a:lnTo>
                  <a:pt x="2269" y="1797934"/>
                </a:lnTo>
                <a:lnTo>
                  <a:pt x="8939" y="1844397"/>
                </a:lnTo>
                <a:lnTo>
                  <a:pt x="19802" y="1889370"/>
                </a:lnTo>
                <a:lnTo>
                  <a:pt x="34650" y="1932643"/>
                </a:lnTo>
                <a:lnTo>
                  <a:pt x="53275" y="1974008"/>
                </a:lnTo>
                <a:lnTo>
                  <a:pt x="75470" y="2013259"/>
                </a:lnTo>
                <a:lnTo>
                  <a:pt x="101026" y="2050188"/>
                </a:lnTo>
                <a:lnTo>
                  <a:pt x="129735" y="2084585"/>
                </a:lnTo>
                <a:lnTo>
                  <a:pt x="161391" y="2116244"/>
                </a:lnTo>
                <a:lnTo>
                  <a:pt x="195785" y="2144957"/>
                </a:lnTo>
                <a:lnTo>
                  <a:pt x="232710" y="2170516"/>
                </a:lnTo>
                <a:lnTo>
                  <a:pt x="271957" y="2192713"/>
                </a:lnTo>
                <a:lnTo>
                  <a:pt x="313318" y="2211340"/>
                </a:lnTo>
                <a:lnTo>
                  <a:pt x="356587" y="2226190"/>
                </a:lnTo>
                <a:lnTo>
                  <a:pt x="401555" y="2237054"/>
                </a:lnTo>
                <a:lnTo>
                  <a:pt x="448014" y="2243725"/>
                </a:lnTo>
                <a:lnTo>
                  <a:pt x="495757" y="2245994"/>
                </a:lnTo>
                <a:lnTo>
                  <a:pt x="5993257" y="2245994"/>
                </a:lnTo>
                <a:lnTo>
                  <a:pt x="6041004" y="2243725"/>
                </a:lnTo>
                <a:lnTo>
                  <a:pt x="6087467" y="2237054"/>
                </a:lnTo>
                <a:lnTo>
                  <a:pt x="6132440" y="2226190"/>
                </a:lnTo>
                <a:lnTo>
                  <a:pt x="6175713" y="2211340"/>
                </a:lnTo>
                <a:lnTo>
                  <a:pt x="6217078" y="2192713"/>
                </a:lnTo>
                <a:lnTo>
                  <a:pt x="6256329" y="2170516"/>
                </a:lnTo>
                <a:lnTo>
                  <a:pt x="6293258" y="2144957"/>
                </a:lnTo>
                <a:lnTo>
                  <a:pt x="6327655" y="2116244"/>
                </a:lnTo>
                <a:lnTo>
                  <a:pt x="6359314" y="2084585"/>
                </a:lnTo>
                <a:lnTo>
                  <a:pt x="6388027" y="2050188"/>
                </a:lnTo>
                <a:lnTo>
                  <a:pt x="6413586" y="2013259"/>
                </a:lnTo>
                <a:lnTo>
                  <a:pt x="6435783" y="1974008"/>
                </a:lnTo>
                <a:lnTo>
                  <a:pt x="6454410" y="1932643"/>
                </a:lnTo>
                <a:lnTo>
                  <a:pt x="6469260" y="1889370"/>
                </a:lnTo>
                <a:lnTo>
                  <a:pt x="6480124" y="1844397"/>
                </a:lnTo>
                <a:lnTo>
                  <a:pt x="6486795" y="1797934"/>
                </a:lnTo>
                <a:lnTo>
                  <a:pt x="6489064" y="1750187"/>
                </a:lnTo>
                <a:lnTo>
                  <a:pt x="6489064" y="495680"/>
                </a:lnTo>
                <a:lnTo>
                  <a:pt x="6486795" y="447935"/>
                </a:lnTo>
                <a:lnTo>
                  <a:pt x="6480124" y="401474"/>
                </a:lnTo>
                <a:lnTo>
                  <a:pt x="6469260" y="356508"/>
                </a:lnTo>
                <a:lnTo>
                  <a:pt x="6454410" y="313242"/>
                </a:lnTo>
                <a:lnTo>
                  <a:pt x="6435783" y="271885"/>
                </a:lnTo>
                <a:lnTo>
                  <a:pt x="6413586" y="232644"/>
                </a:lnTo>
                <a:lnTo>
                  <a:pt x="6388027" y="195726"/>
                </a:lnTo>
                <a:lnTo>
                  <a:pt x="6359314" y="161340"/>
                </a:lnTo>
                <a:lnTo>
                  <a:pt x="6327655" y="129692"/>
                </a:lnTo>
                <a:lnTo>
                  <a:pt x="6293258" y="100990"/>
                </a:lnTo>
                <a:lnTo>
                  <a:pt x="6256329" y="75442"/>
                </a:lnTo>
                <a:lnTo>
                  <a:pt x="6217078" y="53255"/>
                </a:lnTo>
                <a:lnTo>
                  <a:pt x="6175713" y="34636"/>
                </a:lnTo>
                <a:lnTo>
                  <a:pt x="6132440" y="19794"/>
                </a:lnTo>
                <a:lnTo>
                  <a:pt x="6087467" y="8935"/>
                </a:lnTo>
                <a:lnTo>
                  <a:pt x="6041004" y="2268"/>
                </a:lnTo>
                <a:lnTo>
                  <a:pt x="5993257" y="0"/>
                </a:lnTo>
                <a:close/>
              </a:path>
            </a:pathLst>
          </a:custGeom>
          <a:solidFill>
            <a:srgbClr val="282C5E"/>
          </a:solidFill>
        </p:spPr>
        <p:txBody>
          <a:bodyPr wrap="square" lIns="0" tIns="0" rIns="0" bIns="0" rtlCol="0"/>
          <a:lstStyle/>
          <a:p>
            <a:pPr marL="0" indent="0" algn="l">
              <a:lnSpc>
                <a:spcPts val="3000"/>
              </a:lnSpc>
              <a:buNone/>
            </a:pPr>
            <a:r>
              <a:rPr lang="en-US" sz="2400" b="1" dirty="0">
                <a:solidFill>
                  <a:srgbClr val="E5DCE6"/>
                </a:solidFill>
                <a:latin typeface="Bricolage Grotesque Extra Bold" pitchFamily="34" charset="0"/>
                <a:ea typeface="Bricolage Grotesque Extra Bold" pitchFamily="34" charset="-122"/>
                <a:cs typeface="Bricolage Grotesque Extra Bold" pitchFamily="34" charset="-120"/>
              </a:rPr>
              <a:t>Role: Logical Error Detection</a:t>
            </a:r>
            <a:endParaRPr lang="en-US" sz="2400" dirty="0"/>
          </a:p>
        </p:txBody>
      </p:sp>
      <p:sp>
        <p:nvSpPr>
          <p:cNvPr id="4" name="object 4"/>
          <p:cNvSpPr/>
          <p:nvPr/>
        </p:nvSpPr>
        <p:spPr>
          <a:xfrm>
            <a:off x="7535548" y="2348351"/>
            <a:ext cx="6304910" cy="2229761"/>
          </a:xfrm>
          <a:custGeom>
            <a:avLst/>
            <a:gdLst/>
            <a:ahLst/>
            <a:cxnLst/>
            <a:rect l="l" t="t" r="r" b="b"/>
            <a:pathLst>
              <a:path w="6489065" h="2245995">
                <a:moveTo>
                  <a:pt x="5993257" y="0"/>
                </a:moveTo>
                <a:lnTo>
                  <a:pt x="495808" y="0"/>
                </a:lnTo>
                <a:lnTo>
                  <a:pt x="448060" y="2268"/>
                </a:lnTo>
                <a:lnTo>
                  <a:pt x="401597" y="8935"/>
                </a:lnTo>
                <a:lnTo>
                  <a:pt x="356624" y="19794"/>
                </a:lnTo>
                <a:lnTo>
                  <a:pt x="313351" y="34636"/>
                </a:lnTo>
                <a:lnTo>
                  <a:pt x="271986" y="53255"/>
                </a:lnTo>
                <a:lnTo>
                  <a:pt x="232735" y="75442"/>
                </a:lnTo>
                <a:lnTo>
                  <a:pt x="195806" y="100990"/>
                </a:lnTo>
                <a:lnTo>
                  <a:pt x="161409" y="129692"/>
                </a:lnTo>
                <a:lnTo>
                  <a:pt x="129750" y="161340"/>
                </a:lnTo>
                <a:lnTo>
                  <a:pt x="101037" y="195726"/>
                </a:lnTo>
                <a:lnTo>
                  <a:pt x="75478" y="232644"/>
                </a:lnTo>
                <a:lnTo>
                  <a:pt x="53281" y="271885"/>
                </a:lnTo>
                <a:lnTo>
                  <a:pt x="34654" y="313242"/>
                </a:lnTo>
                <a:lnTo>
                  <a:pt x="19804" y="356508"/>
                </a:lnTo>
                <a:lnTo>
                  <a:pt x="8940" y="401474"/>
                </a:lnTo>
                <a:lnTo>
                  <a:pt x="2269" y="447935"/>
                </a:lnTo>
                <a:lnTo>
                  <a:pt x="0" y="495680"/>
                </a:lnTo>
                <a:lnTo>
                  <a:pt x="0" y="1750187"/>
                </a:lnTo>
                <a:lnTo>
                  <a:pt x="2269" y="1797934"/>
                </a:lnTo>
                <a:lnTo>
                  <a:pt x="8940" y="1844397"/>
                </a:lnTo>
                <a:lnTo>
                  <a:pt x="19804" y="1889370"/>
                </a:lnTo>
                <a:lnTo>
                  <a:pt x="34654" y="1932643"/>
                </a:lnTo>
                <a:lnTo>
                  <a:pt x="53281" y="1974008"/>
                </a:lnTo>
                <a:lnTo>
                  <a:pt x="75478" y="2013259"/>
                </a:lnTo>
                <a:lnTo>
                  <a:pt x="101037" y="2050188"/>
                </a:lnTo>
                <a:lnTo>
                  <a:pt x="129750" y="2084585"/>
                </a:lnTo>
                <a:lnTo>
                  <a:pt x="161409" y="2116244"/>
                </a:lnTo>
                <a:lnTo>
                  <a:pt x="195806" y="2144957"/>
                </a:lnTo>
                <a:lnTo>
                  <a:pt x="232735" y="2170516"/>
                </a:lnTo>
                <a:lnTo>
                  <a:pt x="271986" y="2192713"/>
                </a:lnTo>
                <a:lnTo>
                  <a:pt x="313351" y="2211340"/>
                </a:lnTo>
                <a:lnTo>
                  <a:pt x="356624" y="2226190"/>
                </a:lnTo>
                <a:lnTo>
                  <a:pt x="401597" y="2237054"/>
                </a:lnTo>
                <a:lnTo>
                  <a:pt x="448060" y="2243725"/>
                </a:lnTo>
                <a:lnTo>
                  <a:pt x="495808" y="2245994"/>
                </a:lnTo>
                <a:lnTo>
                  <a:pt x="5993257" y="2245994"/>
                </a:lnTo>
                <a:lnTo>
                  <a:pt x="6041004" y="2243725"/>
                </a:lnTo>
                <a:lnTo>
                  <a:pt x="6087467" y="2237054"/>
                </a:lnTo>
                <a:lnTo>
                  <a:pt x="6132440" y="2226190"/>
                </a:lnTo>
                <a:lnTo>
                  <a:pt x="6175713" y="2211340"/>
                </a:lnTo>
                <a:lnTo>
                  <a:pt x="6217078" y="2192713"/>
                </a:lnTo>
                <a:lnTo>
                  <a:pt x="6256329" y="2170516"/>
                </a:lnTo>
                <a:lnTo>
                  <a:pt x="6293258" y="2144957"/>
                </a:lnTo>
                <a:lnTo>
                  <a:pt x="6327655" y="2116244"/>
                </a:lnTo>
                <a:lnTo>
                  <a:pt x="6359314" y="2084585"/>
                </a:lnTo>
                <a:lnTo>
                  <a:pt x="6388027" y="2050188"/>
                </a:lnTo>
                <a:lnTo>
                  <a:pt x="6413586" y="2013259"/>
                </a:lnTo>
                <a:lnTo>
                  <a:pt x="6435783" y="1974008"/>
                </a:lnTo>
                <a:lnTo>
                  <a:pt x="6454410" y="1932643"/>
                </a:lnTo>
                <a:lnTo>
                  <a:pt x="6469260" y="1889370"/>
                </a:lnTo>
                <a:lnTo>
                  <a:pt x="6480124" y="1844397"/>
                </a:lnTo>
                <a:lnTo>
                  <a:pt x="6486795" y="1797934"/>
                </a:lnTo>
                <a:lnTo>
                  <a:pt x="6489064" y="1750187"/>
                </a:lnTo>
                <a:lnTo>
                  <a:pt x="6489064" y="495680"/>
                </a:lnTo>
                <a:lnTo>
                  <a:pt x="6486795" y="447935"/>
                </a:lnTo>
                <a:lnTo>
                  <a:pt x="6480124" y="401474"/>
                </a:lnTo>
                <a:lnTo>
                  <a:pt x="6469260" y="356508"/>
                </a:lnTo>
                <a:lnTo>
                  <a:pt x="6454410" y="313242"/>
                </a:lnTo>
                <a:lnTo>
                  <a:pt x="6435783" y="271885"/>
                </a:lnTo>
                <a:lnTo>
                  <a:pt x="6413586" y="232644"/>
                </a:lnTo>
                <a:lnTo>
                  <a:pt x="6388027" y="195726"/>
                </a:lnTo>
                <a:lnTo>
                  <a:pt x="6359314" y="161340"/>
                </a:lnTo>
                <a:lnTo>
                  <a:pt x="6327655" y="129692"/>
                </a:lnTo>
                <a:lnTo>
                  <a:pt x="6293258" y="100990"/>
                </a:lnTo>
                <a:lnTo>
                  <a:pt x="6256329" y="75442"/>
                </a:lnTo>
                <a:lnTo>
                  <a:pt x="6217078" y="53255"/>
                </a:lnTo>
                <a:lnTo>
                  <a:pt x="6175713" y="34636"/>
                </a:lnTo>
                <a:lnTo>
                  <a:pt x="6132440" y="19794"/>
                </a:lnTo>
                <a:lnTo>
                  <a:pt x="6087467" y="8935"/>
                </a:lnTo>
                <a:lnTo>
                  <a:pt x="6041004" y="2268"/>
                </a:lnTo>
                <a:lnTo>
                  <a:pt x="5993257" y="0"/>
                </a:lnTo>
                <a:close/>
              </a:path>
            </a:pathLst>
          </a:custGeom>
          <a:solidFill>
            <a:srgbClr val="282C5E"/>
          </a:solidFill>
        </p:spPr>
        <p:txBody>
          <a:bodyPr wrap="square" lIns="0" tIns="0" rIns="0" bIns="0" rtlCol="0"/>
          <a:lstStyle/>
          <a:p>
            <a:pPr marL="0" indent="0" algn="l">
              <a:lnSpc>
                <a:spcPts val="3000"/>
              </a:lnSpc>
              <a:buNone/>
            </a:pPr>
            <a:r>
              <a:rPr lang="en-US" sz="2400" b="1" dirty="0">
                <a:solidFill>
                  <a:srgbClr val="E5DCE6"/>
                </a:solidFill>
                <a:latin typeface="Bricolage Grotesque Extra Bold" pitchFamily="34" charset="0"/>
                <a:ea typeface="Bricolage Grotesque Extra Bold" pitchFamily="34" charset="-122"/>
                <a:cs typeface="Bricolage Grotesque Extra Bold" pitchFamily="34" charset="-120"/>
              </a:rPr>
              <a:t>Technique: Tesseract OCR</a:t>
            </a:r>
            <a:endParaRPr lang="en-US" sz="2400" dirty="0"/>
          </a:p>
        </p:txBody>
      </p:sp>
      <p:sp>
        <p:nvSpPr>
          <p:cNvPr id="5" name="object 5"/>
          <p:cNvSpPr txBox="1"/>
          <p:nvPr/>
        </p:nvSpPr>
        <p:spPr>
          <a:xfrm>
            <a:off x="711200" y="679971"/>
            <a:ext cx="4089400" cy="320601"/>
          </a:xfrm>
          <a:prstGeom prst="rect">
            <a:avLst/>
          </a:prstGeom>
        </p:spPr>
        <p:txBody>
          <a:bodyPr vert="horz" wrap="square" lIns="0" tIns="12700" rIns="0" bIns="0" rtlCol="0">
            <a:spAutoFit/>
          </a:bodyPr>
          <a:lstStyle/>
          <a:p>
            <a:pPr marL="0" indent="0" algn="l">
              <a:lnSpc>
                <a:spcPts val="2500"/>
              </a:lnSpc>
              <a:buNone/>
            </a:pPr>
            <a:r>
              <a:rPr lang="en-US" sz="2000" b="1" dirty="0">
                <a:solidFill>
                  <a:srgbClr val="EEAEF6"/>
                </a:solidFill>
                <a:latin typeface="Bricolage Grotesque Extra Bold" pitchFamily="34" charset="0"/>
                <a:ea typeface="Bricolage Grotesque Extra Bold" pitchFamily="34" charset="-122"/>
                <a:cs typeface="Bricolage Grotesque Extra Bold" pitchFamily="34" charset="-120"/>
              </a:rPr>
              <a:t>The Core Intelligence</a:t>
            </a:r>
            <a:endParaRPr lang="en-US" sz="2000" dirty="0"/>
          </a:p>
        </p:txBody>
      </p:sp>
      <p:sp>
        <p:nvSpPr>
          <p:cNvPr id="6" name="object 6"/>
          <p:cNvSpPr txBox="1">
            <a:spLocks noGrp="1"/>
          </p:cNvSpPr>
          <p:nvPr>
            <p:ph type="title"/>
          </p:nvPr>
        </p:nvSpPr>
        <p:spPr>
          <a:xfrm>
            <a:off x="711200" y="1356105"/>
            <a:ext cx="10414000" cy="636713"/>
          </a:xfrm>
          <a:prstGeom prst="rect">
            <a:avLst/>
          </a:prstGeom>
        </p:spPr>
        <p:txBody>
          <a:bodyPr vert="horz" wrap="square" lIns="0" tIns="13335" rIns="0" bIns="0" rtlCol="0">
            <a:spAutoFit/>
          </a:bodyPr>
          <a:lstStyle/>
          <a:p>
            <a:pPr marL="12700">
              <a:lnSpc>
                <a:spcPct val="100000"/>
              </a:lnSpc>
              <a:spcBef>
                <a:spcPts val="105"/>
              </a:spcBef>
            </a:pPr>
            <a:r>
              <a:rPr sz="4050" b="1" dirty="0"/>
              <a:t>The</a:t>
            </a:r>
            <a:r>
              <a:rPr sz="4050" b="1" spc="-45" dirty="0"/>
              <a:t> </a:t>
            </a:r>
            <a:r>
              <a:rPr sz="4050" b="1" dirty="0"/>
              <a:t>"</a:t>
            </a:r>
            <a:r>
              <a:rPr sz="4050" b="1" dirty="0">
                <a:latin typeface="Bricolage Grotesque Extra Bold" panose="02000000000000000000" charset="-120"/>
                <a:ea typeface="Bricolage Grotesque Extra Bold" panose="02000000000000000000" charset="-120"/>
                <a:cs typeface="Bricolage Grotesque Extra Bold" panose="02000000000000000000" charset="-120"/>
              </a:rPr>
              <a:t>Hybrid</a:t>
            </a:r>
            <a:r>
              <a:rPr sz="4050" b="1" spc="-35" dirty="0"/>
              <a:t> </a:t>
            </a:r>
            <a:r>
              <a:rPr sz="4050" b="1" dirty="0"/>
              <a:t>Brain"</a:t>
            </a:r>
            <a:r>
              <a:rPr sz="4050" b="1" spc="-50" dirty="0"/>
              <a:t> </a:t>
            </a:r>
            <a:r>
              <a:rPr sz="4050" b="1" dirty="0"/>
              <a:t>-</a:t>
            </a:r>
            <a:r>
              <a:rPr sz="4050" b="1" spc="-40" dirty="0"/>
              <a:t> </a:t>
            </a:r>
            <a:r>
              <a:rPr sz="4050" b="1" dirty="0"/>
              <a:t>Part</a:t>
            </a:r>
            <a:r>
              <a:rPr sz="4050" b="1" spc="-30" dirty="0"/>
              <a:t> </a:t>
            </a:r>
            <a:r>
              <a:rPr sz="4050" b="1" dirty="0"/>
              <a:t>2:</a:t>
            </a:r>
            <a:r>
              <a:rPr sz="4050" b="1" spc="-45" dirty="0"/>
              <a:t> </a:t>
            </a:r>
            <a:r>
              <a:rPr sz="4050" b="1" dirty="0"/>
              <a:t>The</a:t>
            </a:r>
            <a:r>
              <a:rPr sz="4050" b="1" spc="-30" dirty="0"/>
              <a:t> </a:t>
            </a:r>
            <a:r>
              <a:rPr sz="4050" b="1" spc="-25" dirty="0"/>
              <a:t>OCR</a:t>
            </a:r>
            <a:endParaRPr sz="4050" b="1" dirty="0"/>
          </a:p>
        </p:txBody>
      </p:sp>
      <p:sp>
        <p:nvSpPr>
          <p:cNvPr id="11" name="TextBox 10">
            <a:extLst>
              <a:ext uri="{FF2B5EF4-FFF2-40B4-BE49-F238E27FC236}">
                <a16:creationId xmlns:a16="http://schemas.microsoft.com/office/drawing/2014/main" id="{C23DABE4-ECF6-47C0-ACDF-1CFCF630AE72}"/>
              </a:ext>
            </a:extLst>
          </p:cNvPr>
          <p:cNvSpPr txBox="1"/>
          <p:nvPr/>
        </p:nvSpPr>
        <p:spPr>
          <a:xfrm>
            <a:off x="686881" y="2803333"/>
            <a:ext cx="6084653" cy="1395254"/>
          </a:xfrm>
          <a:prstGeom prst="rect">
            <a:avLst/>
          </a:prstGeom>
          <a:noFill/>
        </p:spPr>
        <p:txBody>
          <a:bodyPr wrap="square">
            <a:spAutoFit/>
          </a:bodyPr>
          <a:lstStyle/>
          <a:p>
            <a:pPr marL="0" indent="0" algn="l">
              <a:lnSpc>
                <a:spcPts val="2600"/>
              </a:lnSpc>
              <a:buNone/>
            </a:pPr>
            <a:r>
              <a:rPr lang="en-US" sz="1800" dirty="0">
                <a:solidFill>
                  <a:srgbClr val="E5DCE6"/>
                </a:solidFill>
                <a:latin typeface="Montserrat" pitchFamily="34" charset="0"/>
                <a:ea typeface="Montserrat" pitchFamily="34" charset="-122"/>
                <a:cs typeface="Montserrat" pitchFamily="34" charset="-120"/>
              </a:rPr>
              <a:t>The Optical Character Recognition (OCR) component's primary function is to identify </a:t>
            </a:r>
            <a:r>
              <a:rPr lang="en-US" sz="1800" b="1" dirty="0">
                <a:solidFill>
                  <a:srgbClr val="E5DCE6"/>
                </a:solidFill>
                <a:latin typeface="Montserrat" pitchFamily="34" charset="0"/>
                <a:ea typeface="Montserrat" pitchFamily="34" charset="-122"/>
                <a:cs typeface="Montserrat" pitchFamily="34" charset="-120"/>
              </a:rPr>
              <a:t>logical inconsistencies</a:t>
            </a:r>
            <a:r>
              <a:rPr lang="en-US" sz="1800" dirty="0">
                <a:solidFill>
                  <a:srgbClr val="E5DCE6"/>
                </a:solidFill>
                <a:latin typeface="Montserrat" pitchFamily="34" charset="0"/>
                <a:ea typeface="Montserrat" pitchFamily="34" charset="-122"/>
                <a:cs typeface="Montserrat" pitchFamily="34" charset="-120"/>
              </a:rPr>
              <a:t> within the text extracted from the screenshot, catching errors that visual inspection might miss.</a:t>
            </a:r>
            <a:endParaRPr lang="en-US" sz="1800" dirty="0"/>
          </a:p>
        </p:txBody>
      </p:sp>
      <p:sp>
        <p:nvSpPr>
          <p:cNvPr id="13" name="TextBox 12">
            <a:extLst>
              <a:ext uri="{FF2B5EF4-FFF2-40B4-BE49-F238E27FC236}">
                <a16:creationId xmlns:a16="http://schemas.microsoft.com/office/drawing/2014/main" id="{12C8A874-9E08-4961-ABAA-5DF3AFC63DE9}"/>
              </a:ext>
            </a:extLst>
          </p:cNvPr>
          <p:cNvSpPr txBox="1"/>
          <p:nvPr/>
        </p:nvSpPr>
        <p:spPr>
          <a:xfrm>
            <a:off x="7564119" y="2970045"/>
            <a:ext cx="6019800" cy="1061829"/>
          </a:xfrm>
          <a:prstGeom prst="rect">
            <a:avLst/>
          </a:prstGeom>
          <a:noFill/>
        </p:spPr>
        <p:txBody>
          <a:bodyPr wrap="square">
            <a:spAutoFit/>
          </a:bodyPr>
          <a:lstStyle/>
          <a:p>
            <a:pPr marL="0" indent="0" algn="l">
              <a:lnSpc>
                <a:spcPts val="2600"/>
              </a:lnSpc>
              <a:buNone/>
            </a:pPr>
            <a:r>
              <a:rPr lang="en-US" sz="1800" dirty="0">
                <a:solidFill>
                  <a:srgbClr val="E5DCE6"/>
                </a:solidFill>
                <a:latin typeface="Montserrat" pitchFamily="34" charset="0"/>
                <a:ea typeface="Montserrat" pitchFamily="34" charset="-122"/>
                <a:cs typeface="Montserrat" pitchFamily="34" charset="-120"/>
              </a:rPr>
              <a:t>We employ </a:t>
            </a:r>
            <a:r>
              <a:rPr lang="en-US" sz="1800" b="1" dirty="0">
                <a:solidFill>
                  <a:srgbClr val="E5DCE6"/>
                </a:solidFill>
                <a:latin typeface="Montserrat" pitchFamily="34" charset="0"/>
                <a:ea typeface="Montserrat" pitchFamily="34" charset="-122"/>
                <a:cs typeface="Montserrat" pitchFamily="34" charset="-120"/>
              </a:rPr>
              <a:t>Tesseract OCR</a:t>
            </a:r>
            <a:r>
              <a:rPr lang="en-US" sz="1800" dirty="0">
                <a:solidFill>
                  <a:srgbClr val="E5DCE6"/>
                </a:solidFill>
                <a:latin typeface="Montserrat" pitchFamily="34" charset="0"/>
                <a:ea typeface="Montserrat" pitchFamily="34" charset="-122"/>
                <a:cs typeface="Montserrat" pitchFamily="34" charset="-120"/>
              </a:rPr>
              <a:t>, a powerful open-source engine, to accurately "read" and extract textual data from the UPI transaction screenshots.</a:t>
            </a:r>
            <a:endParaRPr lang="en-US" sz="1800" dirty="0"/>
          </a:p>
        </p:txBody>
      </p:sp>
      <p:sp>
        <p:nvSpPr>
          <p:cNvPr id="15" name="TextBox 14">
            <a:extLst>
              <a:ext uri="{FF2B5EF4-FFF2-40B4-BE49-F238E27FC236}">
                <a16:creationId xmlns:a16="http://schemas.microsoft.com/office/drawing/2014/main" id="{87FFB01D-55B0-4F53-8B58-CD92501E5199}"/>
              </a:ext>
            </a:extLst>
          </p:cNvPr>
          <p:cNvSpPr txBox="1"/>
          <p:nvPr/>
        </p:nvSpPr>
        <p:spPr>
          <a:xfrm>
            <a:off x="381000" y="4892376"/>
            <a:ext cx="11734800" cy="394980"/>
          </a:xfrm>
          <a:prstGeom prst="rect">
            <a:avLst/>
          </a:prstGeom>
          <a:noFill/>
        </p:spPr>
        <p:txBody>
          <a:bodyPr wrap="square">
            <a:spAutoFit/>
          </a:bodyPr>
          <a:lstStyle/>
          <a:p>
            <a:pPr marL="0" indent="0" algn="l">
              <a:lnSpc>
                <a:spcPts val="2600"/>
              </a:lnSpc>
              <a:buNone/>
            </a:pPr>
            <a:r>
              <a:rPr lang="en-US" sz="1800" dirty="0">
                <a:solidFill>
                  <a:srgbClr val="E5DCE6"/>
                </a:solidFill>
                <a:latin typeface="Montserrat" pitchFamily="34" charset="0"/>
                <a:ea typeface="Montserrat" pitchFamily="34" charset="-122"/>
                <a:cs typeface="Montserrat" pitchFamily="34" charset="-120"/>
              </a:rPr>
              <a:t>After extracting the text, we apply a rule-based check to validate key transaction details:</a:t>
            </a:r>
            <a:endParaRPr lang="en-US" sz="1800" dirty="0"/>
          </a:p>
        </p:txBody>
      </p:sp>
      <p:sp>
        <p:nvSpPr>
          <p:cNvPr id="17" name="TextBox 16">
            <a:extLst>
              <a:ext uri="{FF2B5EF4-FFF2-40B4-BE49-F238E27FC236}">
                <a16:creationId xmlns:a16="http://schemas.microsoft.com/office/drawing/2014/main" id="{0720E98C-C4E4-499B-9C53-9AC5CFBE39A8}"/>
              </a:ext>
            </a:extLst>
          </p:cNvPr>
          <p:cNvSpPr txBox="1"/>
          <p:nvPr/>
        </p:nvSpPr>
        <p:spPr>
          <a:xfrm>
            <a:off x="602545" y="5224393"/>
            <a:ext cx="14972530" cy="398571"/>
          </a:xfrm>
          <a:prstGeom prst="rect">
            <a:avLst/>
          </a:prstGeom>
          <a:noFill/>
        </p:spPr>
        <p:txBody>
          <a:bodyPr wrap="square">
            <a:spAutoFit/>
          </a:bodyPr>
          <a:lstStyle/>
          <a:p>
            <a:pPr marL="342900" indent="-342900" algn="l">
              <a:lnSpc>
                <a:spcPts val="2600"/>
              </a:lnSpc>
              <a:buSzPct val="100000"/>
              <a:buChar char="•"/>
            </a:pPr>
            <a:r>
              <a:rPr lang="en-US" sz="1600" b="1" dirty="0">
                <a:solidFill>
                  <a:srgbClr val="E5DCE6"/>
                </a:solidFill>
                <a:latin typeface="Montserrat" pitchFamily="34" charset="0"/>
                <a:ea typeface="Montserrat" pitchFamily="34" charset="-122"/>
                <a:cs typeface="Montserrat" pitchFamily="34" charset="-120"/>
              </a:rPr>
              <a:t>UTR/Transaction ID Validation:</a:t>
            </a:r>
            <a:r>
              <a:rPr lang="en-US" sz="1600" dirty="0">
                <a:solidFill>
                  <a:srgbClr val="E5DCE6"/>
                </a:solidFill>
                <a:latin typeface="Montserrat" pitchFamily="34" charset="0"/>
                <a:ea typeface="Montserrat" pitchFamily="34" charset="-122"/>
                <a:cs typeface="Montserrat" pitchFamily="34" charset="-120"/>
              </a:rPr>
              <a:t> Verifying the existence and format of the Unique Transaction Reference (UTR) or Transaction ID.</a:t>
            </a:r>
            <a:endParaRPr lang="en-US" sz="1600" dirty="0"/>
          </a:p>
        </p:txBody>
      </p:sp>
      <p:sp>
        <p:nvSpPr>
          <p:cNvPr id="19" name="TextBox 18">
            <a:extLst>
              <a:ext uri="{FF2B5EF4-FFF2-40B4-BE49-F238E27FC236}">
                <a16:creationId xmlns:a16="http://schemas.microsoft.com/office/drawing/2014/main" id="{39A37046-5767-4731-965B-7B1119CF1E06}"/>
              </a:ext>
            </a:extLst>
          </p:cNvPr>
          <p:cNvSpPr txBox="1"/>
          <p:nvPr/>
        </p:nvSpPr>
        <p:spPr>
          <a:xfrm>
            <a:off x="605788" y="5699655"/>
            <a:ext cx="13491211" cy="398571"/>
          </a:xfrm>
          <a:prstGeom prst="rect">
            <a:avLst/>
          </a:prstGeom>
          <a:noFill/>
        </p:spPr>
        <p:txBody>
          <a:bodyPr wrap="square">
            <a:spAutoFit/>
          </a:bodyPr>
          <a:lstStyle/>
          <a:p>
            <a:pPr marL="342900" indent="-342900" algn="l">
              <a:lnSpc>
                <a:spcPts val="2600"/>
              </a:lnSpc>
              <a:buSzPct val="100000"/>
              <a:buChar char="•"/>
            </a:pPr>
            <a:r>
              <a:rPr lang="en-US" sz="1600" b="1" dirty="0">
                <a:solidFill>
                  <a:srgbClr val="E5DCE6"/>
                </a:solidFill>
                <a:latin typeface="Montserrat" pitchFamily="34" charset="0"/>
                <a:ea typeface="Montserrat" pitchFamily="34" charset="-122"/>
                <a:cs typeface="Montserrat" pitchFamily="34" charset="-120"/>
              </a:rPr>
              <a:t>Format Check:</a:t>
            </a:r>
            <a:r>
              <a:rPr lang="en-US" sz="1600" dirty="0">
                <a:solidFill>
                  <a:srgbClr val="E5DCE6"/>
                </a:solidFill>
                <a:latin typeface="Montserrat" pitchFamily="34" charset="0"/>
                <a:ea typeface="Montserrat" pitchFamily="34" charset="-122"/>
                <a:cs typeface="Montserrat" pitchFamily="34" charset="-120"/>
              </a:rPr>
              <a:t> Ensuring the UTR adheres to standard formats (e.g., a 12-digit numeric sequence).</a:t>
            </a:r>
            <a:endParaRPr lang="en-US" sz="1600" dirty="0"/>
          </a:p>
        </p:txBody>
      </p:sp>
      <p:sp>
        <p:nvSpPr>
          <p:cNvPr id="21" name="TextBox 20">
            <a:extLst>
              <a:ext uri="{FF2B5EF4-FFF2-40B4-BE49-F238E27FC236}">
                <a16:creationId xmlns:a16="http://schemas.microsoft.com/office/drawing/2014/main" id="{A2B9EC4B-DF8F-4AA9-9E37-18F10365A30E}"/>
              </a:ext>
            </a:extLst>
          </p:cNvPr>
          <p:cNvSpPr txBox="1"/>
          <p:nvPr/>
        </p:nvSpPr>
        <p:spPr>
          <a:xfrm>
            <a:off x="555528" y="6114862"/>
            <a:ext cx="15751271" cy="398571"/>
          </a:xfrm>
          <a:prstGeom prst="rect">
            <a:avLst/>
          </a:prstGeom>
          <a:noFill/>
        </p:spPr>
        <p:txBody>
          <a:bodyPr wrap="square">
            <a:spAutoFit/>
          </a:bodyPr>
          <a:lstStyle/>
          <a:p>
            <a:pPr marL="342900" indent="-342900" algn="l">
              <a:lnSpc>
                <a:spcPts val="2600"/>
              </a:lnSpc>
              <a:buSzPct val="100000"/>
              <a:buChar char="•"/>
            </a:pPr>
            <a:r>
              <a:rPr lang="en-US" sz="1600" b="1" dirty="0">
                <a:solidFill>
                  <a:srgbClr val="E5DCE6"/>
                </a:solidFill>
                <a:latin typeface="Montserrat" pitchFamily="34" charset="0"/>
                <a:ea typeface="Montserrat" pitchFamily="34" charset="-122"/>
                <a:cs typeface="Montserrat" pitchFamily="34" charset="-120"/>
              </a:rPr>
              <a:t>Date Verification:</a:t>
            </a:r>
            <a:r>
              <a:rPr lang="en-US" sz="1600" dirty="0">
                <a:solidFill>
                  <a:srgbClr val="E5DCE6"/>
                </a:solidFill>
                <a:latin typeface="Montserrat" pitchFamily="34" charset="0"/>
                <a:ea typeface="Montserrat" pitchFamily="34" charset="-122"/>
                <a:cs typeface="Montserrat" pitchFamily="34" charset="-120"/>
              </a:rPr>
              <a:t> Crucially, checking that the transaction date is not a </a:t>
            </a:r>
            <a:r>
              <a:rPr lang="en-US" sz="1600" i="1" dirty="0">
                <a:solidFill>
                  <a:srgbClr val="E5DCE6"/>
                </a:solidFill>
                <a:latin typeface="Montserrat" pitchFamily="34" charset="0"/>
                <a:ea typeface="Montserrat" pitchFamily="34" charset="-122"/>
                <a:cs typeface="Montserrat" pitchFamily="34" charset="-120"/>
              </a:rPr>
              <a:t>future</a:t>
            </a:r>
            <a:r>
              <a:rPr lang="en-US" sz="1600" dirty="0">
                <a:solidFill>
                  <a:srgbClr val="E5DCE6"/>
                </a:solidFill>
                <a:latin typeface="Montserrat" pitchFamily="34" charset="0"/>
                <a:ea typeface="Montserrat" pitchFamily="34" charset="-122"/>
                <a:cs typeface="Montserrat" pitchFamily="34" charset="-120"/>
              </a:rPr>
              <a:t> date – a common logical flaw in fake screenshots.</a:t>
            </a:r>
            <a:endParaRPr lang="en-US" sz="1600" dirty="0"/>
          </a:p>
        </p:txBody>
      </p:sp>
      <p:sp>
        <p:nvSpPr>
          <p:cNvPr id="23" name="TextBox 22">
            <a:extLst>
              <a:ext uri="{FF2B5EF4-FFF2-40B4-BE49-F238E27FC236}">
                <a16:creationId xmlns:a16="http://schemas.microsoft.com/office/drawing/2014/main" id="{DB54C5EE-60E8-4F2A-92C5-00F7B49C62B1}"/>
              </a:ext>
            </a:extLst>
          </p:cNvPr>
          <p:cNvSpPr txBox="1"/>
          <p:nvPr/>
        </p:nvSpPr>
        <p:spPr>
          <a:xfrm>
            <a:off x="186447" y="6527162"/>
            <a:ext cx="13868400" cy="728405"/>
          </a:xfrm>
          <a:prstGeom prst="rect">
            <a:avLst/>
          </a:prstGeom>
          <a:noFill/>
        </p:spPr>
        <p:txBody>
          <a:bodyPr wrap="square">
            <a:spAutoFit/>
          </a:bodyPr>
          <a:lstStyle/>
          <a:p>
            <a:pPr marL="0" indent="0" algn="l">
              <a:lnSpc>
                <a:spcPts val="2600"/>
              </a:lnSpc>
              <a:buNone/>
            </a:pPr>
            <a:r>
              <a:rPr lang="en-US" sz="1600" dirty="0">
                <a:solidFill>
                  <a:srgbClr val="E5DCE6"/>
                </a:solidFill>
                <a:latin typeface="Montserrat" pitchFamily="34" charset="0"/>
                <a:ea typeface="Montserrat" pitchFamily="34" charset="-122"/>
                <a:cs typeface="Montserrat" pitchFamily="34" charset="-120"/>
              </a:rPr>
              <a:t>While a scammer might create a visually flawless fake, they often make </a:t>
            </a:r>
            <a:r>
              <a:rPr lang="en-US" sz="1600" b="1" dirty="0">
                <a:solidFill>
                  <a:srgbClr val="E5DCE6"/>
                </a:solidFill>
                <a:latin typeface="Montserrat" pitchFamily="34" charset="0"/>
                <a:ea typeface="Montserrat" pitchFamily="34" charset="-122"/>
                <a:cs typeface="Montserrat" pitchFamily="34" charset="-120"/>
              </a:rPr>
              <a:t>logical mistakes</a:t>
            </a:r>
            <a:r>
              <a:rPr lang="en-US" sz="1600" dirty="0">
                <a:solidFill>
                  <a:srgbClr val="E5DCE6"/>
                </a:solidFill>
                <a:latin typeface="Montserrat" pitchFamily="34" charset="0"/>
                <a:ea typeface="Montserrat" pitchFamily="34" charset="-122"/>
                <a:cs typeface="Montserrat" pitchFamily="34" charset="-120"/>
              </a:rPr>
              <a:t> in the data, which our OCR and rule engine are designed to catch.</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22223" y="466421"/>
            <a:ext cx="11939015" cy="818173"/>
          </a:xfrm>
          <a:prstGeom prst="rect">
            <a:avLst/>
          </a:prstGeom>
        </p:spPr>
        <p:txBody>
          <a:bodyPr vert="horz" wrap="square" lIns="0" tIns="254000" rIns="0" bIns="0" rtlCol="0">
            <a:spAutoFit/>
          </a:bodyPr>
          <a:lstStyle/>
          <a:p>
            <a:pPr marL="127635">
              <a:lnSpc>
                <a:spcPct val="100000"/>
              </a:lnSpc>
              <a:spcBef>
                <a:spcPts val="2000"/>
              </a:spcBef>
            </a:pPr>
            <a:r>
              <a:rPr lang="en-US" sz="3650" b="1" dirty="0">
                <a:latin typeface="Bricolage Grotesque Extra Bold" panose="02000000000000000000" charset="-120"/>
                <a:ea typeface="Bricolage Grotesque Extra Bold" panose="02000000000000000000" charset="-120"/>
                <a:cs typeface="Bricolage Grotesque Extra Bold" panose="02000000000000000000" charset="-120"/>
              </a:rPr>
              <a:t>Phase</a:t>
            </a:r>
            <a:r>
              <a:rPr lang="en-US" sz="3650" b="1" spc="-35" dirty="0">
                <a:latin typeface="Bricolage Grotesque Extra Bold" panose="02000000000000000000" charset="-120"/>
                <a:ea typeface="Bricolage Grotesque Extra Bold" panose="02000000000000000000" charset="-120"/>
                <a:cs typeface="Bricolage Grotesque Extra Bold" panose="02000000000000000000" charset="-120"/>
              </a:rPr>
              <a:t> </a:t>
            </a:r>
            <a:r>
              <a:rPr lang="en-US" sz="3650" b="1" dirty="0">
                <a:latin typeface="Bricolage Grotesque Extra Bold" panose="02000000000000000000" charset="-120"/>
                <a:ea typeface="Bricolage Grotesque Extra Bold" panose="02000000000000000000" charset="-120"/>
                <a:cs typeface="Bricolage Grotesque Extra Bold" panose="02000000000000000000" charset="-120"/>
              </a:rPr>
              <a:t>1:</a:t>
            </a:r>
            <a:r>
              <a:rPr lang="en-US" sz="3650" b="1" spc="-30" dirty="0">
                <a:latin typeface="Bricolage Grotesque Extra Bold" panose="02000000000000000000" charset="-120"/>
                <a:ea typeface="Bricolage Grotesque Extra Bold" panose="02000000000000000000" charset="-120"/>
                <a:cs typeface="Bricolage Grotesque Extra Bold" panose="02000000000000000000" charset="-120"/>
              </a:rPr>
              <a:t> </a:t>
            </a:r>
            <a:r>
              <a:rPr lang="en-US" sz="3650" b="1" dirty="0">
                <a:latin typeface="Bricolage Grotesque Extra Bold" panose="02000000000000000000" charset="-120"/>
                <a:ea typeface="Bricolage Grotesque Extra Bold" panose="02000000000000000000" charset="-120"/>
                <a:cs typeface="Bricolage Grotesque Extra Bold" panose="02000000000000000000" charset="-120"/>
              </a:rPr>
              <a:t>Data</a:t>
            </a:r>
            <a:r>
              <a:rPr lang="en-US" sz="3650" b="1" spc="-35" dirty="0">
                <a:latin typeface="Bricolage Grotesque Extra Bold" panose="02000000000000000000" charset="-120"/>
                <a:ea typeface="Bricolage Grotesque Extra Bold" panose="02000000000000000000" charset="-120"/>
                <a:cs typeface="Bricolage Grotesque Extra Bold" panose="02000000000000000000" charset="-120"/>
              </a:rPr>
              <a:t> </a:t>
            </a:r>
            <a:r>
              <a:rPr lang="en-US" sz="3650" b="1" dirty="0">
                <a:latin typeface="Bricolage Grotesque Extra Bold" panose="02000000000000000000" charset="-120"/>
                <a:ea typeface="Bricolage Grotesque Extra Bold" panose="02000000000000000000" charset="-120"/>
                <a:cs typeface="Bricolage Grotesque Extra Bold" panose="02000000000000000000" charset="-120"/>
              </a:rPr>
              <a:t>Pipeline</a:t>
            </a:r>
            <a:r>
              <a:rPr lang="en-US" sz="3650" b="1" spc="-30" dirty="0">
                <a:latin typeface="Bricolage Grotesque Extra Bold" panose="02000000000000000000" charset="-120"/>
                <a:ea typeface="Bricolage Grotesque Extra Bold" panose="02000000000000000000" charset="-120"/>
                <a:cs typeface="Bricolage Grotesque Extra Bold" panose="02000000000000000000" charset="-120"/>
              </a:rPr>
              <a:t> </a:t>
            </a:r>
            <a:r>
              <a:rPr lang="en-US" sz="3650" b="1" dirty="0">
                <a:latin typeface="Bricolage Grotesque Extra Bold" panose="02000000000000000000" charset="-120"/>
                <a:ea typeface="Bricolage Grotesque Extra Bold" panose="02000000000000000000" charset="-120"/>
                <a:cs typeface="Bricolage Grotesque Extra Bold" panose="02000000000000000000" charset="-120"/>
              </a:rPr>
              <a:t>&amp;</a:t>
            </a:r>
            <a:r>
              <a:rPr lang="en-US" sz="3650" b="1" spc="-35" dirty="0">
                <a:latin typeface="Bricolage Grotesque Extra Bold" panose="02000000000000000000" charset="-120"/>
                <a:ea typeface="Bricolage Grotesque Extra Bold" panose="02000000000000000000" charset="-120"/>
                <a:cs typeface="Bricolage Grotesque Extra Bold" panose="02000000000000000000" charset="-120"/>
              </a:rPr>
              <a:t> </a:t>
            </a:r>
            <a:r>
              <a:rPr lang="en-US" sz="3650" b="1" spc="-10" dirty="0">
                <a:latin typeface="Bricolage Grotesque Extra Bold" panose="02000000000000000000" charset="-120"/>
                <a:ea typeface="Bricolage Grotesque Extra Bold" panose="02000000000000000000" charset="-120"/>
                <a:cs typeface="Bricolage Grotesque Extra Bold" panose="02000000000000000000" charset="-120"/>
              </a:rPr>
              <a:t>Training</a:t>
            </a:r>
            <a:r>
              <a:rPr lang="en-US" sz="1450" spc="-10" dirty="0">
                <a:solidFill>
                  <a:srgbClr val="E4DCE6"/>
                </a:solidFill>
              </a:rPr>
              <a:t>.</a:t>
            </a:r>
            <a:endParaRPr lang="en-US" sz="1450" dirty="0"/>
          </a:p>
        </p:txBody>
      </p:sp>
      <p:grpSp>
        <p:nvGrpSpPr>
          <p:cNvPr id="6" name="object 6"/>
          <p:cNvGrpSpPr/>
          <p:nvPr/>
        </p:nvGrpSpPr>
        <p:grpSpPr>
          <a:xfrm>
            <a:off x="7483909" y="1910012"/>
            <a:ext cx="6574155" cy="1143000"/>
            <a:chOff x="7406640" y="1678051"/>
            <a:chExt cx="6574155" cy="1143000"/>
          </a:xfrm>
        </p:grpSpPr>
        <p:pic>
          <p:nvPicPr>
            <p:cNvPr id="7" name="object 7"/>
            <p:cNvPicPr/>
            <p:nvPr/>
          </p:nvPicPr>
          <p:blipFill>
            <a:blip r:embed="rId2" cstate="print"/>
            <a:stretch>
              <a:fillRect/>
            </a:stretch>
          </p:blipFill>
          <p:spPr>
            <a:xfrm>
              <a:off x="7406640" y="1678051"/>
              <a:ext cx="6574154" cy="1143000"/>
            </a:xfrm>
            <a:prstGeom prst="rect">
              <a:avLst/>
            </a:prstGeom>
          </p:spPr>
        </p:pic>
        <p:pic>
          <p:nvPicPr>
            <p:cNvPr id="8" name="object 8"/>
            <p:cNvPicPr/>
            <p:nvPr/>
          </p:nvPicPr>
          <p:blipFill>
            <a:blip r:embed="rId3" cstate="print"/>
            <a:stretch>
              <a:fillRect/>
            </a:stretch>
          </p:blipFill>
          <p:spPr>
            <a:xfrm>
              <a:off x="7605395" y="2499106"/>
              <a:ext cx="476250" cy="186817"/>
            </a:xfrm>
            <a:prstGeom prst="rect">
              <a:avLst/>
            </a:prstGeom>
          </p:spPr>
        </p:pic>
        <p:pic>
          <p:nvPicPr>
            <p:cNvPr id="9" name="object 9"/>
            <p:cNvPicPr/>
            <p:nvPr/>
          </p:nvPicPr>
          <p:blipFill>
            <a:blip r:embed="rId4" cstate="print"/>
            <a:stretch>
              <a:fillRect/>
            </a:stretch>
          </p:blipFill>
          <p:spPr>
            <a:xfrm>
              <a:off x="8167878" y="2499106"/>
              <a:ext cx="102107" cy="146431"/>
            </a:xfrm>
            <a:prstGeom prst="rect">
              <a:avLst/>
            </a:prstGeom>
          </p:spPr>
        </p:pic>
        <p:sp>
          <p:nvSpPr>
            <p:cNvPr id="10" name="object 10"/>
            <p:cNvSpPr/>
            <p:nvPr/>
          </p:nvSpPr>
          <p:spPr>
            <a:xfrm>
              <a:off x="8302625" y="2543302"/>
              <a:ext cx="16510" cy="103505"/>
            </a:xfrm>
            <a:custGeom>
              <a:avLst/>
              <a:gdLst/>
              <a:ahLst/>
              <a:cxnLst/>
              <a:rect l="l" t="t" r="r" b="b"/>
              <a:pathLst>
                <a:path w="16509" h="103505">
                  <a:moveTo>
                    <a:pt x="9651" y="0"/>
                  </a:moveTo>
                  <a:lnTo>
                    <a:pt x="6350" y="0"/>
                  </a:lnTo>
                  <a:lnTo>
                    <a:pt x="4952" y="253"/>
                  </a:lnTo>
                  <a:lnTo>
                    <a:pt x="3936" y="635"/>
                  </a:lnTo>
                  <a:lnTo>
                    <a:pt x="2794" y="1015"/>
                  </a:lnTo>
                  <a:lnTo>
                    <a:pt x="2031" y="1777"/>
                  </a:lnTo>
                  <a:lnTo>
                    <a:pt x="1397" y="2794"/>
                  </a:lnTo>
                  <a:lnTo>
                    <a:pt x="761" y="3683"/>
                  </a:lnTo>
                  <a:lnTo>
                    <a:pt x="253" y="5080"/>
                  </a:lnTo>
                  <a:lnTo>
                    <a:pt x="0" y="6731"/>
                  </a:lnTo>
                  <a:lnTo>
                    <a:pt x="0" y="19050"/>
                  </a:lnTo>
                  <a:lnTo>
                    <a:pt x="3936" y="25146"/>
                  </a:lnTo>
                  <a:lnTo>
                    <a:pt x="4952" y="25526"/>
                  </a:lnTo>
                  <a:lnTo>
                    <a:pt x="6350" y="25781"/>
                  </a:lnTo>
                  <a:lnTo>
                    <a:pt x="9651" y="25781"/>
                  </a:lnTo>
                  <a:lnTo>
                    <a:pt x="11049" y="25526"/>
                  </a:lnTo>
                  <a:lnTo>
                    <a:pt x="13080" y="24764"/>
                  </a:lnTo>
                  <a:lnTo>
                    <a:pt x="13970" y="24002"/>
                  </a:lnTo>
                  <a:lnTo>
                    <a:pt x="14604" y="23113"/>
                  </a:lnTo>
                  <a:lnTo>
                    <a:pt x="15367" y="22098"/>
                  </a:lnTo>
                  <a:lnTo>
                    <a:pt x="15748" y="20700"/>
                  </a:lnTo>
                  <a:lnTo>
                    <a:pt x="16255" y="17399"/>
                  </a:lnTo>
                  <a:lnTo>
                    <a:pt x="16255" y="8382"/>
                  </a:lnTo>
                  <a:lnTo>
                    <a:pt x="15748" y="5080"/>
                  </a:lnTo>
                  <a:lnTo>
                    <a:pt x="15367" y="3683"/>
                  </a:lnTo>
                  <a:lnTo>
                    <a:pt x="14604" y="2794"/>
                  </a:lnTo>
                  <a:lnTo>
                    <a:pt x="13970" y="1777"/>
                  </a:lnTo>
                  <a:lnTo>
                    <a:pt x="13080" y="1015"/>
                  </a:lnTo>
                  <a:lnTo>
                    <a:pt x="11049" y="253"/>
                  </a:lnTo>
                  <a:lnTo>
                    <a:pt x="9651" y="0"/>
                  </a:lnTo>
                  <a:close/>
                </a:path>
                <a:path w="16509" h="103505">
                  <a:moveTo>
                    <a:pt x="9651" y="77597"/>
                  </a:moveTo>
                  <a:lnTo>
                    <a:pt x="6350" y="77597"/>
                  </a:lnTo>
                  <a:lnTo>
                    <a:pt x="4952" y="77850"/>
                  </a:lnTo>
                  <a:lnTo>
                    <a:pt x="3936" y="78232"/>
                  </a:lnTo>
                  <a:lnTo>
                    <a:pt x="2794" y="78739"/>
                  </a:lnTo>
                  <a:lnTo>
                    <a:pt x="2031" y="79375"/>
                  </a:lnTo>
                  <a:lnTo>
                    <a:pt x="1397" y="80390"/>
                  </a:lnTo>
                  <a:lnTo>
                    <a:pt x="761" y="81280"/>
                  </a:lnTo>
                  <a:lnTo>
                    <a:pt x="253" y="82676"/>
                  </a:lnTo>
                  <a:lnTo>
                    <a:pt x="0" y="84327"/>
                  </a:lnTo>
                  <a:lnTo>
                    <a:pt x="0" y="96647"/>
                  </a:lnTo>
                  <a:lnTo>
                    <a:pt x="3936" y="102743"/>
                  </a:lnTo>
                  <a:lnTo>
                    <a:pt x="4952" y="103124"/>
                  </a:lnTo>
                  <a:lnTo>
                    <a:pt x="6350" y="103377"/>
                  </a:lnTo>
                  <a:lnTo>
                    <a:pt x="9651" y="103377"/>
                  </a:lnTo>
                  <a:lnTo>
                    <a:pt x="11049" y="103124"/>
                  </a:lnTo>
                  <a:lnTo>
                    <a:pt x="13080" y="102362"/>
                  </a:lnTo>
                  <a:lnTo>
                    <a:pt x="13970" y="101600"/>
                  </a:lnTo>
                  <a:lnTo>
                    <a:pt x="14604" y="100584"/>
                  </a:lnTo>
                  <a:lnTo>
                    <a:pt x="15367" y="99568"/>
                  </a:lnTo>
                  <a:lnTo>
                    <a:pt x="15748" y="98298"/>
                  </a:lnTo>
                  <a:lnTo>
                    <a:pt x="16255" y="94996"/>
                  </a:lnTo>
                  <a:lnTo>
                    <a:pt x="16255" y="85978"/>
                  </a:lnTo>
                  <a:lnTo>
                    <a:pt x="15748" y="82676"/>
                  </a:lnTo>
                  <a:lnTo>
                    <a:pt x="15367" y="81280"/>
                  </a:lnTo>
                  <a:lnTo>
                    <a:pt x="14604" y="80390"/>
                  </a:lnTo>
                  <a:lnTo>
                    <a:pt x="13970" y="79375"/>
                  </a:lnTo>
                  <a:lnTo>
                    <a:pt x="13080" y="78739"/>
                  </a:lnTo>
                  <a:lnTo>
                    <a:pt x="12065" y="78232"/>
                  </a:lnTo>
                  <a:lnTo>
                    <a:pt x="11049" y="77850"/>
                  </a:lnTo>
                  <a:lnTo>
                    <a:pt x="9651" y="77597"/>
                  </a:lnTo>
                  <a:close/>
                </a:path>
              </a:pathLst>
            </a:custGeom>
            <a:solidFill>
              <a:srgbClr val="E4DCE6"/>
            </a:solidFill>
          </p:spPr>
          <p:txBody>
            <a:bodyPr wrap="square" lIns="0" tIns="0" rIns="0" bIns="0" rtlCol="0"/>
            <a:lstStyle/>
            <a:p>
              <a:endParaRPr/>
            </a:p>
          </p:txBody>
        </p:sp>
        <p:pic>
          <p:nvPicPr>
            <p:cNvPr id="11" name="object 11"/>
            <p:cNvPicPr/>
            <p:nvPr/>
          </p:nvPicPr>
          <p:blipFill>
            <a:blip r:embed="rId5" cstate="print"/>
            <a:stretch>
              <a:fillRect/>
            </a:stretch>
          </p:blipFill>
          <p:spPr>
            <a:xfrm>
              <a:off x="8400547" y="2497582"/>
              <a:ext cx="1587367" cy="188721"/>
            </a:xfrm>
            <a:prstGeom prst="rect">
              <a:avLst/>
            </a:prstGeom>
          </p:spPr>
        </p:pic>
      </p:grpSp>
      <p:sp>
        <p:nvSpPr>
          <p:cNvPr id="30" name="TextBox 29">
            <a:extLst>
              <a:ext uri="{FF2B5EF4-FFF2-40B4-BE49-F238E27FC236}">
                <a16:creationId xmlns:a16="http://schemas.microsoft.com/office/drawing/2014/main" id="{83E99EE8-1FBB-49E8-B33D-4F3A20C03C5D}"/>
              </a:ext>
            </a:extLst>
          </p:cNvPr>
          <p:cNvSpPr txBox="1"/>
          <p:nvPr/>
        </p:nvSpPr>
        <p:spPr>
          <a:xfrm>
            <a:off x="481271" y="217644"/>
            <a:ext cx="7315200" cy="367280"/>
          </a:xfrm>
          <a:prstGeom prst="rect">
            <a:avLst/>
          </a:prstGeom>
          <a:noFill/>
        </p:spPr>
        <p:txBody>
          <a:bodyPr wrap="square">
            <a:spAutoFit/>
          </a:bodyPr>
          <a:lstStyle/>
          <a:p>
            <a:pPr marL="0" indent="0" algn="l">
              <a:lnSpc>
                <a:spcPts val="2250"/>
              </a:lnSpc>
              <a:buNone/>
            </a:pPr>
            <a:r>
              <a:rPr lang="en-US" sz="1800" b="1" dirty="0">
                <a:solidFill>
                  <a:srgbClr val="EEAEF6"/>
                </a:solidFill>
                <a:latin typeface="Bricolage Grotesque Extra Bold" pitchFamily="34" charset="0"/>
                <a:ea typeface="Bricolage Grotesque Extra Bold" pitchFamily="34" charset="-122"/>
                <a:cs typeface="Bricolage Grotesque Extra Bold" pitchFamily="34" charset="-120"/>
              </a:rPr>
              <a:t>Building the Foundation</a:t>
            </a:r>
            <a:endParaRPr lang="en-US" sz="1800" dirty="0"/>
          </a:p>
        </p:txBody>
      </p:sp>
      <p:sp>
        <p:nvSpPr>
          <p:cNvPr id="32" name="TextBox 31">
            <a:extLst>
              <a:ext uri="{FF2B5EF4-FFF2-40B4-BE49-F238E27FC236}">
                <a16:creationId xmlns:a16="http://schemas.microsoft.com/office/drawing/2014/main" id="{47AFF292-3A68-4A02-9E4A-FFF49B4DF92C}"/>
              </a:ext>
            </a:extLst>
          </p:cNvPr>
          <p:cNvSpPr txBox="1"/>
          <p:nvPr/>
        </p:nvSpPr>
        <p:spPr>
          <a:xfrm>
            <a:off x="505089" y="1281976"/>
            <a:ext cx="14658711" cy="358816"/>
          </a:xfrm>
          <a:prstGeom prst="rect">
            <a:avLst/>
          </a:prstGeom>
          <a:noFill/>
        </p:spPr>
        <p:txBody>
          <a:bodyPr wrap="square">
            <a:spAutoFit/>
          </a:bodyPr>
          <a:lstStyle/>
          <a:p>
            <a:pPr marL="0" indent="0" algn="l">
              <a:lnSpc>
                <a:spcPts val="2300"/>
              </a:lnSpc>
              <a:buNone/>
            </a:pPr>
            <a:r>
              <a:rPr lang="en-US" sz="1450" dirty="0">
                <a:solidFill>
                  <a:srgbClr val="E5DCE6"/>
                </a:solidFill>
                <a:latin typeface="Montserrat" pitchFamily="34" charset="0"/>
                <a:ea typeface="Montserrat" pitchFamily="34" charset="-122"/>
                <a:cs typeface="Montserrat" pitchFamily="34" charset="-120"/>
              </a:rPr>
              <a:t>A critical challenge was the absence of a public dataset for "fake UPI screenshots," necessitating a bespoke data generation process.</a:t>
            </a:r>
            <a:endParaRPr lang="en-US" sz="1450" dirty="0"/>
          </a:p>
        </p:txBody>
      </p:sp>
      <p:grpSp>
        <p:nvGrpSpPr>
          <p:cNvPr id="38" name="object 12">
            <a:extLst>
              <a:ext uri="{FF2B5EF4-FFF2-40B4-BE49-F238E27FC236}">
                <a16:creationId xmlns:a16="http://schemas.microsoft.com/office/drawing/2014/main" id="{0AB2CD34-D4E3-4043-B263-3010793EA443}"/>
              </a:ext>
            </a:extLst>
          </p:cNvPr>
          <p:cNvGrpSpPr/>
          <p:nvPr/>
        </p:nvGrpSpPr>
        <p:grpSpPr>
          <a:xfrm>
            <a:off x="664985" y="1968389"/>
            <a:ext cx="6574155" cy="1143000"/>
            <a:chOff x="649605" y="2834513"/>
            <a:chExt cx="6574155" cy="1143000"/>
          </a:xfrm>
        </p:grpSpPr>
        <p:pic>
          <p:nvPicPr>
            <p:cNvPr id="39" name="object 13">
              <a:extLst>
                <a:ext uri="{FF2B5EF4-FFF2-40B4-BE49-F238E27FC236}">
                  <a16:creationId xmlns:a16="http://schemas.microsoft.com/office/drawing/2014/main" id="{7451D854-C809-4FDD-A8D3-A5A953C2EFB8}"/>
                </a:ext>
              </a:extLst>
            </p:cNvPr>
            <p:cNvPicPr/>
            <p:nvPr/>
          </p:nvPicPr>
          <p:blipFill>
            <a:blip r:embed="rId2" cstate="print"/>
            <a:stretch>
              <a:fillRect/>
            </a:stretch>
          </p:blipFill>
          <p:spPr>
            <a:xfrm>
              <a:off x="649605" y="2834513"/>
              <a:ext cx="6574155" cy="1143000"/>
            </a:xfrm>
            <a:prstGeom prst="rect">
              <a:avLst/>
            </a:prstGeom>
          </p:spPr>
        </p:pic>
        <p:pic>
          <p:nvPicPr>
            <p:cNvPr id="40" name="object 14">
              <a:extLst>
                <a:ext uri="{FF2B5EF4-FFF2-40B4-BE49-F238E27FC236}">
                  <a16:creationId xmlns:a16="http://schemas.microsoft.com/office/drawing/2014/main" id="{ACDD8AA7-71DC-4476-A745-EF2F8E0650B5}"/>
                </a:ext>
              </a:extLst>
            </p:cNvPr>
            <p:cNvPicPr/>
            <p:nvPr/>
          </p:nvPicPr>
          <p:blipFill>
            <a:blip r:embed="rId6" cstate="print"/>
            <a:stretch>
              <a:fillRect/>
            </a:stretch>
          </p:blipFill>
          <p:spPr>
            <a:xfrm>
              <a:off x="844994" y="3655822"/>
              <a:ext cx="476186" cy="187198"/>
            </a:xfrm>
            <a:prstGeom prst="rect">
              <a:avLst/>
            </a:prstGeom>
          </p:spPr>
        </p:pic>
        <p:sp>
          <p:nvSpPr>
            <p:cNvPr id="41" name="object 15">
              <a:extLst>
                <a:ext uri="{FF2B5EF4-FFF2-40B4-BE49-F238E27FC236}">
                  <a16:creationId xmlns:a16="http://schemas.microsoft.com/office/drawing/2014/main" id="{29A89A0C-8D00-4F56-9177-334983444536}"/>
                </a:ext>
              </a:extLst>
            </p:cNvPr>
            <p:cNvSpPr/>
            <p:nvPr/>
          </p:nvSpPr>
          <p:spPr>
            <a:xfrm>
              <a:off x="1406144" y="3656964"/>
              <a:ext cx="93345" cy="146685"/>
            </a:xfrm>
            <a:custGeom>
              <a:avLst/>
              <a:gdLst/>
              <a:ahLst/>
              <a:cxnLst/>
              <a:rect l="l" t="t" r="r" b="b"/>
              <a:pathLst>
                <a:path w="93344" h="146685">
                  <a:moveTo>
                    <a:pt x="50419" y="137795"/>
                  </a:moveTo>
                  <a:lnTo>
                    <a:pt x="50292" y="134366"/>
                  </a:lnTo>
                  <a:lnTo>
                    <a:pt x="49530" y="131318"/>
                  </a:lnTo>
                  <a:lnTo>
                    <a:pt x="48641" y="130175"/>
                  </a:lnTo>
                  <a:lnTo>
                    <a:pt x="32258" y="130048"/>
                  </a:lnTo>
                  <a:lnTo>
                    <a:pt x="32258" y="3048"/>
                  </a:lnTo>
                  <a:lnTo>
                    <a:pt x="31750" y="1016"/>
                  </a:lnTo>
                  <a:lnTo>
                    <a:pt x="28956" y="0"/>
                  </a:lnTo>
                  <a:lnTo>
                    <a:pt x="24892" y="0"/>
                  </a:lnTo>
                  <a:lnTo>
                    <a:pt x="22479" y="762"/>
                  </a:lnTo>
                  <a:lnTo>
                    <a:pt x="1905" y="22606"/>
                  </a:lnTo>
                  <a:lnTo>
                    <a:pt x="635" y="24384"/>
                  </a:lnTo>
                  <a:lnTo>
                    <a:pt x="0" y="34163"/>
                  </a:lnTo>
                  <a:lnTo>
                    <a:pt x="508" y="37211"/>
                  </a:lnTo>
                  <a:lnTo>
                    <a:pt x="1524" y="38354"/>
                  </a:lnTo>
                  <a:lnTo>
                    <a:pt x="3175" y="37592"/>
                  </a:lnTo>
                  <a:lnTo>
                    <a:pt x="20828" y="20193"/>
                  </a:lnTo>
                  <a:lnTo>
                    <a:pt x="20828" y="130048"/>
                  </a:lnTo>
                  <a:lnTo>
                    <a:pt x="2413" y="130048"/>
                  </a:lnTo>
                  <a:lnTo>
                    <a:pt x="1397" y="130810"/>
                  </a:lnTo>
                  <a:lnTo>
                    <a:pt x="762" y="132588"/>
                  </a:lnTo>
                  <a:lnTo>
                    <a:pt x="254" y="136525"/>
                  </a:lnTo>
                  <a:lnTo>
                    <a:pt x="635" y="142367"/>
                  </a:lnTo>
                  <a:lnTo>
                    <a:pt x="1524" y="144780"/>
                  </a:lnTo>
                  <a:lnTo>
                    <a:pt x="2159" y="145288"/>
                  </a:lnTo>
                  <a:lnTo>
                    <a:pt x="48641" y="145288"/>
                  </a:lnTo>
                  <a:lnTo>
                    <a:pt x="49911" y="143129"/>
                  </a:lnTo>
                  <a:lnTo>
                    <a:pt x="50419" y="137795"/>
                  </a:lnTo>
                  <a:close/>
                </a:path>
                <a:path w="93344" h="146685">
                  <a:moveTo>
                    <a:pt x="92964" y="131064"/>
                  </a:moveTo>
                  <a:lnTo>
                    <a:pt x="92837" y="129032"/>
                  </a:lnTo>
                  <a:lnTo>
                    <a:pt x="92329" y="125730"/>
                  </a:lnTo>
                  <a:lnTo>
                    <a:pt x="91948" y="124333"/>
                  </a:lnTo>
                  <a:lnTo>
                    <a:pt x="91186" y="123444"/>
                  </a:lnTo>
                  <a:lnTo>
                    <a:pt x="90551" y="122428"/>
                  </a:lnTo>
                  <a:lnTo>
                    <a:pt x="89662" y="121793"/>
                  </a:lnTo>
                  <a:lnTo>
                    <a:pt x="88646" y="121285"/>
                  </a:lnTo>
                  <a:lnTo>
                    <a:pt x="87630" y="120904"/>
                  </a:lnTo>
                  <a:lnTo>
                    <a:pt x="86233" y="120650"/>
                  </a:lnTo>
                  <a:lnTo>
                    <a:pt x="82931" y="120650"/>
                  </a:lnTo>
                  <a:lnTo>
                    <a:pt x="77978" y="123444"/>
                  </a:lnTo>
                  <a:lnTo>
                    <a:pt x="77343" y="124333"/>
                  </a:lnTo>
                  <a:lnTo>
                    <a:pt x="76835" y="125730"/>
                  </a:lnTo>
                  <a:lnTo>
                    <a:pt x="76581" y="127381"/>
                  </a:lnTo>
                  <a:lnTo>
                    <a:pt x="76454" y="129032"/>
                  </a:lnTo>
                  <a:lnTo>
                    <a:pt x="76454" y="138049"/>
                  </a:lnTo>
                  <a:lnTo>
                    <a:pt x="80518" y="145796"/>
                  </a:lnTo>
                  <a:lnTo>
                    <a:pt x="81534" y="146177"/>
                  </a:lnTo>
                  <a:lnTo>
                    <a:pt x="82931" y="146431"/>
                  </a:lnTo>
                  <a:lnTo>
                    <a:pt x="86233" y="146431"/>
                  </a:lnTo>
                  <a:lnTo>
                    <a:pt x="87630" y="146177"/>
                  </a:lnTo>
                  <a:lnTo>
                    <a:pt x="89662" y="145415"/>
                  </a:lnTo>
                  <a:lnTo>
                    <a:pt x="90551" y="144653"/>
                  </a:lnTo>
                  <a:lnTo>
                    <a:pt x="91186" y="143637"/>
                  </a:lnTo>
                  <a:lnTo>
                    <a:pt x="91948" y="142621"/>
                  </a:lnTo>
                  <a:lnTo>
                    <a:pt x="92329" y="141351"/>
                  </a:lnTo>
                  <a:lnTo>
                    <a:pt x="92837" y="138049"/>
                  </a:lnTo>
                  <a:lnTo>
                    <a:pt x="92964" y="136017"/>
                  </a:lnTo>
                  <a:lnTo>
                    <a:pt x="92964" y="131064"/>
                  </a:lnTo>
                  <a:close/>
                </a:path>
                <a:path w="93344" h="146685">
                  <a:moveTo>
                    <a:pt x="92964" y="53594"/>
                  </a:moveTo>
                  <a:lnTo>
                    <a:pt x="92837" y="51435"/>
                  </a:lnTo>
                  <a:lnTo>
                    <a:pt x="92329" y="48133"/>
                  </a:lnTo>
                  <a:lnTo>
                    <a:pt x="91948" y="46736"/>
                  </a:lnTo>
                  <a:lnTo>
                    <a:pt x="91186" y="45847"/>
                  </a:lnTo>
                  <a:lnTo>
                    <a:pt x="90551" y="44831"/>
                  </a:lnTo>
                  <a:lnTo>
                    <a:pt x="89662" y="44069"/>
                  </a:lnTo>
                  <a:lnTo>
                    <a:pt x="87630" y="43307"/>
                  </a:lnTo>
                  <a:lnTo>
                    <a:pt x="86233" y="43053"/>
                  </a:lnTo>
                  <a:lnTo>
                    <a:pt x="82931" y="43053"/>
                  </a:lnTo>
                  <a:lnTo>
                    <a:pt x="81534" y="43307"/>
                  </a:lnTo>
                  <a:lnTo>
                    <a:pt x="80518" y="43688"/>
                  </a:lnTo>
                  <a:lnTo>
                    <a:pt x="79375" y="44069"/>
                  </a:lnTo>
                  <a:lnTo>
                    <a:pt x="78613" y="44831"/>
                  </a:lnTo>
                  <a:lnTo>
                    <a:pt x="77978" y="45847"/>
                  </a:lnTo>
                  <a:lnTo>
                    <a:pt x="77343" y="46736"/>
                  </a:lnTo>
                  <a:lnTo>
                    <a:pt x="76835" y="48133"/>
                  </a:lnTo>
                  <a:lnTo>
                    <a:pt x="76581" y="49784"/>
                  </a:lnTo>
                  <a:lnTo>
                    <a:pt x="76454" y="51435"/>
                  </a:lnTo>
                  <a:lnTo>
                    <a:pt x="76454" y="60452"/>
                  </a:lnTo>
                  <a:lnTo>
                    <a:pt x="80518" y="68199"/>
                  </a:lnTo>
                  <a:lnTo>
                    <a:pt x="81534" y="68580"/>
                  </a:lnTo>
                  <a:lnTo>
                    <a:pt x="82931" y="68834"/>
                  </a:lnTo>
                  <a:lnTo>
                    <a:pt x="86233" y="68834"/>
                  </a:lnTo>
                  <a:lnTo>
                    <a:pt x="87630" y="68580"/>
                  </a:lnTo>
                  <a:lnTo>
                    <a:pt x="89662" y="67818"/>
                  </a:lnTo>
                  <a:lnTo>
                    <a:pt x="90551" y="67056"/>
                  </a:lnTo>
                  <a:lnTo>
                    <a:pt x="91186" y="66167"/>
                  </a:lnTo>
                  <a:lnTo>
                    <a:pt x="91948" y="65151"/>
                  </a:lnTo>
                  <a:lnTo>
                    <a:pt x="92329" y="63754"/>
                  </a:lnTo>
                  <a:lnTo>
                    <a:pt x="92837" y="60452"/>
                  </a:lnTo>
                  <a:lnTo>
                    <a:pt x="92964" y="58547"/>
                  </a:lnTo>
                  <a:lnTo>
                    <a:pt x="92964" y="53594"/>
                  </a:lnTo>
                  <a:close/>
                </a:path>
              </a:pathLst>
            </a:custGeom>
            <a:solidFill>
              <a:srgbClr val="E4DCE6"/>
            </a:solidFill>
          </p:spPr>
          <p:txBody>
            <a:bodyPr wrap="square" lIns="0" tIns="0" rIns="0" bIns="0" rtlCol="0"/>
            <a:lstStyle/>
            <a:p>
              <a:endParaRPr/>
            </a:p>
          </p:txBody>
        </p:sp>
        <p:pic>
          <p:nvPicPr>
            <p:cNvPr id="42" name="object 16">
              <a:extLst>
                <a:ext uri="{FF2B5EF4-FFF2-40B4-BE49-F238E27FC236}">
                  <a16:creationId xmlns:a16="http://schemas.microsoft.com/office/drawing/2014/main" id="{6D89A511-549B-4EB3-9666-9CECB184E6E0}"/>
                </a:ext>
              </a:extLst>
            </p:cNvPr>
            <p:cNvPicPr/>
            <p:nvPr/>
          </p:nvPicPr>
          <p:blipFill>
            <a:blip r:embed="rId7" cstate="print"/>
            <a:stretch>
              <a:fillRect/>
            </a:stretch>
          </p:blipFill>
          <p:spPr>
            <a:xfrm>
              <a:off x="1590040" y="3647059"/>
              <a:ext cx="1048639" cy="157479"/>
            </a:xfrm>
            <a:prstGeom prst="rect">
              <a:avLst/>
            </a:prstGeom>
          </p:spPr>
        </p:pic>
      </p:grpSp>
      <p:sp>
        <p:nvSpPr>
          <p:cNvPr id="44" name="TextBox 43">
            <a:extLst>
              <a:ext uri="{FF2B5EF4-FFF2-40B4-BE49-F238E27FC236}">
                <a16:creationId xmlns:a16="http://schemas.microsoft.com/office/drawing/2014/main" id="{CB011DCA-1DFA-4F03-A720-E3E2C60E47B0}"/>
              </a:ext>
            </a:extLst>
          </p:cNvPr>
          <p:cNvSpPr txBox="1"/>
          <p:nvPr/>
        </p:nvSpPr>
        <p:spPr>
          <a:xfrm>
            <a:off x="809650" y="3306472"/>
            <a:ext cx="5789286" cy="948721"/>
          </a:xfrm>
          <a:prstGeom prst="rect">
            <a:avLst/>
          </a:prstGeom>
          <a:noFill/>
        </p:spPr>
        <p:txBody>
          <a:bodyPr wrap="square">
            <a:spAutoFit/>
          </a:bodyPr>
          <a:lstStyle/>
          <a:p>
            <a:pPr marL="0" indent="0" algn="l">
              <a:lnSpc>
                <a:spcPts val="2300"/>
              </a:lnSpc>
              <a:buNone/>
            </a:pPr>
            <a:r>
              <a:rPr lang="en-US" sz="1450" dirty="0">
                <a:solidFill>
                  <a:srgbClr val="E5DCE6"/>
                </a:solidFill>
                <a:latin typeface="Montserrat" pitchFamily="34" charset="0"/>
                <a:ea typeface="Montserrat" pitchFamily="34" charset="-122"/>
                <a:cs typeface="Montserrat" pitchFamily="34" charset="-120"/>
              </a:rPr>
              <a:t>We meticulously gathered over 50 real and diverse UPI screenshots from popular platforms like </a:t>
            </a:r>
            <a:r>
              <a:rPr lang="en-US" sz="1450" dirty="0" err="1">
                <a:solidFill>
                  <a:srgbClr val="E5DCE6"/>
                </a:solidFill>
                <a:latin typeface="Montserrat" pitchFamily="34" charset="0"/>
                <a:ea typeface="Montserrat" pitchFamily="34" charset="-122"/>
                <a:cs typeface="Montserrat" pitchFamily="34" charset="-120"/>
              </a:rPr>
              <a:t>GPay</a:t>
            </a:r>
            <a:r>
              <a:rPr lang="en-US" sz="1450" dirty="0">
                <a:solidFill>
                  <a:srgbClr val="E5DCE6"/>
                </a:solidFill>
                <a:latin typeface="Montserrat" pitchFamily="34" charset="0"/>
                <a:ea typeface="Montserrat" pitchFamily="34" charset="-122"/>
                <a:cs typeface="Montserrat" pitchFamily="34" charset="-120"/>
              </a:rPr>
              <a:t> and </a:t>
            </a:r>
            <a:r>
              <a:rPr lang="en-US" sz="1450" dirty="0" err="1">
                <a:solidFill>
                  <a:srgbClr val="E5DCE6"/>
                </a:solidFill>
                <a:latin typeface="Montserrat" pitchFamily="34" charset="0"/>
                <a:ea typeface="Montserrat" pitchFamily="34" charset="-122"/>
                <a:cs typeface="Montserrat" pitchFamily="34" charset="-120"/>
              </a:rPr>
              <a:t>PhonePe</a:t>
            </a:r>
            <a:r>
              <a:rPr lang="en-US" sz="1450" dirty="0">
                <a:solidFill>
                  <a:srgbClr val="E5DCE6"/>
                </a:solidFill>
                <a:latin typeface="Montserrat" pitchFamily="34" charset="0"/>
                <a:ea typeface="Montserrat" pitchFamily="34" charset="-122"/>
                <a:cs typeface="Montserrat" pitchFamily="34" charset="-120"/>
              </a:rPr>
              <a:t> to form our authentic data base.</a:t>
            </a:r>
            <a:endParaRPr lang="en-US" sz="1450" dirty="0"/>
          </a:p>
        </p:txBody>
      </p:sp>
      <p:sp>
        <p:nvSpPr>
          <p:cNvPr id="46" name="TextBox 45">
            <a:extLst>
              <a:ext uri="{FF2B5EF4-FFF2-40B4-BE49-F238E27FC236}">
                <a16:creationId xmlns:a16="http://schemas.microsoft.com/office/drawing/2014/main" id="{4E943189-9B23-4796-A2CA-A36B1D2317F0}"/>
              </a:ext>
            </a:extLst>
          </p:cNvPr>
          <p:cNvSpPr txBox="1"/>
          <p:nvPr/>
        </p:nvSpPr>
        <p:spPr>
          <a:xfrm>
            <a:off x="7418512" y="3143792"/>
            <a:ext cx="6952114" cy="948721"/>
          </a:xfrm>
          <a:prstGeom prst="rect">
            <a:avLst/>
          </a:prstGeom>
          <a:noFill/>
        </p:spPr>
        <p:txBody>
          <a:bodyPr wrap="square">
            <a:spAutoFit/>
          </a:bodyPr>
          <a:lstStyle/>
          <a:p>
            <a:pPr marL="0" indent="0" algn="l">
              <a:lnSpc>
                <a:spcPts val="2300"/>
              </a:lnSpc>
              <a:buNone/>
            </a:pPr>
            <a:r>
              <a:rPr lang="en-US" sz="1450" dirty="0">
                <a:solidFill>
                  <a:srgbClr val="E5DCE6"/>
                </a:solidFill>
                <a:latin typeface="Montserrat" pitchFamily="34" charset="0"/>
                <a:ea typeface="Montserrat" pitchFamily="34" charset="-122"/>
                <a:cs typeface="Montserrat" pitchFamily="34" charset="-120"/>
              </a:rPr>
              <a:t>To ensure privacy and compliance, all Personally Identifiable Information (PII) such as names and UTRs were manually redacted from the collected real screenshots.</a:t>
            </a:r>
            <a:endParaRPr lang="en-US" sz="1450" dirty="0"/>
          </a:p>
        </p:txBody>
      </p:sp>
      <p:pic>
        <p:nvPicPr>
          <p:cNvPr id="47" name="Image 2" descr="preencoded.png">
            <a:extLst>
              <a:ext uri="{FF2B5EF4-FFF2-40B4-BE49-F238E27FC236}">
                <a16:creationId xmlns:a16="http://schemas.microsoft.com/office/drawing/2014/main" id="{6C3C5C54-4A06-4127-9263-E4E22E6EFE3F}"/>
              </a:ext>
            </a:extLst>
          </p:cNvPr>
          <p:cNvPicPr>
            <a:picLocks noChangeAspect="1"/>
          </p:cNvPicPr>
          <p:nvPr/>
        </p:nvPicPr>
        <p:blipFill>
          <a:blip r:embed="rId8"/>
          <a:stretch>
            <a:fillRect/>
          </a:stretch>
        </p:blipFill>
        <p:spPr>
          <a:xfrm>
            <a:off x="665760" y="4564044"/>
            <a:ext cx="6572607" cy="1143000"/>
          </a:xfrm>
          <a:prstGeom prst="rect">
            <a:avLst/>
          </a:prstGeom>
        </p:spPr>
      </p:pic>
      <p:sp>
        <p:nvSpPr>
          <p:cNvPr id="49" name="TextBox 48">
            <a:extLst>
              <a:ext uri="{FF2B5EF4-FFF2-40B4-BE49-F238E27FC236}">
                <a16:creationId xmlns:a16="http://schemas.microsoft.com/office/drawing/2014/main" id="{D6279081-B4C6-4A83-902F-2BDE3087404E}"/>
              </a:ext>
            </a:extLst>
          </p:cNvPr>
          <p:cNvSpPr txBox="1"/>
          <p:nvPr/>
        </p:nvSpPr>
        <p:spPr>
          <a:xfrm>
            <a:off x="613465" y="6039632"/>
            <a:ext cx="6635683" cy="1243674"/>
          </a:xfrm>
          <a:prstGeom prst="rect">
            <a:avLst/>
          </a:prstGeom>
          <a:noFill/>
        </p:spPr>
        <p:txBody>
          <a:bodyPr wrap="square">
            <a:spAutoFit/>
          </a:bodyPr>
          <a:lstStyle/>
          <a:p>
            <a:pPr marL="0" indent="0" algn="l">
              <a:lnSpc>
                <a:spcPts val="2300"/>
              </a:lnSpc>
              <a:buNone/>
            </a:pPr>
            <a:r>
              <a:rPr lang="en-US" sz="1450" dirty="0">
                <a:solidFill>
                  <a:srgbClr val="E5DCE6"/>
                </a:solidFill>
                <a:latin typeface="Montserrat" pitchFamily="34" charset="0"/>
                <a:ea typeface="Montserrat" pitchFamily="34" charset="-122"/>
                <a:cs typeface="Montserrat" pitchFamily="34" charset="-120"/>
              </a:rPr>
              <a:t>Utilizing an </a:t>
            </a:r>
            <a:r>
              <a:rPr lang="en-US" sz="1450" b="1" dirty="0">
                <a:solidFill>
                  <a:srgbClr val="E5DCE6"/>
                </a:solidFill>
                <a:latin typeface="Montserrat" pitchFamily="34" charset="0"/>
                <a:ea typeface="Montserrat" pitchFamily="34" charset="-122"/>
                <a:cs typeface="Montserrat" pitchFamily="34" charset="-120"/>
              </a:rPr>
              <a:t>OpenCV (cv2)</a:t>
            </a:r>
            <a:r>
              <a:rPr lang="en-US" sz="1450" dirty="0">
                <a:solidFill>
                  <a:srgbClr val="E5DCE6"/>
                </a:solidFill>
                <a:latin typeface="Montserrat" pitchFamily="34" charset="0"/>
                <a:ea typeface="Montserrat" pitchFamily="34" charset="-122"/>
                <a:cs typeface="Montserrat" pitchFamily="34" charset="-120"/>
              </a:rPr>
              <a:t> script, we programmatically generated over 250 "fake" screenshots. These fakes were strategically designed with </a:t>
            </a:r>
            <a:r>
              <a:rPr lang="en-US" sz="1450" b="1" dirty="0">
                <a:solidFill>
                  <a:srgbClr val="E5DCE6"/>
                </a:solidFill>
                <a:latin typeface="Montserrat" pitchFamily="34" charset="0"/>
                <a:ea typeface="Montserrat" pitchFamily="34" charset="-122"/>
                <a:cs typeface="Montserrat" pitchFamily="34" charset="-120"/>
              </a:rPr>
              <a:t>both visual and logical flaws</a:t>
            </a:r>
            <a:r>
              <a:rPr lang="en-US" sz="1450" dirty="0">
                <a:solidFill>
                  <a:srgbClr val="E5DCE6"/>
                </a:solidFill>
                <a:latin typeface="Montserrat" pitchFamily="34" charset="0"/>
                <a:ea typeface="Montserrat" pitchFamily="34" charset="-122"/>
                <a:cs typeface="Montserrat" pitchFamily="34" charset="-120"/>
              </a:rPr>
              <a:t>, including manipulated text and invalid UTRs, to challenge our AI.</a:t>
            </a:r>
            <a:endParaRPr lang="en-US" sz="1450" dirty="0"/>
          </a:p>
        </p:txBody>
      </p:sp>
      <p:sp>
        <p:nvSpPr>
          <p:cNvPr id="50" name="Text 7">
            <a:extLst>
              <a:ext uri="{FF2B5EF4-FFF2-40B4-BE49-F238E27FC236}">
                <a16:creationId xmlns:a16="http://schemas.microsoft.com/office/drawing/2014/main" id="{E33192CA-2931-4C5F-9CAD-11BE4D10B31D}"/>
              </a:ext>
            </a:extLst>
          </p:cNvPr>
          <p:cNvSpPr/>
          <p:nvPr/>
        </p:nvSpPr>
        <p:spPr>
          <a:xfrm>
            <a:off x="801369" y="5300418"/>
            <a:ext cx="2320409" cy="290036"/>
          </a:xfrm>
          <a:prstGeom prst="rect">
            <a:avLst/>
          </a:prstGeom>
          <a:noFill/>
          <a:ln/>
        </p:spPr>
        <p:txBody>
          <a:bodyPr wrap="none" lIns="0" tIns="0" rIns="0" bIns="0" rtlCol="0" anchor="t"/>
          <a:lstStyle/>
          <a:p>
            <a:pPr marL="0" indent="0" algn="l">
              <a:lnSpc>
                <a:spcPts val="225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Step 3: Generation</a:t>
            </a:r>
            <a:endParaRPr lang="en-US" sz="1800" dirty="0"/>
          </a:p>
        </p:txBody>
      </p:sp>
      <p:pic>
        <p:nvPicPr>
          <p:cNvPr id="51" name="Image 3" descr="preencoded.png">
            <a:extLst>
              <a:ext uri="{FF2B5EF4-FFF2-40B4-BE49-F238E27FC236}">
                <a16:creationId xmlns:a16="http://schemas.microsoft.com/office/drawing/2014/main" id="{5A9AA3A2-B701-4970-A9E5-98038110DB03}"/>
              </a:ext>
            </a:extLst>
          </p:cNvPr>
          <p:cNvPicPr>
            <a:picLocks noChangeAspect="1"/>
          </p:cNvPicPr>
          <p:nvPr/>
        </p:nvPicPr>
        <p:blipFill>
          <a:blip r:embed="rId8"/>
          <a:stretch>
            <a:fillRect/>
          </a:stretch>
        </p:blipFill>
        <p:spPr>
          <a:xfrm>
            <a:off x="7458910" y="4536601"/>
            <a:ext cx="6572726" cy="1143000"/>
          </a:xfrm>
          <a:prstGeom prst="rect">
            <a:avLst/>
          </a:prstGeom>
        </p:spPr>
      </p:pic>
      <p:sp>
        <p:nvSpPr>
          <p:cNvPr id="53" name="TextBox 52">
            <a:extLst>
              <a:ext uri="{FF2B5EF4-FFF2-40B4-BE49-F238E27FC236}">
                <a16:creationId xmlns:a16="http://schemas.microsoft.com/office/drawing/2014/main" id="{76207CAE-AA99-478F-9962-1F0C5E8E6DC6}"/>
              </a:ext>
            </a:extLst>
          </p:cNvPr>
          <p:cNvSpPr txBox="1"/>
          <p:nvPr/>
        </p:nvSpPr>
        <p:spPr>
          <a:xfrm>
            <a:off x="7441210" y="5312321"/>
            <a:ext cx="7577846" cy="367280"/>
          </a:xfrm>
          <a:prstGeom prst="rect">
            <a:avLst/>
          </a:prstGeom>
          <a:noFill/>
        </p:spPr>
        <p:txBody>
          <a:bodyPr wrap="square">
            <a:spAutoFit/>
          </a:bodyPr>
          <a:lstStyle/>
          <a:p>
            <a:pPr marL="0" indent="0" algn="l">
              <a:lnSpc>
                <a:spcPts val="225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Step 4: Training</a:t>
            </a:r>
            <a:endParaRPr lang="en-US" sz="1800" dirty="0"/>
          </a:p>
        </p:txBody>
      </p:sp>
      <p:sp>
        <p:nvSpPr>
          <p:cNvPr id="55" name="TextBox 54">
            <a:extLst>
              <a:ext uri="{FF2B5EF4-FFF2-40B4-BE49-F238E27FC236}">
                <a16:creationId xmlns:a16="http://schemas.microsoft.com/office/drawing/2014/main" id="{BB0E5687-0D00-43B2-ABB9-5F53716F634C}"/>
              </a:ext>
            </a:extLst>
          </p:cNvPr>
          <p:cNvSpPr txBox="1"/>
          <p:nvPr/>
        </p:nvSpPr>
        <p:spPr>
          <a:xfrm>
            <a:off x="7257702" y="6061330"/>
            <a:ext cx="7577846" cy="959622"/>
          </a:xfrm>
          <a:prstGeom prst="rect">
            <a:avLst/>
          </a:prstGeom>
          <a:noFill/>
        </p:spPr>
        <p:txBody>
          <a:bodyPr wrap="square">
            <a:spAutoFit/>
          </a:bodyPr>
          <a:lstStyle/>
          <a:p>
            <a:pPr marL="0" indent="0" algn="l">
              <a:lnSpc>
                <a:spcPts val="2300"/>
              </a:lnSpc>
              <a:buNone/>
            </a:pPr>
            <a:r>
              <a:rPr lang="en-US" sz="1450" dirty="0">
                <a:solidFill>
                  <a:srgbClr val="E5DCE6"/>
                </a:solidFill>
                <a:latin typeface="Montserrat" pitchFamily="34" charset="0"/>
                <a:ea typeface="Montserrat" pitchFamily="34" charset="-122"/>
                <a:cs typeface="Montserrat" pitchFamily="34" charset="-120"/>
              </a:rPr>
              <a:t>The </a:t>
            </a:r>
            <a:r>
              <a:rPr lang="en-US" sz="1450" b="1" dirty="0">
                <a:solidFill>
                  <a:srgbClr val="E5DCE6"/>
                </a:solidFill>
                <a:latin typeface="Montserrat" pitchFamily="34" charset="0"/>
                <a:ea typeface="Montserrat" pitchFamily="34" charset="-122"/>
                <a:cs typeface="Montserrat" pitchFamily="34" charset="-120"/>
              </a:rPr>
              <a:t>CNN (MobileNetV3)</a:t>
            </a:r>
            <a:r>
              <a:rPr lang="en-US" sz="1450" dirty="0">
                <a:solidFill>
                  <a:srgbClr val="E5DCE6"/>
                </a:solidFill>
                <a:latin typeface="Montserrat" pitchFamily="34" charset="0"/>
                <a:ea typeface="Montserrat" pitchFamily="34" charset="-122"/>
                <a:cs typeface="Montserrat" pitchFamily="34" charset="-120"/>
              </a:rPr>
              <a:t> was rigorously trained on this synthesized dataset for 15 epochs, leveraging the power of </a:t>
            </a:r>
            <a:r>
              <a:rPr lang="en-US" sz="1450" b="1" dirty="0" err="1">
                <a:solidFill>
                  <a:srgbClr val="E5DCE6"/>
                </a:solidFill>
                <a:latin typeface="Montserrat" pitchFamily="34" charset="0"/>
                <a:ea typeface="Montserrat" pitchFamily="34" charset="-122"/>
                <a:cs typeface="Montserrat" pitchFamily="34" charset="-120"/>
              </a:rPr>
              <a:t>PyTorch</a:t>
            </a:r>
            <a:r>
              <a:rPr lang="en-US" sz="1450" dirty="0">
                <a:solidFill>
                  <a:srgbClr val="E5DCE6"/>
                </a:solidFill>
                <a:latin typeface="Montserrat" pitchFamily="34" charset="0"/>
                <a:ea typeface="Montserrat" pitchFamily="34" charset="-122"/>
                <a:cs typeface="Montserrat" pitchFamily="34" charset="-120"/>
              </a:rPr>
              <a:t> and a </a:t>
            </a:r>
            <a:r>
              <a:rPr lang="en-US" sz="1450" b="1" dirty="0">
                <a:solidFill>
                  <a:srgbClr val="E5DCE6"/>
                </a:solidFill>
                <a:latin typeface="Montserrat" pitchFamily="34" charset="0"/>
                <a:ea typeface="Montserrat" pitchFamily="34" charset="-122"/>
                <a:cs typeface="Montserrat" pitchFamily="34" charset="-120"/>
              </a:rPr>
              <a:t>Google </a:t>
            </a:r>
            <a:r>
              <a:rPr lang="en-US" sz="1450" b="1" dirty="0" err="1">
                <a:solidFill>
                  <a:srgbClr val="E5DCE6"/>
                </a:solidFill>
                <a:latin typeface="Montserrat" pitchFamily="34" charset="0"/>
                <a:ea typeface="Montserrat" pitchFamily="34" charset="-122"/>
                <a:cs typeface="Montserrat" pitchFamily="34" charset="-120"/>
              </a:rPr>
              <a:t>Colab</a:t>
            </a:r>
            <a:r>
              <a:rPr lang="en-US" sz="1450" b="1" dirty="0">
                <a:solidFill>
                  <a:srgbClr val="E5DCE6"/>
                </a:solidFill>
                <a:latin typeface="Montserrat" pitchFamily="34" charset="0"/>
                <a:ea typeface="Montserrat" pitchFamily="34" charset="-122"/>
                <a:cs typeface="Montserrat" pitchFamily="34" charset="-120"/>
              </a:rPr>
              <a:t> GPU</a:t>
            </a:r>
            <a:r>
              <a:rPr lang="en-US" sz="1450" dirty="0">
                <a:solidFill>
                  <a:srgbClr val="E5DCE6"/>
                </a:solidFill>
                <a:latin typeface="Montserrat" pitchFamily="34" charset="0"/>
                <a:ea typeface="Montserrat" pitchFamily="34" charset="-122"/>
                <a:cs typeface="Montserrat" pitchFamily="34" charset="-120"/>
              </a:rPr>
              <a:t> for accelerated learning.</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1303" y="2202306"/>
            <a:ext cx="6128003" cy="420628"/>
          </a:xfrm>
          <a:prstGeom prst="rect">
            <a:avLst/>
          </a:prstGeom>
        </p:spPr>
        <p:txBody>
          <a:bodyPr vert="horz" wrap="square" lIns="0" tIns="12700" rIns="0" bIns="0" rtlCol="0">
            <a:spAutoFit/>
          </a:bodyPr>
          <a:lstStyle/>
          <a:p>
            <a:pPr marL="12700">
              <a:lnSpc>
                <a:spcPct val="100000"/>
              </a:lnSpc>
              <a:spcBef>
                <a:spcPts val="100"/>
              </a:spcBef>
            </a:pPr>
            <a:r>
              <a:rPr sz="2650" b="1" dirty="0">
                <a:solidFill>
                  <a:srgbClr val="EDADF6"/>
                </a:solidFill>
                <a:latin typeface="Bricolage Grotesque Extra BoldBricolage Grotesque Extra Bold"/>
                <a:cs typeface="Calibri"/>
              </a:rPr>
              <a:t>Building</a:t>
            </a:r>
            <a:r>
              <a:rPr sz="2650" b="1" spc="-20" dirty="0">
                <a:solidFill>
                  <a:srgbClr val="EDADF6"/>
                </a:solidFill>
                <a:latin typeface="Bricolage Grotesque Extra BoldBricolage Grotesque Extra Bold"/>
                <a:cs typeface="Calibri"/>
              </a:rPr>
              <a:t> </a:t>
            </a:r>
            <a:r>
              <a:rPr sz="2650" b="1" dirty="0">
                <a:solidFill>
                  <a:srgbClr val="EDADF6"/>
                </a:solidFill>
                <a:latin typeface="Bricolage Grotesque Extra BoldBricolage Grotesque Extra Bold"/>
                <a:cs typeface="Calibri"/>
              </a:rPr>
              <a:t>the</a:t>
            </a:r>
            <a:r>
              <a:rPr sz="2650" b="1" spc="-20" dirty="0">
                <a:solidFill>
                  <a:srgbClr val="EDADF6"/>
                </a:solidFill>
                <a:latin typeface="Bricolage Grotesque Extra BoldBricolage Grotesque Extra Bold"/>
                <a:cs typeface="Calibri"/>
              </a:rPr>
              <a:t> </a:t>
            </a:r>
            <a:r>
              <a:rPr sz="2650" b="1" dirty="0">
                <a:solidFill>
                  <a:srgbClr val="EDADF6"/>
                </a:solidFill>
                <a:latin typeface="Bricolage Grotesque Extra BoldBricolage Grotesque Extra Bold"/>
                <a:cs typeface="Calibri"/>
              </a:rPr>
              <a:t>Server</a:t>
            </a:r>
            <a:r>
              <a:rPr sz="2650" b="1" spc="-30" dirty="0">
                <a:solidFill>
                  <a:srgbClr val="EDADF6"/>
                </a:solidFill>
                <a:latin typeface="Bricolage Grotesque Extra BoldBricolage Grotesque Extra Bold"/>
                <a:cs typeface="Calibri"/>
              </a:rPr>
              <a:t> </a:t>
            </a:r>
            <a:r>
              <a:rPr sz="2650" b="1" dirty="0">
                <a:solidFill>
                  <a:srgbClr val="EDADF6"/>
                </a:solidFill>
                <a:latin typeface="Bricolage Grotesque Extra BoldBricolage Grotesque Extra Bold"/>
                <a:cs typeface="Calibri"/>
              </a:rPr>
              <a:t>with</a:t>
            </a:r>
            <a:r>
              <a:rPr sz="2650" b="1" spc="-25" dirty="0">
                <a:solidFill>
                  <a:srgbClr val="EDADF6"/>
                </a:solidFill>
                <a:latin typeface="Bricolage Grotesque Extra BoldBricolage Grotesque Extra Bold"/>
                <a:cs typeface="Calibri"/>
              </a:rPr>
              <a:t> </a:t>
            </a:r>
            <a:r>
              <a:rPr sz="2650" b="1" spc="-10" dirty="0">
                <a:solidFill>
                  <a:srgbClr val="EDADF6"/>
                </a:solidFill>
                <a:latin typeface="Bricolage Grotesque Extra BoldBricolage Grotesque Extra Bold"/>
                <a:cs typeface="Calibri"/>
              </a:rPr>
              <a:t>Flask</a:t>
            </a:r>
            <a:endParaRPr sz="2650" b="1" dirty="0">
              <a:latin typeface="Bricolage Grotesque Extra BoldBricolage Grotesque Extra Bold"/>
              <a:cs typeface="Calibri"/>
            </a:endParaRPr>
          </a:p>
        </p:txBody>
      </p:sp>
      <p:sp>
        <p:nvSpPr>
          <p:cNvPr id="3" name="object 3"/>
          <p:cNvSpPr txBox="1"/>
          <p:nvPr/>
        </p:nvSpPr>
        <p:spPr>
          <a:xfrm>
            <a:off x="781304" y="3045383"/>
            <a:ext cx="5961380" cy="2947282"/>
          </a:xfrm>
          <a:prstGeom prst="rect">
            <a:avLst/>
          </a:prstGeom>
        </p:spPr>
        <p:txBody>
          <a:bodyPr vert="horz" wrap="square" lIns="0" tIns="11430" rIns="0" bIns="0" rtlCol="0">
            <a:spAutoFit/>
          </a:bodyPr>
          <a:lstStyle/>
          <a:p>
            <a:pPr marL="12700" marR="20320" algn="just">
              <a:lnSpc>
                <a:spcPct val="137500"/>
              </a:lnSpc>
              <a:spcBef>
                <a:spcPts val="90"/>
              </a:spcBef>
            </a:pPr>
            <a:r>
              <a:rPr sz="1750" dirty="0">
                <a:solidFill>
                  <a:srgbClr val="E4DCE6"/>
                </a:solidFill>
                <a:latin typeface="Montserrat" panose="00000500000000000000" pitchFamily="2" charset="0"/>
                <a:cs typeface="Calibri"/>
              </a:rPr>
              <a:t>The</a:t>
            </a:r>
            <a:r>
              <a:rPr sz="1750" spc="-25" dirty="0">
                <a:solidFill>
                  <a:srgbClr val="E4DCE6"/>
                </a:solidFill>
                <a:latin typeface="Montserrat" panose="00000500000000000000" pitchFamily="2" charset="0"/>
                <a:cs typeface="Calibri"/>
              </a:rPr>
              <a:t> </a:t>
            </a:r>
            <a:r>
              <a:rPr sz="1750" spc="-10" dirty="0">
                <a:solidFill>
                  <a:srgbClr val="E4DCE6"/>
                </a:solidFill>
                <a:latin typeface="Montserrat" panose="00000500000000000000" pitchFamily="2" charset="0"/>
                <a:cs typeface="Calibri"/>
              </a:rPr>
              <a:t>backend,</a:t>
            </a:r>
            <a:r>
              <a:rPr sz="1750" spc="-30"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powered</a:t>
            </a:r>
            <a:r>
              <a:rPr sz="1750" spc="-25"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by</a:t>
            </a:r>
            <a:r>
              <a:rPr sz="1750" spc="-25"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the</a:t>
            </a:r>
            <a:r>
              <a:rPr sz="1750" spc="-25" dirty="0">
                <a:solidFill>
                  <a:srgbClr val="E4DCE6"/>
                </a:solidFill>
                <a:latin typeface="Montserrat" panose="00000500000000000000" pitchFamily="2" charset="0"/>
                <a:cs typeface="Calibri"/>
              </a:rPr>
              <a:t> </a:t>
            </a:r>
            <a:r>
              <a:rPr sz="1750" spc="-10" dirty="0">
                <a:solidFill>
                  <a:srgbClr val="E4DCE6"/>
                </a:solidFill>
                <a:latin typeface="Montserrat" panose="00000500000000000000" pitchFamily="2" charset="0"/>
                <a:cs typeface="Calibri"/>
              </a:rPr>
              <a:t>lightweight</a:t>
            </a:r>
            <a:r>
              <a:rPr sz="1750" spc="-30"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Python</a:t>
            </a:r>
            <a:r>
              <a:rPr sz="1750" spc="-30"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web</a:t>
            </a:r>
            <a:r>
              <a:rPr sz="1750" spc="-20" dirty="0">
                <a:solidFill>
                  <a:srgbClr val="E4DCE6"/>
                </a:solidFill>
                <a:latin typeface="Montserrat" panose="00000500000000000000" pitchFamily="2" charset="0"/>
                <a:cs typeface="Calibri"/>
              </a:rPr>
              <a:t> </a:t>
            </a:r>
            <a:r>
              <a:rPr sz="1750" spc="-10" dirty="0">
                <a:solidFill>
                  <a:srgbClr val="E4DCE6"/>
                </a:solidFill>
                <a:latin typeface="Montserrat" panose="00000500000000000000" pitchFamily="2" charset="0"/>
                <a:cs typeface="Calibri"/>
              </a:rPr>
              <a:t>framework </a:t>
            </a:r>
            <a:r>
              <a:rPr sz="1750" dirty="0">
                <a:solidFill>
                  <a:srgbClr val="E4DCE6"/>
                </a:solidFill>
                <a:latin typeface="Montserrat" panose="00000500000000000000" pitchFamily="2" charset="0"/>
                <a:cs typeface="Calibri"/>
              </a:rPr>
              <a:t>Flask,</a:t>
            </a:r>
            <a:r>
              <a:rPr sz="1750" spc="145"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serves</a:t>
            </a:r>
            <a:r>
              <a:rPr sz="1750" spc="150"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as</a:t>
            </a:r>
            <a:r>
              <a:rPr sz="1750" spc="140"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the</a:t>
            </a:r>
            <a:r>
              <a:rPr sz="1750" spc="150"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central</a:t>
            </a:r>
            <a:r>
              <a:rPr sz="1750" spc="155"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processing</a:t>
            </a:r>
            <a:r>
              <a:rPr sz="1750" spc="150"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unit</a:t>
            </a:r>
            <a:r>
              <a:rPr sz="1750" spc="150"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for</a:t>
            </a:r>
            <a:r>
              <a:rPr sz="1750" spc="150"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UPI-</a:t>
            </a:r>
            <a:r>
              <a:rPr sz="1750" spc="-10" dirty="0">
                <a:solidFill>
                  <a:srgbClr val="E4DCE6"/>
                </a:solidFill>
                <a:latin typeface="Montserrat" panose="00000500000000000000" pitchFamily="2" charset="0"/>
                <a:cs typeface="Calibri"/>
              </a:rPr>
              <a:t>Shield, orchestrating</a:t>
            </a:r>
            <a:r>
              <a:rPr sz="1750" spc="-55"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all</a:t>
            </a:r>
            <a:r>
              <a:rPr sz="1750" spc="-55" dirty="0">
                <a:solidFill>
                  <a:srgbClr val="E4DCE6"/>
                </a:solidFill>
                <a:latin typeface="Montserrat" panose="00000500000000000000" pitchFamily="2" charset="0"/>
                <a:cs typeface="Calibri"/>
              </a:rPr>
              <a:t> </a:t>
            </a:r>
            <a:r>
              <a:rPr sz="1750" dirty="0">
                <a:solidFill>
                  <a:srgbClr val="E4DCE6"/>
                </a:solidFill>
                <a:latin typeface="Montserrat" panose="00000500000000000000" pitchFamily="2" charset="0"/>
                <a:cs typeface="Calibri"/>
              </a:rPr>
              <a:t>critical</a:t>
            </a:r>
            <a:r>
              <a:rPr sz="1750" spc="-40" dirty="0">
                <a:solidFill>
                  <a:srgbClr val="E4DCE6"/>
                </a:solidFill>
                <a:latin typeface="Montserrat" panose="00000500000000000000" pitchFamily="2" charset="0"/>
                <a:cs typeface="Calibri"/>
              </a:rPr>
              <a:t> </a:t>
            </a:r>
            <a:r>
              <a:rPr sz="1750" spc="-10" dirty="0">
                <a:solidFill>
                  <a:srgbClr val="E4DCE6"/>
                </a:solidFill>
                <a:latin typeface="Montserrat" panose="00000500000000000000" pitchFamily="2" charset="0"/>
                <a:cs typeface="Calibri"/>
              </a:rPr>
              <a:t>operations.</a:t>
            </a:r>
            <a:endParaRPr sz="1750" dirty="0">
              <a:latin typeface="Calibri"/>
              <a:cs typeface="Calibri"/>
            </a:endParaRPr>
          </a:p>
          <a:p>
            <a:pPr marL="342900" indent="-342900" algn="l">
              <a:lnSpc>
                <a:spcPts val="2850"/>
              </a:lnSpc>
              <a:buSzPct val="100000"/>
              <a:buChar char="•"/>
            </a:pPr>
            <a:r>
              <a:rPr lang="en-US" sz="1750" b="1" dirty="0">
                <a:solidFill>
                  <a:srgbClr val="E5DCE6"/>
                </a:solidFill>
                <a:latin typeface="Montserrat" pitchFamily="34" charset="0"/>
                <a:ea typeface="Montserrat" pitchFamily="34" charset="-122"/>
                <a:cs typeface="Montserrat" pitchFamily="34" charset="-120"/>
              </a:rPr>
              <a:t>Web Server:</a:t>
            </a:r>
            <a:r>
              <a:rPr lang="en-US" sz="1750" dirty="0">
                <a:solidFill>
                  <a:srgbClr val="E5DCE6"/>
                </a:solidFill>
                <a:latin typeface="Montserrat" pitchFamily="34" charset="0"/>
                <a:ea typeface="Montserrat" pitchFamily="34" charset="-122"/>
                <a:cs typeface="Montserrat" pitchFamily="34" charset="-120"/>
              </a:rPr>
              <a:t> Responsibly serves all static and dynamic HTML pages, including the Home, Login, Profile, and Detector pages, ensuring a smooth user journey.</a:t>
            </a:r>
            <a:endParaRPr lang="en-US" sz="1750" dirty="0"/>
          </a:p>
        </p:txBody>
      </p:sp>
      <p:sp>
        <p:nvSpPr>
          <p:cNvPr id="7" name="object 7"/>
          <p:cNvSpPr txBox="1"/>
          <p:nvPr/>
        </p:nvSpPr>
        <p:spPr>
          <a:xfrm>
            <a:off x="781303" y="6037501"/>
            <a:ext cx="6128004" cy="1833900"/>
          </a:xfrm>
          <a:prstGeom prst="rect">
            <a:avLst/>
          </a:prstGeom>
        </p:spPr>
        <p:txBody>
          <a:bodyPr vert="horz" wrap="square" lIns="0" tIns="12700" rIns="0" bIns="0" rtlCol="0">
            <a:spAutoFit/>
          </a:bodyPr>
          <a:lstStyle/>
          <a:p>
            <a:pPr marL="342900" indent="-342900" algn="l">
              <a:lnSpc>
                <a:spcPts val="2850"/>
              </a:lnSpc>
              <a:buSzPct val="100000"/>
              <a:buChar char="•"/>
            </a:pPr>
            <a:r>
              <a:rPr lang="en-US" sz="1750" b="1" dirty="0">
                <a:solidFill>
                  <a:srgbClr val="E5DCE6"/>
                </a:solidFill>
                <a:latin typeface="Montserrat" pitchFamily="34" charset="0"/>
                <a:ea typeface="Montserrat" pitchFamily="34" charset="-122"/>
                <a:cs typeface="Montserrat" pitchFamily="34" charset="-120"/>
              </a:rPr>
              <a:t>Hybrid API:</a:t>
            </a:r>
            <a:r>
              <a:rPr lang="en-US" sz="1750" dirty="0">
                <a:solidFill>
                  <a:srgbClr val="E5DCE6"/>
                </a:solidFill>
                <a:latin typeface="Montserrat" pitchFamily="34" charset="0"/>
                <a:ea typeface="Montserrat" pitchFamily="34" charset="-122"/>
                <a:cs typeface="Montserrat" pitchFamily="34" charset="-120"/>
              </a:rPr>
              <a:t> We developed a dedicated </a:t>
            </a:r>
            <a:r>
              <a:rPr lang="en-US" sz="1750" dirty="0">
                <a:solidFill>
                  <a:srgbClr val="E5DCE6"/>
                </a:solidFill>
                <a:highlight>
                  <a:srgbClr val="161B4C"/>
                </a:highlight>
                <a:latin typeface="Consolas" pitchFamily="34" charset="0"/>
                <a:ea typeface="Consolas" pitchFamily="34" charset="-122"/>
                <a:cs typeface="Consolas" pitchFamily="34" charset="-120"/>
              </a:rPr>
              <a:t>/predict</a:t>
            </a:r>
            <a:r>
              <a:rPr lang="en-US" sz="1750" dirty="0">
                <a:solidFill>
                  <a:srgbClr val="E5DCE6"/>
                </a:solidFill>
                <a:latin typeface="Montserrat" pitchFamily="34" charset="0"/>
                <a:ea typeface="Montserrat" pitchFamily="34" charset="-122"/>
                <a:cs typeface="Montserrat" pitchFamily="34" charset="-120"/>
              </a:rPr>
              <a:t> API route. This crucial "door" initiates the fraud detection process, intelligently routing the uploaded image through </a:t>
            </a:r>
            <a:r>
              <a:rPr lang="en-US" sz="1750" b="1" dirty="0">
                <a:solidFill>
                  <a:srgbClr val="E5DCE6"/>
                </a:solidFill>
                <a:latin typeface="Montserrat" pitchFamily="34" charset="0"/>
                <a:ea typeface="Montserrat" pitchFamily="34" charset="-122"/>
                <a:cs typeface="Montserrat" pitchFamily="34" charset="-120"/>
              </a:rPr>
              <a:t>BOTH</a:t>
            </a:r>
            <a:r>
              <a:rPr lang="en-US" sz="1750" dirty="0">
                <a:solidFill>
                  <a:srgbClr val="E5DCE6"/>
                </a:solidFill>
                <a:latin typeface="Montserrat" pitchFamily="34" charset="0"/>
                <a:ea typeface="Montserrat" pitchFamily="34" charset="-122"/>
                <a:cs typeface="Montserrat" pitchFamily="34" charset="-120"/>
              </a:rPr>
              <a:t> the CNN for visual analysis and the OCR engine for textual validation.</a:t>
            </a:r>
            <a:endParaRPr lang="en-US" sz="1750" dirty="0"/>
          </a:p>
        </p:txBody>
      </p:sp>
      <p:sp>
        <p:nvSpPr>
          <p:cNvPr id="8" name="object 8"/>
          <p:cNvSpPr txBox="1"/>
          <p:nvPr/>
        </p:nvSpPr>
        <p:spPr>
          <a:xfrm>
            <a:off x="7882001" y="3045383"/>
            <a:ext cx="5967095" cy="2578335"/>
          </a:xfrm>
          <a:prstGeom prst="rect">
            <a:avLst/>
          </a:prstGeom>
        </p:spPr>
        <p:txBody>
          <a:bodyPr vert="horz" wrap="square" lIns="0" tIns="13335" rIns="0" bIns="0" rtlCol="0">
            <a:spAutoFit/>
          </a:bodyPr>
          <a:lstStyle/>
          <a:p>
            <a:pPr marL="342900" indent="-342900" algn="l">
              <a:lnSpc>
                <a:spcPts val="2850"/>
              </a:lnSpc>
              <a:buSzPct val="100000"/>
              <a:buChar char="•"/>
            </a:pPr>
            <a:r>
              <a:rPr lang="en-US" sz="1750" b="1" dirty="0">
                <a:solidFill>
                  <a:srgbClr val="E5DCE6"/>
                </a:solidFill>
                <a:latin typeface="Montserrat" pitchFamily="34" charset="0"/>
                <a:ea typeface="Montserrat" pitchFamily="34" charset="-122"/>
                <a:cs typeface="Montserrat" pitchFamily="34" charset="-120"/>
              </a:rPr>
              <a:t>Fusion Logic:</a:t>
            </a:r>
            <a:r>
              <a:rPr lang="en-US" sz="1750" dirty="0">
                <a:solidFill>
                  <a:srgbClr val="E5DCE6"/>
                </a:solidFill>
                <a:latin typeface="Montserrat" pitchFamily="34" charset="0"/>
                <a:ea typeface="Montserrat" pitchFamily="34" charset="-122"/>
                <a:cs typeface="Montserrat" pitchFamily="34" charset="-120"/>
              </a:rPr>
              <a:t> The backend is responsible for the sophisticated fusion of results. It combines the outputs from the CNN (e.g., "90% likelihood of being fake") and the OCR (e.g., "invalid UTR detected") to generate a single, more confident, and accurate final decision regarding the authenticity of the screenshot.</a:t>
            </a:r>
            <a:endParaRPr lang="en-US" sz="1750" dirty="0"/>
          </a:p>
        </p:txBody>
      </p:sp>
      <p:sp>
        <p:nvSpPr>
          <p:cNvPr id="12" name="Title 11">
            <a:extLst>
              <a:ext uri="{FF2B5EF4-FFF2-40B4-BE49-F238E27FC236}">
                <a16:creationId xmlns:a16="http://schemas.microsoft.com/office/drawing/2014/main" id="{082BA097-F29E-4A7F-9D52-CE326D098C8F}"/>
              </a:ext>
            </a:extLst>
          </p:cNvPr>
          <p:cNvSpPr>
            <a:spLocks noGrp="1"/>
          </p:cNvSpPr>
          <p:nvPr>
            <p:ph type="title"/>
          </p:nvPr>
        </p:nvSpPr>
        <p:spPr>
          <a:xfrm>
            <a:off x="939799" y="612788"/>
            <a:ext cx="11939015" cy="292735"/>
          </a:xfrm>
        </p:spPr>
        <p:txBody>
          <a:bodyPr/>
          <a:lstStyle/>
          <a:p>
            <a:r>
              <a:rPr lang="en-US" sz="2200" b="1" dirty="0">
                <a:solidFill>
                  <a:srgbClr val="EEAEF6"/>
                </a:solidFill>
                <a:latin typeface="Bricolage Grotesque Extra BoldBricolage Grotesque Extra Bold"/>
                <a:ea typeface="Bricolage Grotesque Extra Bold" pitchFamily="34" charset="-122"/>
                <a:cs typeface="Bricolage Grotesque Extra Bold" pitchFamily="34" charset="-120"/>
              </a:rPr>
              <a:t>The Application's Backbone</a:t>
            </a:r>
            <a:br>
              <a:rPr lang="en-US" sz="2200" b="1" dirty="0">
                <a:latin typeface="Bricolage Grotesque Extra BoldBricolage Grotesque Extra Bold"/>
              </a:rPr>
            </a:br>
            <a:endParaRPr lang="en-US" sz="2200" b="1" dirty="0">
              <a:latin typeface="Bricolage Grotesque Extra BoldBricolage Grotesque Extra Bold"/>
            </a:endParaRPr>
          </a:p>
        </p:txBody>
      </p:sp>
      <p:sp>
        <p:nvSpPr>
          <p:cNvPr id="14" name="TextBox 13">
            <a:extLst>
              <a:ext uri="{FF2B5EF4-FFF2-40B4-BE49-F238E27FC236}">
                <a16:creationId xmlns:a16="http://schemas.microsoft.com/office/drawing/2014/main" id="{199A1610-FCCC-4C2D-B1F0-10022F5F9401}"/>
              </a:ext>
            </a:extLst>
          </p:cNvPr>
          <p:cNvSpPr txBox="1"/>
          <p:nvPr/>
        </p:nvSpPr>
        <p:spPr>
          <a:xfrm>
            <a:off x="781304" y="1275149"/>
            <a:ext cx="11105896" cy="763735"/>
          </a:xfrm>
          <a:prstGeom prst="rect">
            <a:avLst/>
          </a:prstGeom>
          <a:noFill/>
        </p:spPr>
        <p:txBody>
          <a:bodyPr wrap="square">
            <a:spAutoFit/>
          </a:bodyPr>
          <a:lstStyle/>
          <a:p>
            <a:pPr marL="0" indent="0" algn="l">
              <a:lnSpc>
                <a:spcPts val="5550"/>
              </a:lnSpc>
              <a:buNone/>
            </a:pPr>
            <a:r>
              <a:rPr lang="en-US" sz="4450" b="1" dirty="0">
                <a:solidFill>
                  <a:srgbClr val="EEAEF6"/>
                </a:solidFill>
                <a:latin typeface="Bricolage Grotesque Extra Bold" pitchFamily="34" charset="0"/>
                <a:ea typeface="Bricolage Grotesque Extra Bold" pitchFamily="34" charset="-122"/>
                <a:cs typeface="Bricolage Grotesque Extra Bold" pitchFamily="34" charset="-120"/>
              </a:rPr>
              <a:t>Phase 2: The "Body" - Backend</a:t>
            </a:r>
            <a:endParaRPr lang="en-US" sz="4450" dirty="0"/>
          </a:p>
        </p:txBody>
      </p:sp>
      <p:pic>
        <p:nvPicPr>
          <p:cNvPr id="17" name="Picture 16">
            <a:extLst>
              <a:ext uri="{FF2B5EF4-FFF2-40B4-BE49-F238E27FC236}">
                <a16:creationId xmlns:a16="http://schemas.microsoft.com/office/drawing/2014/main" id="{28EFC855-1461-4903-8E63-0A164FF3CF6A}"/>
              </a:ext>
            </a:extLst>
          </p:cNvPr>
          <p:cNvPicPr>
            <a:picLocks noChangeAspect="1"/>
          </p:cNvPicPr>
          <p:nvPr/>
        </p:nvPicPr>
        <p:blipFill>
          <a:blip r:embed="rId2"/>
          <a:stretch>
            <a:fillRect/>
          </a:stretch>
        </p:blipFill>
        <p:spPr>
          <a:xfrm>
            <a:off x="12734660" y="7339656"/>
            <a:ext cx="1895740" cy="84784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90230" y="2078863"/>
            <a:ext cx="6801170" cy="889987"/>
          </a:xfrm>
          <a:prstGeom prst="rect">
            <a:avLst/>
          </a:prstGeom>
        </p:spPr>
        <p:txBody>
          <a:bodyPr vert="horz" wrap="square" lIns="0" tIns="99060" rIns="0" bIns="0" rtlCol="0">
            <a:spAutoFit/>
          </a:bodyPr>
          <a:lstStyle/>
          <a:p>
            <a:pPr marL="21590">
              <a:lnSpc>
                <a:spcPct val="100000"/>
              </a:lnSpc>
              <a:spcBef>
                <a:spcPts val="780"/>
              </a:spcBef>
            </a:pPr>
            <a:r>
              <a:rPr lang="en-US" sz="3000" b="1" dirty="0">
                <a:latin typeface="Bricolage Grotesque Extra Bold" panose="02000000000000000000" charset="-120"/>
                <a:ea typeface="Bricolage Grotesque Extra Bold" panose="02000000000000000000" charset="-120"/>
                <a:cs typeface="Bricolage Grotesque Extra Bold" panose="02000000000000000000" charset="-120"/>
              </a:rPr>
              <a:t>Phase</a:t>
            </a:r>
            <a:r>
              <a:rPr lang="en-US" sz="3000" b="1" spc="-15" dirty="0">
                <a:latin typeface="Bricolage Grotesque Extra Bold" panose="02000000000000000000" charset="-120"/>
                <a:ea typeface="Bricolage Grotesque Extra Bold" panose="02000000000000000000" charset="-120"/>
                <a:cs typeface="Bricolage Grotesque Extra Bold" panose="02000000000000000000" charset="-120"/>
              </a:rPr>
              <a:t> </a:t>
            </a:r>
            <a:r>
              <a:rPr lang="en-US" sz="3000" b="1" dirty="0">
                <a:latin typeface="Bricolage Grotesque Extra Bold" panose="02000000000000000000" charset="-120"/>
                <a:ea typeface="Bricolage Grotesque Extra Bold" panose="02000000000000000000" charset="-120"/>
                <a:cs typeface="Bricolage Grotesque Extra Bold" panose="02000000000000000000" charset="-120"/>
              </a:rPr>
              <a:t>2:</a:t>
            </a:r>
            <a:r>
              <a:rPr lang="en-US" sz="3000" b="1" spc="-15" dirty="0">
                <a:latin typeface="Bricolage Grotesque Extra Bold" panose="02000000000000000000" charset="-120"/>
                <a:ea typeface="Bricolage Grotesque Extra Bold" panose="02000000000000000000" charset="-120"/>
                <a:cs typeface="Bricolage Grotesque Extra Bold" panose="02000000000000000000" charset="-120"/>
              </a:rPr>
              <a:t> </a:t>
            </a:r>
            <a:r>
              <a:rPr lang="en-US" sz="3000" b="1" dirty="0">
                <a:latin typeface="Bricolage Grotesque Extra Bold" panose="02000000000000000000" charset="-120"/>
                <a:ea typeface="Bricolage Grotesque Extra Bold" panose="02000000000000000000" charset="-120"/>
                <a:cs typeface="Bricolage Grotesque Extra Bold" panose="02000000000000000000" charset="-120"/>
              </a:rPr>
              <a:t>Security</a:t>
            </a:r>
            <a:r>
              <a:rPr lang="en-US" sz="3000" b="1" spc="-15" dirty="0">
                <a:latin typeface="Bricolage Grotesque Extra Bold" panose="02000000000000000000" charset="-120"/>
                <a:ea typeface="Bricolage Grotesque Extra Bold" panose="02000000000000000000" charset="-120"/>
                <a:cs typeface="Bricolage Grotesque Extra Bold" panose="02000000000000000000" charset="-120"/>
              </a:rPr>
              <a:t> </a:t>
            </a:r>
            <a:r>
              <a:rPr lang="en-US" sz="3000" b="1" dirty="0">
                <a:latin typeface="Bricolage Grotesque Extra Bold" panose="02000000000000000000" charset="-120"/>
                <a:ea typeface="Bricolage Grotesque Extra Bold" panose="02000000000000000000" charset="-120"/>
                <a:cs typeface="Bricolage Grotesque Extra Bold" panose="02000000000000000000" charset="-120"/>
              </a:rPr>
              <a:t>&amp;</a:t>
            </a:r>
            <a:r>
              <a:rPr lang="en-US" sz="3000" b="1" spc="-5" dirty="0">
                <a:latin typeface="Bricolage Grotesque Extra Bold" panose="02000000000000000000" charset="-120"/>
                <a:ea typeface="Bricolage Grotesque Extra Bold" panose="02000000000000000000" charset="-120"/>
                <a:cs typeface="Bricolage Grotesque Extra Bold" panose="02000000000000000000" charset="-120"/>
              </a:rPr>
              <a:t> </a:t>
            </a:r>
            <a:r>
              <a:rPr lang="en-US" sz="3000" b="1" spc="-10" dirty="0">
                <a:latin typeface="Bricolage Grotesque Extra Bold" panose="02000000000000000000" charset="-120"/>
                <a:ea typeface="Bricolage Grotesque Extra Bold" panose="02000000000000000000" charset="-120"/>
                <a:cs typeface="Bricolage Grotesque Extra Bold" panose="02000000000000000000" charset="-120"/>
              </a:rPr>
              <a:t>Authentication</a:t>
            </a:r>
            <a:endParaRPr lang="en-US" sz="3000" b="1" dirty="0">
              <a:latin typeface="Bricolage Grotesque Extra Bold" panose="02000000000000000000" charset="-120"/>
              <a:ea typeface="Bricolage Grotesque Extra Bold" panose="02000000000000000000" charset="-120"/>
              <a:cs typeface="Bricolage Grotesque Extra Bold" panose="02000000000000000000" charset="-120"/>
            </a:endParaRPr>
          </a:p>
          <a:p>
            <a:pPr marL="12700">
              <a:lnSpc>
                <a:spcPct val="100000"/>
              </a:lnSpc>
              <a:spcBef>
                <a:spcPts val="405"/>
              </a:spcBef>
            </a:pPr>
            <a:r>
              <a:rPr lang="en-US" sz="1800" dirty="0">
                <a:latin typeface="Bricolage Grotesque Extra BoldBricolage Grotesque Extra Bold"/>
              </a:rPr>
              <a:t>This</a:t>
            </a:r>
            <a:r>
              <a:rPr lang="en-US" sz="1800" spc="-30" dirty="0">
                <a:latin typeface="Bricolage Grotesque Extra BoldBricolage Grotesque Extra Bold"/>
              </a:rPr>
              <a:t> </a:t>
            </a:r>
            <a:r>
              <a:rPr lang="en-US" sz="1800" dirty="0">
                <a:latin typeface="Bricolage Grotesque Extra BoldBricolage Grotesque Extra Bold"/>
              </a:rPr>
              <a:t>is</a:t>
            </a:r>
            <a:r>
              <a:rPr lang="en-US" sz="1800" spc="-30" dirty="0">
                <a:latin typeface="Bricolage Grotesque Extra BoldBricolage Grotesque Extra Bold"/>
              </a:rPr>
              <a:t> </a:t>
            </a:r>
            <a:r>
              <a:rPr lang="en-US" sz="1800" dirty="0">
                <a:latin typeface="Bricolage Grotesque Extra BoldBricolage Grotesque Extra Bold"/>
              </a:rPr>
              <a:t>not</a:t>
            </a:r>
            <a:r>
              <a:rPr lang="en-US" sz="1800" spc="-25" dirty="0">
                <a:latin typeface="Bricolage Grotesque Extra BoldBricolage Grotesque Extra Bold"/>
              </a:rPr>
              <a:t> </a:t>
            </a:r>
            <a:r>
              <a:rPr lang="en-US" sz="1800" dirty="0">
                <a:latin typeface="Bricolage Grotesque Extra BoldBricolage Grotesque Extra Bold"/>
              </a:rPr>
              <a:t>just</a:t>
            </a:r>
            <a:r>
              <a:rPr lang="en-US" sz="1800" spc="-30" dirty="0">
                <a:latin typeface="Bricolage Grotesque Extra BoldBricolage Grotesque Extra Bold"/>
              </a:rPr>
              <a:t> </a:t>
            </a:r>
            <a:r>
              <a:rPr lang="en-US" sz="1800" dirty="0">
                <a:latin typeface="Bricolage Grotesque Extra BoldBricolage Grotesque Extra Bold"/>
              </a:rPr>
              <a:t>a</a:t>
            </a:r>
            <a:r>
              <a:rPr lang="en-US" sz="1800" spc="-25" dirty="0">
                <a:latin typeface="Bricolage Grotesque Extra BoldBricolage Grotesque Extra Bold"/>
              </a:rPr>
              <a:t> </a:t>
            </a:r>
            <a:r>
              <a:rPr lang="en-US" sz="1800" dirty="0">
                <a:latin typeface="Bricolage Grotesque Extra BoldBricolage Grotesque Extra Bold"/>
              </a:rPr>
              <a:t>demo.</a:t>
            </a:r>
            <a:r>
              <a:rPr lang="en-US" sz="1800" spc="-30" dirty="0">
                <a:latin typeface="Bricolage Grotesque Extra BoldBricolage Grotesque Extra Bold"/>
              </a:rPr>
              <a:t> </a:t>
            </a:r>
            <a:r>
              <a:rPr lang="en-US" sz="1800" dirty="0">
                <a:latin typeface="Bricolage Grotesque Extra BoldBricolage Grotesque Extra Bold"/>
              </a:rPr>
              <a:t>It's</a:t>
            </a:r>
            <a:r>
              <a:rPr lang="en-US" sz="1800" spc="-25" dirty="0">
                <a:latin typeface="Bricolage Grotesque Extra BoldBricolage Grotesque Extra Bold"/>
              </a:rPr>
              <a:t> </a:t>
            </a:r>
            <a:r>
              <a:rPr lang="en-US" sz="1800" dirty="0">
                <a:latin typeface="Bricolage Grotesque Extra BoldBricolage Grotesque Extra Bold"/>
              </a:rPr>
              <a:t>a</a:t>
            </a:r>
            <a:r>
              <a:rPr lang="en-US" sz="1800" spc="-35" dirty="0">
                <a:latin typeface="Bricolage Grotesque Extra BoldBricolage Grotesque Extra Bold"/>
              </a:rPr>
              <a:t> </a:t>
            </a:r>
            <a:r>
              <a:rPr lang="en-US" sz="1800" dirty="0">
                <a:latin typeface="Bricolage Grotesque Extra BoldBricolage Grotesque Extra Bold"/>
              </a:rPr>
              <a:t>secure</a:t>
            </a:r>
            <a:r>
              <a:rPr lang="en-US" sz="1800" spc="-20" dirty="0">
                <a:latin typeface="Bricolage Grotesque Extra BoldBricolage Grotesque Extra Bold"/>
              </a:rPr>
              <a:t> </a:t>
            </a:r>
            <a:r>
              <a:rPr lang="en-US" sz="1800" spc="-10" dirty="0">
                <a:latin typeface="Bricolage Grotesque Extra BoldBricolage Grotesque Extra Bold"/>
              </a:rPr>
              <a:t>application.</a:t>
            </a:r>
            <a:endParaRPr lang="en-US" sz="1800" dirty="0">
              <a:latin typeface="Bricolage Grotesque Extra BoldBricolage Grotesque Extra Bold"/>
            </a:endParaRPr>
          </a:p>
        </p:txBody>
      </p:sp>
      <p:pic>
        <p:nvPicPr>
          <p:cNvPr id="4" name="object 4"/>
          <p:cNvPicPr/>
          <p:nvPr/>
        </p:nvPicPr>
        <p:blipFill>
          <a:blip r:embed="rId3" cstate="print"/>
          <a:stretch>
            <a:fillRect/>
          </a:stretch>
        </p:blipFill>
        <p:spPr>
          <a:xfrm>
            <a:off x="0" y="0"/>
            <a:ext cx="14628494" cy="2005329"/>
          </a:xfrm>
          <a:prstGeom prst="rect">
            <a:avLst/>
          </a:prstGeom>
        </p:spPr>
      </p:pic>
      <p:grpSp>
        <p:nvGrpSpPr>
          <p:cNvPr id="5" name="object 5"/>
          <p:cNvGrpSpPr/>
          <p:nvPr/>
        </p:nvGrpSpPr>
        <p:grpSpPr>
          <a:xfrm>
            <a:off x="533400" y="3016504"/>
            <a:ext cx="6705600" cy="1978660"/>
            <a:chOff x="533400" y="3016504"/>
            <a:chExt cx="6705600" cy="1978660"/>
          </a:xfrm>
        </p:grpSpPr>
        <p:sp>
          <p:nvSpPr>
            <p:cNvPr id="6" name="object 6"/>
            <p:cNvSpPr/>
            <p:nvPr/>
          </p:nvSpPr>
          <p:spPr>
            <a:xfrm>
              <a:off x="533400" y="3016504"/>
              <a:ext cx="6705600" cy="1978660"/>
            </a:xfrm>
            <a:custGeom>
              <a:avLst/>
              <a:gdLst/>
              <a:ahLst/>
              <a:cxnLst/>
              <a:rect l="l" t="t" r="r" b="b"/>
              <a:pathLst>
                <a:path w="6705600" h="1978660">
                  <a:moveTo>
                    <a:pt x="6641465" y="0"/>
                  </a:moveTo>
                  <a:lnTo>
                    <a:pt x="64096" y="0"/>
                  </a:lnTo>
                  <a:lnTo>
                    <a:pt x="39144" y="5038"/>
                  </a:lnTo>
                  <a:lnTo>
                    <a:pt x="18770" y="18780"/>
                  </a:lnTo>
                  <a:lnTo>
                    <a:pt x="5035" y="39165"/>
                  </a:lnTo>
                  <a:lnTo>
                    <a:pt x="0" y="64135"/>
                  </a:lnTo>
                  <a:lnTo>
                    <a:pt x="0" y="1914017"/>
                  </a:lnTo>
                  <a:lnTo>
                    <a:pt x="5035" y="1938986"/>
                  </a:lnTo>
                  <a:lnTo>
                    <a:pt x="18770" y="1959371"/>
                  </a:lnTo>
                  <a:lnTo>
                    <a:pt x="39144" y="1973113"/>
                  </a:lnTo>
                  <a:lnTo>
                    <a:pt x="64096" y="1978152"/>
                  </a:lnTo>
                  <a:lnTo>
                    <a:pt x="6641465" y="1978152"/>
                  </a:lnTo>
                  <a:lnTo>
                    <a:pt x="6666434" y="1973113"/>
                  </a:lnTo>
                  <a:lnTo>
                    <a:pt x="6686819" y="1959371"/>
                  </a:lnTo>
                  <a:lnTo>
                    <a:pt x="6700561" y="1938986"/>
                  </a:lnTo>
                  <a:lnTo>
                    <a:pt x="6705600" y="1914017"/>
                  </a:lnTo>
                  <a:lnTo>
                    <a:pt x="6705600" y="64135"/>
                  </a:lnTo>
                  <a:lnTo>
                    <a:pt x="6700561" y="39165"/>
                  </a:lnTo>
                  <a:lnTo>
                    <a:pt x="6686819" y="18780"/>
                  </a:lnTo>
                  <a:lnTo>
                    <a:pt x="6666434" y="5038"/>
                  </a:lnTo>
                  <a:lnTo>
                    <a:pt x="6641465" y="0"/>
                  </a:lnTo>
                  <a:close/>
                </a:path>
              </a:pathLst>
            </a:custGeom>
            <a:solidFill>
              <a:srgbClr val="282C5E"/>
            </a:solidFill>
          </p:spPr>
          <p:txBody>
            <a:bodyPr wrap="square" lIns="0" tIns="0" rIns="0" bIns="0" rtlCol="0"/>
            <a:lstStyle/>
            <a:p>
              <a:endParaRPr dirty="0"/>
            </a:p>
          </p:txBody>
        </p:sp>
        <p:sp>
          <p:nvSpPr>
            <p:cNvPr id="7" name="object 7"/>
            <p:cNvSpPr/>
            <p:nvPr/>
          </p:nvSpPr>
          <p:spPr>
            <a:xfrm>
              <a:off x="688847" y="3168904"/>
              <a:ext cx="457200" cy="457200"/>
            </a:xfrm>
            <a:custGeom>
              <a:avLst/>
              <a:gdLst/>
              <a:ahLst/>
              <a:cxnLst/>
              <a:rect l="l" t="t" r="r" b="b"/>
              <a:pathLst>
                <a:path w="457200" h="457200">
                  <a:moveTo>
                    <a:pt x="228599" y="0"/>
                  </a:moveTo>
                  <a:lnTo>
                    <a:pt x="182529" y="4644"/>
                  </a:lnTo>
                  <a:lnTo>
                    <a:pt x="139619" y="17966"/>
                  </a:lnTo>
                  <a:lnTo>
                    <a:pt x="100788" y="39045"/>
                  </a:lnTo>
                  <a:lnTo>
                    <a:pt x="66955" y="66960"/>
                  </a:lnTo>
                  <a:lnTo>
                    <a:pt x="39041" y="100793"/>
                  </a:lnTo>
                  <a:lnTo>
                    <a:pt x="17964" y="139624"/>
                  </a:lnTo>
                  <a:lnTo>
                    <a:pt x="4644" y="182533"/>
                  </a:lnTo>
                  <a:lnTo>
                    <a:pt x="0" y="228600"/>
                  </a:lnTo>
                  <a:lnTo>
                    <a:pt x="4644" y="274666"/>
                  </a:lnTo>
                  <a:lnTo>
                    <a:pt x="17964" y="317575"/>
                  </a:lnTo>
                  <a:lnTo>
                    <a:pt x="39041" y="356406"/>
                  </a:lnTo>
                  <a:lnTo>
                    <a:pt x="66955" y="390239"/>
                  </a:lnTo>
                  <a:lnTo>
                    <a:pt x="100788" y="418154"/>
                  </a:lnTo>
                  <a:lnTo>
                    <a:pt x="139619" y="439233"/>
                  </a:lnTo>
                  <a:lnTo>
                    <a:pt x="182529" y="452555"/>
                  </a:lnTo>
                  <a:lnTo>
                    <a:pt x="228599" y="457200"/>
                  </a:lnTo>
                  <a:lnTo>
                    <a:pt x="274670" y="452555"/>
                  </a:lnTo>
                  <a:lnTo>
                    <a:pt x="317580" y="439233"/>
                  </a:lnTo>
                  <a:lnTo>
                    <a:pt x="356411" y="418154"/>
                  </a:lnTo>
                  <a:lnTo>
                    <a:pt x="390244" y="390239"/>
                  </a:lnTo>
                  <a:lnTo>
                    <a:pt x="418158" y="356406"/>
                  </a:lnTo>
                  <a:lnTo>
                    <a:pt x="439235" y="317575"/>
                  </a:lnTo>
                  <a:lnTo>
                    <a:pt x="452555" y="274666"/>
                  </a:lnTo>
                  <a:lnTo>
                    <a:pt x="457199" y="228600"/>
                  </a:lnTo>
                  <a:lnTo>
                    <a:pt x="452555" y="182533"/>
                  </a:lnTo>
                  <a:lnTo>
                    <a:pt x="439235" y="139624"/>
                  </a:lnTo>
                  <a:lnTo>
                    <a:pt x="418158" y="100793"/>
                  </a:lnTo>
                  <a:lnTo>
                    <a:pt x="390244" y="66960"/>
                  </a:lnTo>
                  <a:lnTo>
                    <a:pt x="356411" y="39045"/>
                  </a:lnTo>
                  <a:lnTo>
                    <a:pt x="317580" y="17966"/>
                  </a:lnTo>
                  <a:lnTo>
                    <a:pt x="274670" y="4644"/>
                  </a:lnTo>
                  <a:lnTo>
                    <a:pt x="228599" y="0"/>
                  </a:lnTo>
                  <a:close/>
                </a:path>
              </a:pathLst>
            </a:custGeom>
            <a:solidFill>
              <a:srgbClr val="EDADF6"/>
            </a:solidFill>
          </p:spPr>
          <p:txBody>
            <a:bodyPr wrap="square" lIns="0" tIns="0" rIns="0" bIns="0" rtlCol="0"/>
            <a:lstStyle/>
            <a:p>
              <a:endParaRPr/>
            </a:p>
          </p:txBody>
        </p:sp>
        <p:pic>
          <p:nvPicPr>
            <p:cNvPr id="8" name="object 8"/>
            <p:cNvPicPr/>
            <p:nvPr/>
          </p:nvPicPr>
          <p:blipFill>
            <a:blip r:embed="rId4" cstate="print"/>
            <a:stretch>
              <a:fillRect/>
            </a:stretch>
          </p:blipFill>
          <p:spPr>
            <a:xfrm>
              <a:off x="813815" y="3293872"/>
              <a:ext cx="207264" cy="207263"/>
            </a:xfrm>
            <a:prstGeom prst="rect">
              <a:avLst/>
            </a:prstGeom>
          </p:spPr>
        </p:pic>
        <p:pic>
          <p:nvPicPr>
            <p:cNvPr id="9" name="object 9"/>
            <p:cNvPicPr/>
            <p:nvPr/>
          </p:nvPicPr>
          <p:blipFill>
            <a:blip r:embed="rId5" cstate="print"/>
            <a:stretch>
              <a:fillRect/>
            </a:stretch>
          </p:blipFill>
          <p:spPr>
            <a:xfrm>
              <a:off x="707009" y="3834638"/>
              <a:ext cx="448132" cy="131063"/>
            </a:xfrm>
            <a:prstGeom prst="rect">
              <a:avLst/>
            </a:prstGeom>
          </p:spPr>
        </p:pic>
        <p:sp>
          <p:nvSpPr>
            <p:cNvPr id="10" name="object 10"/>
            <p:cNvSpPr/>
            <p:nvPr/>
          </p:nvSpPr>
          <p:spPr>
            <a:xfrm>
              <a:off x="1172794" y="3910584"/>
              <a:ext cx="49530" cy="13335"/>
            </a:xfrm>
            <a:custGeom>
              <a:avLst/>
              <a:gdLst/>
              <a:ahLst/>
              <a:cxnLst/>
              <a:rect l="l" t="t" r="r" b="b"/>
              <a:pathLst>
                <a:path w="49530" h="13335">
                  <a:moveTo>
                    <a:pt x="46139" y="0"/>
                  </a:moveTo>
                  <a:lnTo>
                    <a:pt x="2412" y="0"/>
                  </a:lnTo>
                  <a:lnTo>
                    <a:pt x="1498" y="507"/>
                  </a:lnTo>
                  <a:lnTo>
                    <a:pt x="304" y="2412"/>
                  </a:lnTo>
                  <a:lnTo>
                    <a:pt x="0" y="4063"/>
                  </a:lnTo>
                  <a:lnTo>
                    <a:pt x="0" y="8762"/>
                  </a:lnTo>
                  <a:lnTo>
                    <a:pt x="304" y="10413"/>
                  </a:lnTo>
                  <a:lnTo>
                    <a:pt x="1498" y="12318"/>
                  </a:lnTo>
                  <a:lnTo>
                    <a:pt x="2412" y="12826"/>
                  </a:lnTo>
                  <a:lnTo>
                    <a:pt x="46748" y="12826"/>
                  </a:lnTo>
                  <a:lnTo>
                    <a:pt x="47612" y="12318"/>
                  </a:lnTo>
                  <a:lnTo>
                    <a:pt x="48818" y="10413"/>
                  </a:lnTo>
                  <a:lnTo>
                    <a:pt x="49123" y="8762"/>
                  </a:lnTo>
                  <a:lnTo>
                    <a:pt x="49123" y="6350"/>
                  </a:lnTo>
                  <a:lnTo>
                    <a:pt x="47066" y="380"/>
                  </a:lnTo>
                  <a:lnTo>
                    <a:pt x="46621" y="126"/>
                  </a:lnTo>
                  <a:lnTo>
                    <a:pt x="46139" y="0"/>
                  </a:lnTo>
                  <a:close/>
                </a:path>
              </a:pathLst>
            </a:custGeom>
            <a:solidFill>
              <a:srgbClr val="E4DCE6"/>
            </a:solidFill>
          </p:spPr>
          <p:txBody>
            <a:bodyPr wrap="square" lIns="0" tIns="0" rIns="0" bIns="0" rtlCol="0"/>
            <a:lstStyle/>
            <a:p>
              <a:endParaRPr/>
            </a:p>
          </p:txBody>
        </p:sp>
        <p:pic>
          <p:nvPicPr>
            <p:cNvPr id="11" name="object 11"/>
            <p:cNvPicPr/>
            <p:nvPr/>
          </p:nvPicPr>
          <p:blipFill>
            <a:blip r:embed="rId6" cstate="print"/>
            <a:stretch>
              <a:fillRect/>
            </a:stretch>
          </p:blipFill>
          <p:spPr>
            <a:xfrm>
              <a:off x="1248536" y="3840480"/>
              <a:ext cx="443992" cy="157353"/>
            </a:xfrm>
            <a:prstGeom prst="rect">
              <a:avLst/>
            </a:prstGeom>
          </p:spPr>
        </p:pic>
        <p:pic>
          <p:nvPicPr>
            <p:cNvPr id="12" name="object 12"/>
            <p:cNvPicPr/>
            <p:nvPr/>
          </p:nvPicPr>
          <p:blipFill>
            <a:blip r:embed="rId7" cstate="print"/>
            <a:stretch>
              <a:fillRect/>
            </a:stretch>
          </p:blipFill>
          <p:spPr>
            <a:xfrm>
              <a:off x="690308" y="4192143"/>
              <a:ext cx="103208" cy="96901"/>
            </a:xfrm>
            <a:prstGeom prst="rect">
              <a:avLst/>
            </a:prstGeom>
          </p:spPr>
        </p:pic>
        <p:pic>
          <p:nvPicPr>
            <p:cNvPr id="13" name="object 13"/>
            <p:cNvPicPr/>
            <p:nvPr/>
          </p:nvPicPr>
          <p:blipFill>
            <a:blip r:embed="rId8" cstate="print"/>
            <a:stretch>
              <a:fillRect/>
            </a:stretch>
          </p:blipFill>
          <p:spPr>
            <a:xfrm>
              <a:off x="858507" y="4184523"/>
              <a:ext cx="662825" cy="130810"/>
            </a:xfrm>
            <a:prstGeom prst="rect">
              <a:avLst/>
            </a:prstGeom>
          </p:spPr>
        </p:pic>
        <p:pic>
          <p:nvPicPr>
            <p:cNvPr id="14" name="object 14"/>
            <p:cNvPicPr/>
            <p:nvPr/>
          </p:nvPicPr>
          <p:blipFill>
            <a:blip r:embed="rId9" cstate="print"/>
            <a:stretch>
              <a:fillRect/>
            </a:stretch>
          </p:blipFill>
          <p:spPr>
            <a:xfrm>
              <a:off x="1592072" y="4189730"/>
              <a:ext cx="721486" cy="100203"/>
            </a:xfrm>
            <a:prstGeom prst="rect">
              <a:avLst/>
            </a:prstGeom>
          </p:spPr>
        </p:pic>
        <p:pic>
          <p:nvPicPr>
            <p:cNvPr id="15" name="object 15"/>
            <p:cNvPicPr/>
            <p:nvPr/>
          </p:nvPicPr>
          <p:blipFill>
            <a:blip r:embed="rId10" cstate="print"/>
            <a:stretch>
              <a:fillRect/>
            </a:stretch>
          </p:blipFill>
          <p:spPr>
            <a:xfrm>
              <a:off x="2385314" y="4185031"/>
              <a:ext cx="308864" cy="104902"/>
            </a:xfrm>
            <a:prstGeom prst="rect">
              <a:avLst/>
            </a:prstGeom>
          </p:spPr>
        </p:pic>
        <p:pic>
          <p:nvPicPr>
            <p:cNvPr id="16" name="object 16"/>
            <p:cNvPicPr/>
            <p:nvPr/>
          </p:nvPicPr>
          <p:blipFill>
            <a:blip r:embed="rId11" cstate="print"/>
            <a:stretch>
              <a:fillRect/>
            </a:stretch>
          </p:blipFill>
          <p:spPr>
            <a:xfrm>
              <a:off x="2750820" y="4185031"/>
              <a:ext cx="810683" cy="130429"/>
            </a:xfrm>
            <a:prstGeom prst="rect">
              <a:avLst/>
            </a:prstGeom>
          </p:spPr>
        </p:pic>
        <p:pic>
          <p:nvPicPr>
            <p:cNvPr id="17" name="object 17"/>
            <p:cNvPicPr/>
            <p:nvPr/>
          </p:nvPicPr>
          <p:blipFill>
            <a:blip r:embed="rId12" cstate="print"/>
            <a:stretch>
              <a:fillRect/>
            </a:stretch>
          </p:blipFill>
          <p:spPr>
            <a:xfrm>
              <a:off x="3636645" y="4216400"/>
              <a:ext cx="663320" cy="99313"/>
            </a:xfrm>
            <a:prstGeom prst="rect">
              <a:avLst/>
            </a:prstGeom>
          </p:spPr>
        </p:pic>
        <p:pic>
          <p:nvPicPr>
            <p:cNvPr id="18" name="object 18"/>
            <p:cNvPicPr/>
            <p:nvPr/>
          </p:nvPicPr>
          <p:blipFill>
            <a:blip r:embed="rId13" cstate="print"/>
            <a:stretch>
              <a:fillRect/>
            </a:stretch>
          </p:blipFill>
          <p:spPr>
            <a:xfrm>
              <a:off x="4367784" y="4216400"/>
              <a:ext cx="315340" cy="73533"/>
            </a:xfrm>
            <a:prstGeom prst="rect">
              <a:avLst/>
            </a:prstGeom>
          </p:spPr>
        </p:pic>
        <p:pic>
          <p:nvPicPr>
            <p:cNvPr id="19" name="object 19"/>
            <p:cNvPicPr/>
            <p:nvPr/>
          </p:nvPicPr>
          <p:blipFill>
            <a:blip r:embed="rId14" cstate="print"/>
            <a:stretch>
              <a:fillRect/>
            </a:stretch>
          </p:blipFill>
          <p:spPr>
            <a:xfrm>
              <a:off x="4746044" y="4189730"/>
              <a:ext cx="658821" cy="120015"/>
            </a:xfrm>
            <a:prstGeom prst="rect">
              <a:avLst/>
            </a:prstGeom>
          </p:spPr>
        </p:pic>
        <p:pic>
          <p:nvPicPr>
            <p:cNvPr id="20" name="object 20"/>
            <p:cNvPicPr/>
            <p:nvPr/>
          </p:nvPicPr>
          <p:blipFill>
            <a:blip r:embed="rId15" cstate="print"/>
            <a:stretch>
              <a:fillRect/>
            </a:stretch>
          </p:blipFill>
          <p:spPr>
            <a:xfrm>
              <a:off x="5481320" y="4185031"/>
              <a:ext cx="1393444" cy="130683"/>
            </a:xfrm>
            <a:prstGeom prst="rect">
              <a:avLst/>
            </a:prstGeom>
          </p:spPr>
        </p:pic>
        <p:pic>
          <p:nvPicPr>
            <p:cNvPr id="21" name="object 21"/>
            <p:cNvPicPr/>
            <p:nvPr/>
          </p:nvPicPr>
          <p:blipFill>
            <a:blip r:embed="rId16" cstate="print"/>
            <a:stretch>
              <a:fillRect/>
            </a:stretch>
          </p:blipFill>
          <p:spPr>
            <a:xfrm>
              <a:off x="1821180" y="4460240"/>
              <a:ext cx="383286" cy="73533"/>
            </a:xfrm>
            <a:prstGeom prst="rect">
              <a:avLst/>
            </a:prstGeom>
          </p:spPr>
        </p:pic>
        <p:pic>
          <p:nvPicPr>
            <p:cNvPr id="22" name="object 22"/>
            <p:cNvPicPr/>
            <p:nvPr/>
          </p:nvPicPr>
          <p:blipFill>
            <a:blip r:embed="rId17" cstate="print"/>
            <a:stretch>
              <a:fillRect/>
            </a:stretch>
          </p:blipFill>
          <p:spPr>
            <a:xfrm>
              <a:off x="695807" y="4429252"/>
              <a:ext cx="1047648" cy="104521"/>
            </a:xfrm>
            <a:prstGeom prst="rect">
              <a:avLst/>
            </a:prstGeom>
          </p:spPr>
        </p:pic>
        <p:pic>
          <p:nvPicPr>
            <p:cNvPr id="23" name="object 23"/>
            <p:cNvPicPr/>
            <p:nvPr/>
          </p:nvPicPr>
          <p:blipFill>
            <a:blip r:embed="rId18" cstate="print"/>
            <a:stretch>
              <a:fillRect/>
            </a:stretch>
          </p:blipFill>
          <p:spPr>
            <a:xfrm>
              <a:off x="2271395" y="4460240"/>
              <a:ext cx="244856" cy="73533"/>
            </a:xfrm>
            <a:prstGeom prst="rect">
              <a:avLst/>
            </a:prstGeom>
          </p:spPr>
        </p:pic>
        <p:pic>
          <p:nvPicPr>
            <p:cNvPr id="24" name="object 24"/>
            <p:cNvPicPr/>
            <p:nvPr/>
          </p:nvPicPr>
          <p:blipFill>
            <a:blip r:embed="rId19" cstate="print"/>
            <a:stretch>
              <a:fillRect/>
            </a:stretch>
          </p:blipFill>
          <p:spPr>
            <a:xfrm>
              <a:off x="2584069" y="4460240"/>
              <a:ext cx="475361" cy="73533"/>
            </a:xfrm>
            <a:prstGeom prst="rect">
              <a:avLst/>
            </a:prstGeom>
          </p:spPr>
        </p:pic>
        <p:pic>
          <p:nvPicPr>
            <p:cNvPr id="25" name="object 25"/>
            <p:cNvPicPr/>
            <p:nvPr/>
          </p:nvPicPr>
          <p:blipFill>
            <a:blip r:embed="rId20" cstate="print"/>
            <a:stretch>
              <a:fillRect/>
            </a:stretch>
          </p:blipFill>
          <p:spPr>
            <a:xfrm>
              <a:off x="3130676" y="4429252"/>
              <a:ext cx="941451" cy="129667"/>
            </a:xfrm>
            <a:prstGeom prst="rect">
              <a:avLst/>
            </a:prstGeom>
          </p:spPr>
        </p:pic>
        <p:pic>
          <p:nvPicPr>
            <p:cNvPr id="26" name="object 26"/>
            <p:cNvPicPr/>
            <p:nvPr/>
          </p:nvPicPr>
          <p:blipFill>
            <a:blip r:embed="rId21" cstate="print"/>
            <a:stretch>
              <a:fillRect/>
            </a:stretch>
          </p:blipFill>
          <p:spPr>
            <a:xfrm>
              <a:off x="4145915" y="4429506"/>
              <a:ext cx="907669" cy="104267"/>
            </a:xfrm>
            <a:prstGeom prst="rect">
              <a:avLst/>
            </a:prstGeom>
          </p:spPr>
        </p:pic>
        <p:pic>
          <p:nvPicPr>
            <p:cNvPr id="27" name="object 27"/>
            <p:cNvPicPr/>
            <p:nvPr/>
          </p:nvPicPr>
          <p:blipFill>
            <a:blip r:embed="rId22" cstate="print"/>
            <a:stretch>
              <a:fillRect/>
            </a:stretch>
          </p:blipFill>
          <p:spPr>
            <a:xfrm>
              <a:off x="5119751" y="4428363"/>
              <a:ext cx="659511" cy="105410"/>
            </a:xfrm>
            <a:prstGeom prst="rect">
              <a:avLst/>
            </a:prstGeom>
          </p:spPr>
        </p:pic>
      </p:grpSp>
      <p:grpSp>
        <p:nvGrpSpPr>
          <p:cNvPr id="28" name="object 28"/>
          <p:cNvGrpSpPr/>
          <p:nvPr/>
        </p:nvGrpSpPr>
        <p:grpSpPr>
          <a:xfrm>
            <a:off x="7391400" y="3016504"/>
            <a:ext cx="6705600" cy="1978660"/>
            <a:chOff x="7391400" y="3016504"/>
            <a:chExt cx="6705600" cy="1978660"/>
          </a:xfrm>
        </p:grpSpPr>
        <p:sp>
          <p:nvSpPr>
            <p:cNvPr id="29" name="object 29"/>
            <p:cNvSpPr/>
            <p:nvPr/>
          </p:nvSpPr>
          <p:spPr>
            <a:xfrm>
              <a:off x="7391400" y="3016504"/>
              <a:ext cx="6705600" cy="1978660"/>
            </a:xfrm>
            <a:custGeom>
              <a:avLst/>
              <a:gdLst/>
              <a:ahLst/>
              <a:cxnLst/>
              <a:rect l="l" t="t" r="r" b="b"/>
              <a:pathLst>
                <a:path w="6705600" h="1978660">
                  <a:moveTo>
                    <a:pt x="6641465" y="0"/>
                  </a:moveTo>
                  <a:lnTo>
                    <a:pt x="64134" y="0"/>
                  </a:lnTo>
                  <a:lnTo>
                    <a:pt x="39165" y="5038"/>
                  </a:lnTo>
                  <a:lnTo>
                    <a:pt x="18780" y="18780"/>
                  </a:lnTo>
                  <a:lnTo>
                    <a:pt x="5038" y="39165"/>
                  </a:lnTo>
                  <a:lnTo>
                    <a:pt x="0" y="64135"/>
                  </a:lnTo>
                  <a:lnTo>
                    <a:pt x="0" y="1914017"/>
                  </a:lnTo>
                  <a:lnTo>
                    <a:pt x="5038" y="1938986"/>
                  </a:lnTo>
                  <a:lnTo>
                    <a:pt x="18780" y="1959371"/>
                  </a:lnTo>
                  <a:lnTo>
                    <a:pt x="39165" y="1973113"/>
                  </a:lnTo>
                  <a:lnTo>
                    <a:pt x="64134" y="1978152"/>
                  </a:lnTo>
                  <a:lnTo>
                    <a:pt x="6641465" y="1978152"/>
                  </a:lnTo>
                  <a:lnTo>
                    <a:pt x="6666434" y="1973113"/>
                  </a:lnTo>
                  <a:lnTo>
                    <a:pt x="6686819" y="1959371"/>
                  </a:lnTo>
                  <a:lnTo>
                    <a:pt x="6700561" y="1938986"/>
                  </a:lnTo>
                  <a:lnTo>
                    <a:pt x="6705600" y="1914017"/>
                  </a:lnTo>
                  <a:lnTo>
                    <a:pt x="6705600" y="64135"/>
                  </a:lnTo>
                  <a:lnTo>
                    <a:pt x="6700561" y="39165"/>
                  </a:lnTo>
                  <a:lnTo>
                    <a:pt x="6686819" y="18780"/>
                  </a:lnTo>
                  <a:lnTo>
                    <a:pt x="6666434" y="5038"/>
                  </a:lnTo>
                  <a:lnTo>
                    <a:pt x="6641465" y="0"/>
                  </a:lnTo>
                  <a:close/>
                </a:path>
              </a:pathLst>
            </a:custGeom>
            <a:solidFill>
              <a:srgbClr val="282C5E"/>
            </a:solidFill>
          </p:spPr>
          <p:txBody>
            <a:bodyPr wrap="square" lIns="0" tIns="0" rIns="0" bIns="0" rtlCol="0"/>
            <a:lstStyle/>
            <a:p>
              <a:endParaRPr/>
            </a:p>
          </p:txBody>
        </p:sp>
        <p:sp>
          <p:nvSpPr>
            <p:cNvPr id="30" name="object 30"/>
            <p:cNvSpPr/>
            <p:nvPr/>
          </p:nvSpPr>
          <p:spPr>
            <a:xfrm>
              <a:off x="7543800" y="3168904"/>
              <a:ext cx="460375" cy="457200"/>
            </a:xfrm>
            <a:custGeom>
              <a:avLst/>
              <a:gdLst/>
              <a:ahLst/>
              <a:cxnLst/>
              <a:rect l="l" t="t" r="r" b="b"/>
              <a:pathLst>
                <a:path w="460375" h="457200">
                  <a:moveTo>
                    <a:pt x="231648" y="0"/>
                  </a:moveTo>
                  <a:lnTo>
                    <a:pt x="228600" y="0"/>
                  </a:lnTo>
                  <a:lnTo>
                    <a:pt x="182533" y="4644"/>
                  </a:lnTo>
                  <a:lnTo>
                    <a:pt x="139624" y="17966"/>
                  </a:lnTo>
                  <a:lnTo>
                    <a:pt x="100793" y="39045"/>
                  </a:lnTo>
                  <a:lnTo>
                    <a:pt x="66960" y="66960"/>
                  </a:lnTo>
                  <a:lnTo>
                    <a:pt x="39045" y="100793"/>
                  </a:lnTo>
                  <a:lnTo>
                    <a:pt x="17966" y="139624"/>
                  </a:lnTo>
                  <a:lnTo>
                    <a:pt x="4644" y="182533"/>
                  </a:lnTo>
                  <a:lnTo>
                    <a:pt x="0" y="228600"/>
                  </a:lnTo>
                  <a:lnTo>
                    <a:pt x="4644" y="274666"/>
                  </a:lnTo>
                  <a:lnTo>
                    <a:pt x="17966" y="317575"/>
                  </a:lnTo>
                  <a:lnTo>
                    <a:pt x="39045" y="356406"/>
                  </a:lnTo>
                  <a:lnTo>
                    <a:pt x="66960" y="390239"/>
                  </a:lnTo>
                  <a:lnTo>
                    <a:pt x="100793" y="418154"/>
                  </a:lnTo>
                  <a:lnTo>
                    <a:pt x="139624" y="439233"/>
                  </a:lnTo>
                  <a:lnTo>
                    <a:pt x="182533" y="452555"/>
                  </a:lnTo>
                  <a:lnTo>
                    <a:pt x="228600" y="457200"/>
                  </a:lnTo>
                  <a:lnTo>
                    <a:pt x="231648" y="457200"/>
                  </a:lnTo>
                  <a:lnTo>
                    <a:pt x="277714" y="452555"/>
                  </a:lnTo>
                  <a:lnTo>
                    <a:pt x="320623" y="439233"/>
                  </a:lnTo>
                  <a:lnTo>
                    <a:pt x="359454" y="418154"/>
                  </a:lnTo>
                  <a:lnTo>
                    <a:pt x="393287" y="390239"/>
                  </a:lnTo>
                  <a:lnTo>
                    <a:pt x="421202" y="356406"/>
                  </a:lnTo>
                  <a:lnTo>
                    <a:pt x="442281" y="317575"/>
                  </a:lnTo>
                  <a:lnTo>
                    <a:pt x="455603" y="274666"/>
                  </a:lnTo>
                  <a:lnTo>
                    <a:pt x="460248" y="228600"/>
                  </a:lnTo>
                  <a:lnTo>
                    <a:pt x="455603" y="182533"/>
                  </a:lnTo>
                  <a:lnTo>
                    <a:pt x="442281" y="139624"/>
                  </a:lnTo>
                  <a:lnTo>
                    <a:pt x="421202" y="100793"/>
                  </a:lnTo>
                  <a:lnTo>
                    <a:pt x="393287" y="66960"/>
                  </a:lnTo>
                  <a:lnTo>
                    <a:pt x="359454" y="39045"/>
                  </a:lnTo>
                  <a:lnTo>
                    <a:pt x="320623" y="17966"/>
                  </a:lnTo>
                  <a:lnTo>
                    <a:pt x="277714" y="4644"/>
                  </a:lnTo>
                  <a:lnTo>
                    <a:pt x="231648" y="0"/>
                  </a:lnTo>
                  <a:close/>
                </a:path>
              </a:pathLst>
            </a:custGeom>
            <a:solidFill>
              <a:srgbClr val="EDADF6"/>
            </a:solidFill>
          </p:spPr>
          <p:txBody>
            <a:bodyPr wrap="square" lIns="0" tIns="0" rIns="0" bIns="0" rtlCol="0"/>
            <a:lstStyle/>
            <a:p>
              <a:endParaRPr/>
            </a:p>
          </p:txBody>
        </p:sp>
        <p:pic>
          <p:nvPicPr>
            <p:cNvPr id="31" name="object 31"/>
            <p:cNvPicPr/>
            <p:nvPr/>
          </p:nvPicPr>
          <p:blipFill>
            <a:blip r:embed="rId4" cstate="print"/>
            <a:stretch>
              <a:fillRect/>
            </a:stretch>
          </p:blipFill>
          <p:spPr>
            <a:xfrm>
              <a:off x="7671815" y="3293872"/>
              <a:ext cx="204216" cy="207263"/>
            </a:xfrm>
            <a:prstGeom prst="rect">
              <a:avLst/>
            </a:prstGeom>
          </p:spPr>
        </p:pic>
        <p:pic>
          <p:nvPicPr>
            <p:cNvPr id="32" name="object 32"/>
            <p:cNvPicPr/>
            <p:nvPr/>
          </p:nvPicPr>
          <p:blipFill>
            <a:blip r:embed="rId23" cstate="print"/>
            <a:stretch>
              <a:fillRect/>
            </a:stretch>
          </p:blipFill>
          <p:spPr>
            <a:xfrm>
              <a:off x="7563230" y="3834638"/>
              <a:ext cx="1438655" cy="163195"/>
            </a:xfrm>
            <a:prstGeom prst="rect">
              <a:avLst/>
            </a:prstGeom>
          </p:spPr>
        </p:pic>
        <p:sp>
          <p:nvSpPr>
            <p:cNvPr id="33" name="object 33"/>
            <p:cNvSpPr/>
            <p:nvPr/>
          </p:nvSpPr>
          <p:spPr>
            <a:xfrm>
              <a:off x="7546720" y="4185031"/>
              <a:ext cx="297815" cy="105410"/>
            </a:xfrm>
            <a:custGeom>
              <a:avLst/>
              <a:gdLst/>
              <a:ahLst/>
              <a:cxnLst/>
              <a:rect l="l" t="t" r="r" b="b"/>
              <a:pathLst>
                <a:path w="297815" h="105410">
                  <a:moveTo>
                    <a:pt x="47117" y="103886"/>
                  </a:moveTo>
                  <a:lnTo>
                    <a:pt x="41528" y="103886"/>
                  </a:lnTo>
                  <a:lnTo>
                    <a:pt x="42799" y="104013"/>
                  </a:lnTo>
                  <a:lnTo>
                    <a:pt x="45847" y="104013"/>
                  </a:lnTo>
                  <a:lnTo>
                    <a:pt x="47117" y="103886"/>
                  </a:lnTo>
                  <a:close/>
                </a:path>
                <a:path w="297815" h="105410">
                  <a:moveTo>
                    <a:pt x="51816" y="103124"/>
                  </a:moveTo>
                  <a:lnTo>
                    <a:pt x="37083" y="103124"/>
                  </a:lnTo>
                  <a:lnTo>
                    <a:pt x="40131" y="103886"/>
                  </a:lnTo>
                  <a:lnTo>
                    <a:pt x="48005" y="103886"/>
                  </a:lnTo>
                  <a:lnTo>
                    <a:pt x="51816" y="103124"/>
                  </a:lnTo>
                  <a:close/>
                </a:path>
                <a:path w="297815" h="105410">
                  <a:moveTo>
                    <a:pt x="52197" y="18034"/>
                  </a:moveTo>
                  <a:lnTo>
                    <a:pt x="36449" y="18034"/>
                  </a:lnTo>
                  <a:lnTo>
                    <a:pt x="36575" y="102362"/>
                  </a:lnTo>
                  <a:lnTo>
                    <a:pt x="36829" y="102616"/>
                  </a:lnTo>
                  <a:lnTo>
                    <a:pt x="36956" y="102870"/>
                  </a:lnTo>
                  <a:lnTo>
                    <a:pt x="37464" y="103124"/>
                  </a:lnTo>
                  <a:lnTo>
                    <a:pt x="51053" y="103124"/>
                  </a:lnTo>
                  <a:lnTo>
                    <a:pt x="51561" y="102870"/>
                  </a:lnTo>
                  <a:lnTo>
                    <a:pt x="52070" y="102362"/>
                  </a:lnTo>
                  <a:lnTo>
                    <a:pt x="52197" y="18034"/>
                  </a:lnTo>
                  <a:close/>
                </a:path>
                <a:path w="297815" h="105410">
                  <a:moveTo>
                    <a:pt x="86740" y="7493"/>
                  </a:moveTo>
                  <a:lnTo>
                    <a:pt x="1777" y="7493"/>
                  </a:lnTo>
                  <a:lnTo>
                    <a:pt x="1015" y="8001"/>
                  </a:lnTo>
                  <a:lnTo>
                    <a:pt x="761" y="8509"/>
                  </a:lnTo>
                  <a:lnTo>
                    <a:pt x="507" y="8890"/>
                  </a:lnTo>
                  <a:lnTo>
                    <a:pt x="380" y="9525"/>
                  </a:lnTo>
                  <a:lnTo>
                    <a:pt x="253" y="10287"/>
                  </a:lnTo>
                  <a:lnTo>
                    <a:pt x="0" y="10922"/>
                  </a:lnTo>
                  <a:lnTo>
                    <a:pt x="0" y="14478"/>
                  </a:lnTo>
                  <a:lnTo>
                    <a:pt x="253" y="15113"/>
                  </a:lnTo>
                  <a:lnTo>
                    <a:pt x="380" y="15875"/>
                  </a:lnTo>
                  <a:lnTo>
                    <a:pt x="507" y="16383"/>
                  </a:lnTo>
                  <a:lnTo>
                    <a:pt x="761" y="16891"/>
                  </a:lnTo>
                  <a:lnTo>
                    <a:pt x="1015" y="17272"/>
                  </a:lnTo>
                  <a:lnTo>
                    <a:pt x="2158" y="18034"/>
                  </a:lnTo>
                  <a:lnTo>
                    <a:pt x="86359" y="18034"/>
                  </a:lnTo>
                  <a:lnTo>
                    <a:pt x="86740" y="17780"/>
                  </a:lnTo>
                  <a:lnTo>
                    <a:pt x="87249" y="17526"/>
                  </a:lnTo>
                  <a:lnTo>
                    <a:pt x="87502" y="17272"/>
                  </a:lnTo>
                  <a:lnTo>
                    <a:pt x="87756" y="16891"/>
                  </a:lnTo>
                  <a:lnTo>
                    <a:pt x="88264" y="15875"/>
                  </a:lnTo>
                  <a:lnTo>
                    <a:pt x="88392" y="15113"/>
                  </a:lnTo>
                  <a:lnTo>
                    <a:pt x="88392" y="10287"/>
                  </a:lnTo>
                  <a:lnTo>
                    <a:pt x="88264" y="9525"/>
                  </a:lnTo>
                  <a:lnTo>
                    <a:pt x="88010" y="8890"/>
                  </a:lnTo>
                  <a:lnTo>
                    <a:pt x="87756" y="8509"/>
                  </a:lnTo>
                  <a:lnTo>
                    <a:pt x="87502" y="8001"/>
                  </a:lnTo>
                  <a:lnTo>
                    <a:pt x="87249" y="7747"/>
                  </a:lnTo>
                  <a:lnTo>
                    <a:pt x="86740" y="7493"/>
                  </a:lnTo>
                  <a:close/>
                </a:path>
                <a:path w="297815" h="105410">
                  <a:moveTo>
                    <a:pt x="114300" y="103886"/>
                  </a:moveTo>
                  <a:lnTo>
                    <a:pt x="108838" y="103886"/>
                  </a:lnTo>
                  <a:lnTo>
                    <a:pt x="110108" y="104013"/>
                  </a:lnTo>
                  <a:lnTo>
                    <a:pt x="113029" y="104013"/>
                  </a:lnTo>
                  <a:lnTo>
                    <a:pt x="114300" y="103886"/>
                  </a:lnTo>
                  <a:close/>
                </a:path>
                <a:path w="297815" h="105410">
                  <a:moveTo>
                    <a:pt x="170179" y="103886"/>
                  </a:moveTo>
                  <a:lnTo>
                    <a:pt x="164719" y="103886"/>
                  </a:lnTo>
                  <a:lnTo>
                    <a:pt x="165988" y="104013"/>
                  </a:lnTo>
                  <a:lnTo>
                    <a:pt x="168909" y="104013"/>
                  </a:lnTo>
                  <a:lnTo>
                    <a:pt x="170179" y="103886"/>
                  </a:lnTo>
                  <a:close/>
                </a:path>
                <a:path w="297815" h="105410">
                  <a:moveTo>
                    <a:pt x="117094" y="103505"/>
                  </a:moveTo>
                  <a:lnTo>
                    <a:pt x="106172" y="103505"/>
                  </a:lnTo>
                  <a:lnTo>
                    <a:pt x="107314" y="103886"/>
                  </a:lnTo>
                  <a:lnTo>
                    <a:pt x="115950" y="103886"/>
                  </a:lnTo>
                  <a:lnTo>
                    <a:pt x="117094" y="103505"/>
                  </a:lnTo>
                  <a:close/>
                </a:path>
                <a:path w="297815" h="105410">
                  <a:moveTo>
                    <a:pt x="172847" y="103505"/>
                  </a:moveTo>
                  <a:lnTo>
                    <a:pt x="161925" y="103505"/>
                  </a:lnTo>
                  <a:lnTo>
                    <a:pt x="163067" y="103886"/>
                  </a:lnTo>
                  <a:lnTo>
                    <a:pt x="171703" y="103886"/>
                  </a:lnTo>
                  <a:lnTo>
                    <a:pt x="172847" y="103505"/>
                  </a:lnTo>
                  <a:close/>
                </a:path>
                <a:path w="297815" h="105410">
                  <a:moveTo>
                    <a:pt x="115569" y="0"/>
                  </a:moveTo>
                  <a:lnTo>
                    <a:pt x="107696" y="0"/>
                  </a:lnTo>
                  <a:lnTo>
                    <a:pt x="105536" y="381"/>
                  </a:lnTo>
                  <a:lnTo>
                    <a:pt x="104521" y="889"/>
                  </a:lnTo>
                  <a:lnTo>
                    <a:pt x="104394" y="1143"/>
                  </a:lnTo>
                  <a:lnTo>
                    <a:pt x="104139" y="1524"/>
                  </a:lnTo>
                  <a:lnTo>
                    <a:pt x="104139" y="102362"/>
                  </a:lnTo>
                  <a:lnTo>
                    <a:pt x="104394" y="102616"/>
                  </a:lnTo>
                  <a:lnTo>
                    <a:pt x="104521" y="102870"/>
                  </a:lnTo>
                  <a:lnTo>
                    <a:pt x="105790" y="103505"/>
                  </a:lnTo>
                  <a:lnTo>
                    <a:pt x="117348" y="103505"/>
                  </a:lnTo>
                  <a:lnTo>
                    <a:pt x="118109" y="103124"/>
                  </a:lnTo>
                  <a:lnTo>
                    <a:pt x="118490" y="102870"/>
                  </a:lnTo>
                  <a:lnTo>
                    <a:pt x="118999" y="102362"/>
                  </a:lnTo>
                  <a:lnTo>
                    <a:pt x="119125" y="54864"/>
                  </a:lnTo>
                  <a:lnTo>
                    <a:pt x="123317" y="50673"/>
                  </a:lnTo>
                  <a:lnTo>
                    <a:pt x="127253" y="47371"/>
                  </a:lnTo>
                  <a:lnTo>
                    <a:pt x="134874" y="43053"/>
                  </a:lnTo>
                  <a:lnTo>
                    <a:pt x="136920" y="42418"/>
                  </a:lnTo>
                  <a:lnTo>
                    <a:pt x="119126" y="42418"/>
                  </a:lnTo>
                  <a:lnTo>
                    <a:pt x="118999" y="1524"/>
                  </a:lnTo>
                  <a:lnTo>
                    <a:pt x="117601" y="381"/>
                  </a:lnTo>
                  <a:lnTo>
                    <a:pt x="117856" y="381"/>
                  </a:lnTo>
                  <a:lnTo>
                    <a:pt x="115569" y="0"/>
                  </a:lnTo>
                  <a:close/>
                </a:path>
                <a:path w="297815" h="105410">
                  <a:moveTo>
                    <a:pt x="170677" y="41910"/>
                  </a:moveTo>
                  <a:lnTo>
                    <a:pt x="145287" y="41910"/>
                  </a:lnTo>
                  <a:lnTo>
                    <a:pt x="147954" y="42418"/>
                  </a:lnTo>
                  <a:lnTo>
                    <a:pt x="150113" y="43307"/>
                  </a:lnTo>
                  <a:lnTo>
                    <a:pt x="160020" y="102362"/>
                  </a:lnTo>
                  <a:lnTo>
                    <a:pt x="160527" y="102870"/>
                  </a:lnTo>
                  <a:lnTo>
                    <a:pt x="160908" y="103124"/>
                  </a:lnTo>
                  <a:lnTo>
                    <a:pt x="161671" y="103505"/>
                  </a:lnTo>
                  <a:lnTo>
                    <a:pt x="173228" y="103505"/>
                  </a:lnTo>
                  <a:lnTo>
                    <a:pt x="173989" y="103124"/>
                  </a:lnTo>
                  <a:lnTo>
                    <a:pt x="174371" y="102870"/>
                  </a:lnTo>
                  <a:lnTo>
                    <a:pt x="174878" y="102362"/>
                  </a:lnTo>
                  <a:lnTo>
                    <a:pt x="174863" y="54864"/>
                  </a:lnTo>
                  <a:lnTo>
                    <a:pt x="174498" y="51943"/>
                  </a:lnTo>
                  <a:lnTo>
                    <a:pt x="172544" y="45466"/>
                  </a:lnTo>
                  <a:lnTo>
                    <a:pt x="172465" y="45212"/>
                  </a:lnTo>
                  <a:lnTo>
                    <a:pt x="170677" y="41910"/>
                  </a:lnTo>
                  <a:close/>
                </a:path>
                <a:path w="297815" h="105410">
                  <a:moveTo>
                    <a:pt x="151002" y="31369"/>
                  </a:moveTo>
                  <a:lnTo>
                    <a:pt x="141097" y="31369"/>
                  </a:lnTo>
                  <a:lnTo>
                    <a:pt x="136651" y="32258"/>
                  </a:lnTo>
                  <a:lnTo>
                    <a:pt x="132206" y="34036"/>
                  </a:lnTo>
                  <a:lnTo>
                    <a:pt x="127888" y="35814"/>
                  </a:lnTo>
                  <a:lnTo>
                    <a:pt x="123444" y="38608"/>
                  </a:lnTo>
                  <a:lnTo>
                    <a:pt x="118977" y="42418"/>
                  </a:lnTo>
                  <a:lnTo>
                    <a:pt x="136920" y="42418"/>
                  </a:lnTo>
                  <a:lnTo>
                    <a:pt x="138556" y="41910"/>
                  </a:lnTo>
                  <a:lnTo>
                    <a:pt x="170586" y="41910"/>
                  </a:lnTo>
                  <a:lnTo>
                    <a:pt x="168528" y="39624"/>
                  </a:lnTo>
                  <a:lnTo>
                    <a:pt x="166115" y="37084"/>
                  </a:lnTo>
                  <a:lnTo>
                    <a:pt x="163068" y="35052"/>
                  </a:lnTo>
                  <a:lnTo>
                    <a:pt x="159384" y="33655"/>
                  </a:lnTo>
                  <a:lnTo>
                    <a:pt x="155892" y="32258"/>
                  </a:lnTo>
                  <a:lnTo>
                    <a:pt x="156336" y="32258"/>
                  </a:lnTo>
                  <a:lnTo>
                    <a:pt x="151002" y="31369"/>
                  </a:lnTo>
                  <a:close/>
                </a:path>
                <a:path w="297815" h="105410">
                  <a:moveTo>
                    <a:pt x="211835" y="103886"/>
                  </a:moveTo>
                  <a:lnTo>
                    <a:pt x="206375" y="103886"/>
                  </a:lnTo>
                  <a:lnTo>
                    <a:pt x="207645" y="104013"/>
                  </a:lnTo>
                  <a:lnTo>
                    <a:pt x="210565" y="104013"/>
                  </a:lnTo>
                  <a:lnTo>
                    <a:pt x="211835" y="103886"/>
                  </a:lnTo>
                  <a:close/>
                </a:path>
                <a:path w="297815" h="105410">
                  <a:moveTo>
                    <a:pt x="214629" y="103505"/>
                  </a:moveTo>
                  <a:lnTo>
                    <a:pt x="203707" y="103505"/>
                  </a:lnTo>
                  <a:lnTo>
                    <a:pt x="204851" y="103886"/>
                  </a:lnTo>
                  <a:lnTo>
                    <a:pt x="213487" y="103886"/>
                  </a:lnTo>
                  <a:lnTo>
                    <a:pt x="214629" y="103505"/>
                  </a:lnTo>
                  <a:close/>
                </a:path>
                <a:path w="297815" h="105410">
                  <a:moveTo>
                    <a:pt x="215646" y="33147"/>
                  </a:moveTo>
                  <a:lnTo>
                    <a:pt x="202564" y="33147"/>
                  </a:lnTo>
                  <a:lnTo>
                    <a:pt x="202056" y="33401"/>
                  </a:lnTo>
                  <a:lnTo>
                    <a:pt x="201929" y="33655"/>
                  </a:lnTo>
                  <a:lnTo>
                    <a:pt x="201675" y="34036"/>
                  </a:lnTo>
                  <a:lnTo>
                    <a:pt x="201675" y="102362"/>
                  </a:lnTo>
                  <a:lnTo>
                    <a:pt x="201929" y="102616"/>
                  </a:lnTo>
                  <a:lnTo>
                    <a:pt x="202056" y="102870"/>
                  </a:lnTo>
                  <a:lnTo>
                    <a:pt x="203326" y="103505"/>
                  </a:lnTo>
                  <a:lnTo>
                    <a:pt x="214883" y="103505"/>
                  </a:lnTo>
                  <a:lnTo>
                    <a:pt x="215646" y="103124"/>
                  </a:lnTo>
                  <a:lnTo>
                    <a:pt x="216026" y="102870"/>
                  </a:lnTo>
                  <a:lnTo>
                    <a:pt x="216534" y="102362"/>
                  </a:lnTo>
                  <a:lnTo>
                    <a:pt x="216534" y="34036"/>
                  </a:lnTo>
                  <a:lnTo>
                    <a:pt x="216280" y="33655"/>
                  </a:lnTo>
                  <a:lnTo>
                    <a:pt x="216026" y="33401"/>
                  </a:lnTo>
                  <a:lnTo>
                    <a:pt x="215646" y="33147"/>
                  </a:lnTo>
                  <a:close/>
                </a:path>
                <a:path w="297815" h="105410">
                  <a:moveTo>
                    <a:pt x="205485" y="32512"/>
                  </a:moveTo>
                  <a:lnTo>
                    <a:pt x="205232" y="32512"/>
                  </a:lnTo>
                  <a:lnTo>
                    <a:pt x="203707" y="32766"/>
                  </a:lnTo>
                  <a:lnTo>
                    <a:pt x="202755" y="33147"/>
                  </a:lnTo>
                  <a:lnTo>
                    <a:pt x="215391" y="33147"/>
                  </a:lnTo>
                  <a:lnTo>
                    <a:pt x="214629" y="32766"/>
                  </a:lnTo>
                  <a:lnTo>
                    <a:pt x="203454" y="32766"/>
                  </a:lnTo>
                  <a:lnTo>
                    <a:pt x="205485" y="32512"/>
                  </a:lnTo>
                  <a:close/>
                </a:path>
                <a:path w="297815" h="105410">
                  <a:moveTo>
                    <a:pt x="212851" y="32512"/>
                  </a:moveTo>
                  <a:lnTo>
                    <a:pt x="205485" y="32512"/>
                  </a:lnTo>
                  <a:lnTo>
                    <a:pt x="203454" y="32766"/>
                  </a:lnTo>
                  <a:lnTo>
                    <a:pt x="214883" y="32766"/>
                  </a:lnTo>
                  <a:lnTo>
                    <a:pt x="212851" y="32512"/>
                  </a:lnTo>
                  <a:close/>
                </a:path>
                <a:path w="297815" h="105410">
                  <a:moveTo>
                    <a:pt x="213105" y="32512"/>
                  </a:moveTo>
                  <a:lnTo>
                    <a:pt x="212851" y="32512"/>
                  </a:lnTo>
                  <a:lnTo>
                    <a:pt x="214883" y="32766"/>
                  </a:lnTo>
                  <a:lnTo>
                    <a:pt x="214629" y="32766"/>
                  </a:lnTo>
                  <a:lnTo>
                    <a:pt x="213105" y="32512"/>
                  </a:lnTo>
                  <a:close/>
                </a:path>
                <a:path w="297815" h="105410">
                  <a:moveTo>
                    <a:pt x="212725" y="4699"/>
                  </a:moveTo>
                  <a:lnTo>
                    <a:pt x="205612" y="4699"/>
                  </a:lnTo>
                  <a:lnTo>
                    <a:pt x="203073" y="5334"/>
                  </a:lnTo>
                  <a:lnTo>
                    <a:pt x="201802" y="6350"/>
                  </a:lnTo>
                  <a:lnTo>
                    <a:pt x="200405" y="7366"/>
                  </a:lnTo>
                  <a:lnTo>
                    <a:pt x="199771" y="9271"/>
                  </a:lnTo>
                  <a:lnTo>
                    <a:pt x="199771" y="14986"/>
                  </a:lnTo>
                  <a:lnTo>
                    <a:pt x="200405" y="16891"/>
                  </a:lnTo>
                  <a:lnTo>
                    <a:pt x="201675" y="17907"/>
                  </a:lnTo>
                  <a:lnTo>
                    <a:pt x="203073" y="18923"/>
                  </a:lnTo>
                  <a:lnTo>
                    <a:pt x="205485" y="19431"/>
                  </a:lnTo>
                  <a:lnTo>
                    <a:pt x="212598" y="19431"/>
                  </a:lnTo>
                  <a:lnTo>
                    <a:pt x="215010" y="18923"/>
                  </a:lnTo>
                  <a:lnTo>
                    <a:pt x="217804" y="16891"/>
                  </a:lnTo>
                  <a:lnTo>
                    <a:pt x="218439" y="14986"/>
                  </a:lnTo>
                  <a:lnTo>
                    <a:pt x="218439" y="9271"/>
                  </a:lnTo>
                  <a:lnTo>
                    <a:pt x="217844" y="7366"/>
                  </a:lnTo>
                  <a:lnTo>
                    <a:pt x="217979" y="7366"/>
                  </a:lnTo>
                  <a:lnTo>
                    <a:pt x="216582" y="6350"/>
                  </a:lnTo>
                  <a:lnTo>
                    <a:pt x="215296" y="5334"/>
                  </a:lnTo>
                  <a:lnTo>
                    <a:pt x="215741" y="5334"/>
                  </a:lnTo>
                  <a:lnTo>
                    <a:pt x="212725" y="4699"/>
                  </a:lnTo>
                  <a:close/>
                </a:path>
                <a:path w="297815" h="105410">
                  <a:moveTo>
                    <a:pt x="243120" y="88900"/>
                  </a:moveTo>
                  <a:lnTo>
                    <a:pt x="240664" y="88900"/>
                  </a:lnTo>
                  <a:lnTo>
                    <a:pt x="240283" y="89154"/>
                  </a:lnTo>
                  <a:lnTo>
                    <a:pt x="240029" y="89408"/>
                  </a:lnTo>
                  <a:lnTo>
                    <a:pt x="239818" y="89662"/>
                  </a:lnTo>
                  <a:lnTo>
                    <a:pt x="239733" y="89916"/>
                  </a:lnTo>
                  <a:lnTo>
                    <a:pt x="239649" y="90170"/>
                  </a:lnTo>
                  <a:lnTo>
                    <a:pt x="239522" y="90678"/>
                  </a:lnTo>
                  <a:lnTo>
                    <a:pt x="239395" y="91313"/>
                  </a:lnTo>
                  <a:lnTo>
                    <a:pt x="239268" y="92075"/>
                  </a:lnTo>
                  <a:lnTo>
                    <a:pt x="239204" y="92456"/>
                  </a:lnTo>
                  <a:lnTo>
                    <a:pt x="241173" y="99441"/>
                  </a:lnTo>
                  <a:lnTo>
                    <a:pt x="241807" y="99949"/>
                  </a:lnTo>
                  <a:lnTo>
                    <a:pt x="262254" y="104902"/>
                  </a:lnTo>
                  <a:lnTo>
                    <a:pt x="270001" y="104902"/>
                  </a:lnTo>
                  <a:lnTo>
                    <a:pt x="274320" y="104394"/>
                  </a:lnTo>
                  <a:lnTo>
                    <a:pt x="282194" y="102616"/>
                  </a:lnTo>
                  <a:lnTo>
                    <a:pt x="285623" y="101219"/>
                  </a:lnTo>
                  <a:lnTo>
                    <a:pt x="288349" y="99441"/>
                  </a:lnTo>
                  <a:lnTo>
                    <a:pt x="291337" y="97536"/>
                  </a:lnTo>
                  <a:lnTo>
                    <a:pt x="293624" y="95250"/>
                  </a:lnTo>
                  <a:lnTo>
                    <a:pt x="262974" y="95250"/>
                  </a:lnTo>
                  <a:lnTo>
                    <a:pt x="260053" y="94869"/>
                  </a:lnTo>
                  <a:lnTo>
                    <a:pt x="259613" y="94869"/>
                  </a:lnTo>
                  <a:lnTo>
                    <a:pt x="253746" y="93472"/>
                  </a:lnTo>
                  <a:lnTo>
                    <a:pt x="251840" y="92837"/>
                  </a:lnTo>
                  <a:lnTo>
                    <a:pt x="249872" y="92075"/>
                  </a:lnTo>
                  <a:lnTo>
                    <a:pt x="247650" y="91059"/>
                  </a:lnTo>
                  <a:lnTo>
                    <a:pt x="245999" y="90424"/>
                  </a:lnTo>
                  <a:lnTo>
                    <a:pt x="244728" y="89662"/>
                  </a:lnTo>
                  <a:lnTo>
                    <a:pt x="243712" y="89154"/>
                  </a:lnTo>
                  <a:lnTo>
                    <a:pt x="243120" y="88900"/>
                  </a:lnTo>
                  <a:close/>
                </a:path>
                <a:path w="297815" h="105410">
                  <a:moveTo>
                    <a:pt x="275589" y="31496"/>
                  </a:moveTo>
                  <a:lnTo>
                    <a:pt x="265112" y="31496"/>
                  </a:lnTo>
                  <a:lnTo>
                    <a:pt x="260794" y="32004"/>
                  </a:lnTo>
                  <a:lnTo>
                    <a:pt x="261450" y="32004"/>
                  </a:lnTo>
                  <a:lnTo>
                    <a:pt x="258063" y="33020"/>
                  </a:lnTo>
                  <a:lnTo>
                    <a:pt x="241874" y="45974"/>
                  </a:lnTo>
                  <a:lnTo>
                    <a:pt x="241807" y="46101"/>
                  </a:lnTo>
                  <a:lnTo>
                    <a:pt x="241173" y="48514"/>
                  </a:lnTo>
                  <a:lnTo>
                    <a:pt x="241173" y="54229"/>
                  </a:lnTo>
                  <a:lnTo>
                    <a:pt x="267080" y="72771"/>
                  </a:lnTo>
                  <a:lnTo>
                    <a:pt x="271906" y="74295"/>
                  </a:lnTo>
                  <a:lnTo>
                    <a:pt x="282575" y="82550"/>
                  </a:lnTo>
                  <a:lnTo>
                    <a:pt x="282575" y="86233"/>
                  </a:lnTo>
                  <a:lnTo>
                    <a:pt x="282194" y="87757"/>
                  </a:lnTo>
                  <a:lnTo>
                    <a:pt x="281304" y="89154"/>
                  </a:lnTo>
                  <a:lnTo>
                    <a:pt x="280543" y="90424"/>
                  </a:lnTo>
                  <a:lnTo>
                    <a:pt x="266763" y="95250"/>
                  </a:lnTo>
                  <a:lnTo>
                    <a:pt x="293624" y="95250"/>
                  </a:lnTo>
                  <a:lnTo>
                    <a:pt x="296672" y="89916"/>
                  </a:lnTo>
                  <a:lnTo>
                    <a:pt x="297433" y="86868"/>
                  </a:lnTo>
                  <a:lnTo>
                    <a:pt x="297433" y="80518"/>
                  </a:lnTo>
                  <a:lnTo>
                    <a:pt x="296979" y="78359"/>
                  </a:lnTo>
                  <a:lnTo>
                    <a:pt x="296925" y="78105"/>
                  </a:lnTo>
                  <a:lnTo>
                    <a:pt x="295655" y="75946"/>
                  </a:lnTo>
                  <a:lnTo>
                    <a:pt x="294512" y="73914"/>
                  </a:lnTo>
                  <a:lnTo>
                    <a:pt x="292988" y="72136"/>
                  </a:lnTo>
                  <a:lnTo>
                    <a:pt x="290956" y="70612"/>
                  </a:lnTo>
                  <a:lnTo>
                    <a:pt x="289051" y="69088"/>
                  </a:lnTo>
                  <a:lnTo>
                    <a:pt x="286765" y="67818"/>
                  </a:lnTo>
                  <a:lnTo>
                    <a:pt x="281685" y="65786"/>
                  </a:lnTo>
                  <a:lnTo>
                    <a:pt x="276605" y="64008"/>
                  </a:lnTo>
                  <a:lnTo>
                    <a:pt x="273938" y="63119"/>
                  </a:lnTo>
                  <a:lnTo>
                    <a:pt x="271399" y="62357"/>
                  </a:lnTo>
                  <a:lnTo>
                    <a:pt x="268985" y="61595"/>
                  </a:lnTo>
                  <a:lnTo>
                    <a:pt x="266446" y="60706"/>
                  </a:lnTo>
                  <a:lnTo>
                    <a:pt x="264159" y="59817"/>
                  </a:lnTo>
                  <a:lnTo>
                    <a:pt x="262254" y="58801"/>
                  </a:lnTo>
                  <a:lnTo>
                    <a:pt x="260350" y="57912"/>
                  </a:lnTo>
                  <a:lnTo>
                    <a:pt x="258699" y="56769"/>
                  </a:lnTo>
                  <a:lnTo>
                    <a:pt x="257555" y="55372"/>
                  </a:lnTo>
                  <a:lnTo>
                    <a:pt x="256412" y="54229"/>
                  </a:lnTo>
                  <a:lnTo>
                    <a:pt x="255650" y="52451"/>
                  </a:lnTo>
                  <a:lnTo>
                    <a:pt x="255650" y="49149"/>
                  </a:lnTo>
                  <a:lnTo>
                    <a:pt x="256031" y="47879"/>
                  </a:lnTo>
                  <a:lnTo>
                    <a:pt x="256667" y="46609"/>
                  </a:lnTo>
                  <a:lnTo>
                    <a:pt x="257443" y="45212"/>
                  </a:lnTo>
                  <a:lnTo>
                    <a:pt x="257857" y="44831"/>
                  </a:lnTo>
                  <a:lnTo>
                    <a:pt x="258079" y="44577"/>
                  </a:lnTo>
                  <a:lnTo>
                    <a:pt x="258190" y="44450"/>
                  </a:lnTo>
                  <a:lnTo>
                    <a:pt x="260549" y="42799"/>
                  </a:lnTo>
                  <a:lnTo>
                    <a:pt x="262254" y="42037"/>
                  </a:lnTo>
                  <a:lnTo>
                    <a:pt x="265239" y="41275"/>
                  </a:lnTo>
                  <a:lnTo>
                    <a:pt x="293243" y="41275"/>
                  </a:lnTo>
                  <a:lnTo>
                    <a:pt x="293243" y="39624"/>
                  </a:lnTo>
                  <a:lnTo>
                    <a:pt x="293115" y="39116"/>
                  </a:lnTo>
                  <a:lnTo>
                    <a:pt x="292988" y="38100"/>
                  </a:lnTo>
                  <a:lnTo>
                    <a:pt x="292861" y="37719"/>
                  </a:lnTo>
                  <a:lnTo>
                    <a:pt x="292734" y="37338"/>
                  </a:lnTo>
                  <a:lnTo>
                    <a:pt x="292607" y="37084"/>
                  </a:lnTo>
                  <a:lnTo>
                    <a:pt x="292353" y="36703"/>
                  </a:lnTo>
                  <a:lnTo>
                    <a:pt x="292226" y="36449"/>
                  </a:lnTo>
                  <a:lnTo>
                    <a:pt x="284310" y="33020"/>
                  </a:lnTo>
                  <a:lnTo>
                    <a:pt x="284162" y="33020"/>
                  </a:lnTo>
                  <a:lnTo>
                    <a:pt x="281939" y="32385"/>
                  </a:lnTo>
                  <a:lnTo>
                    <a:pt x="280034" y="32004"/>
                  </a:lnTo>
                  <a:lnTo>
                    <a:pt x="275589" y="31496"/>
                  </a:lnTo>
                  <a:close/>
                </a:path>
                <a:path w="297815" h="105410">
                  <a:moveTo>
                    <a:pt x="281000" y="89662"/>
                  </a:moveTo>
                  <a:lnTo>
                    <a:pt x="244728" y="89662"/>
                  </a:lnTo>
                  <a:lnTo>
                    <a:pt x="245152" y="89916"/>
                  </a:lnTo>
                  <a:lnTo>
                    <a:pt x="280847" y="89916"/>
                  </a:lnTo>
                  <a:lnTo>
                    <a:pt x="281000" y="89662"/>
                  </a:lnTo>
                  <a:close/>
                </a:path>
                <a:path w="297815" h="105410">
                  <a:moveTo>
                    <a:pt x="293243" y="41275"/>
                  </a:moveTo>
                  <a:lnTo>
                    <a:pt x="277018" y="41275"/>
                  </a:lnTo>
                  <a:lnTo>
                    <a:pt x="280924" y="42164"/>
                  </a:lnTo>
                  <a:lnTo>
                    <a:pt x="282828" y="42799"/>
                  </a:lnTo>
                  <a:lnTo>
                    <a:pt x="286130" y="44069"/>
                  </a:lnTo>
                  <a:lnTo>
                    <a:pt x="287527" y="44577"/>
                  </a:lnTo>
                  <a:lnTo>
                    <a:pt x="288544" y="45212"/>
                  </a:lnTo>
                  <a:lnTo>
                    <a:pt x="290067" y="45974"/>
                  </a:lnTo>
                  <a:lnTo>
                    <a:pt x="291973" y="45974"/>
                  </a:lnTo>
                  <a:lnTo>
                    <a:pt x="292734" y="44831"/>
                  </a:lnTo>
                  <a:lnTo>
                    <a:pt x="292861" y="44450"/>
                  </a:lnTo>
                  <a:lnTo>
                    <a:pt x="293052" y="44069"/>
                  </a:lnTo>
                  <a:lnTo>
                    <a:pt x="293115" y="43307"/>
                  </a:lnTo>
                  <a:lnTo>
                    <a:pt x="293217" y="42799"/>
                  </a:lnTo>
                  <a:lnTo>
                    <a:pt x="293243" y="41275"/>
                  </a:lnTo>
                  <a:close/>
                </a:path>
              </a:pathLst>
            </a:custGeom>
            <a:solidFill>
              <a:srgbClr val="E4DCE6"/>
            </a:solidFill>
          </p:spPr>
          <p:txBody>
            <a:bodyPr wrap="square" lIns="0" tIns="0" rIns="0" bIns="0" rtlCol="0"/>
            <a:lstStyle/>
            <a:p>
              <a:endParaRPr/>
            </a:p>
          </p:txBody>
        </p:sp>
        <p:pic>
          <p:nvPicPr>
            <p:cNvPr id="34" name="object 34"/>
            <p:cNvPicPr/>
            <p:nvPr/>
          </p:nvPicPr>
          <p:blipFill>
            <a:blip r:embed="rId24" cstate="print"/>
            <a:stretch>
              <a:fillRect/>
            </a:stretch>
          </p:blipFill>
          <p:spPr>
            <a:xfrm>
              <a:off x="7908925" y="4185031"/>
              <a:ext cx="642239" cy="104902"/>
            </a:xfrm>
            <a:prstGeom prst="rect">
              <a:avLst/>
            </a:prstGeom>
          </p:spPr>
        </p:pic>
        <p:sp>
          <p:nvSpPr>
            <p:cNvPr id="35" name="object 35"/>
            <p:cNvSpPr/>
            <p:nvPr/>
          </p:nvSpPr>
          <p:spPr>
            <a:xfrm>
              <a:off x="8630919" y="4184777"/>
              <a:ext cx="429259" cy="105410"/>
            </a:xfrm>
            <a:custGeom>
              <a:avLst/>
              <a:gdLst/>
              <a:ahLst/>
              <a:cxnLst/>
              <a:rect l="l" t="t" r="r" b="b"/>
              <a:pathLst>
                <a:path w="429259" h="105410">
                  <a:moveTo>
                    <a:pt x="45084" y="0"/>
                  </a:moveTo>
                  <a:lnTo>
                    <a:pt x="35813" y="0"/>
                  </a:lnTo>
                  <a:lnTo>
                    <a:pt x="34925" y="253"/>
                  </a:lnTo>
                  <a:lnTo>
                    <a:pt x="34289" y="381"/>
                  </a:lnTo>
                  <a:lnTo>
                    <a:pt x="33274" y="888"/>
                  </a:lnTo>
                  <a:lnTo>
                    <a:pt x="33020" y="1143"/>
                  </a:lnTo>
                  <a:lnTo>
                    <a:pt x="32638" y="1397"/>
                  </a:lnTo>
                  <a:lnTo>
                    <a:pt x="32511" y="2159"/>
                  </a:lnTo>
                  <a:lnTo>
                    <a:pt x="34671" y="36575"/>
                  </a:lnTo>
                  <a:lnTo>
                    <a:pt x="34671" y="37337"/>
                  </a:lnTo>
                  <a:lnTo>
                    <a:pt x="34925" y="37719"/>
                  </a:lnTo>
                  <a:lnTo>
                    <a:pt x="35051" y="37973"/>
                  </a:lnTo>
                  <a:lnTo>
                    <a:pt x="35813" y="38481"/>
                  </a:lnTo>
                  <a:lnTo>
                    <a:pt x="44830" y="38481"/>
                  </a:lnTo>
                  <a:lnTo>
                    <a:pt x="45338" y="38226"/>
                  </a:lnTo>
                  <a:lnTo>
                    <a:pt x="45720" y="37973"/>
                  </a:lnTo>
                  <a:lnTo>
                    <a:pt x="45847" y="37719"/>
                  </a:lnTo>
                  <a:lnTo>
                    <a:pt x="46100" y="37337"/>
                  </a:lnTo>
                  <a:lnTo>
                    <a:pt x="46100" y="36575"/>
                  </a:lnTo>
                  <a:lnTo>
                    <a:pt x="48132" y="2159"/>
                  </a:lnTo>
                  <a:lnTo>
                    <a:pt x="48132" y="1397"/>
                  </a:lnTo>
                  <a:lnTo>
                    <a:pt x="47625" y="888"/>
                  </a:lnTo>
                  <a:lnTo>
                    <a:pt x="47116" y="635"/>
                  </a:lnTo>
                  <a:lnTo>
                    <a:pt x="46481" y="381"/>
                  </a:lnTo>
                  <a:lnTo>
                    <a:pt x="45847" y="253"/>
                  </a:lnTo>
                  <a:lnTo>
                    <a:pt x="45084" y="0"/>
                  </a:lnTo>
                  <a:close/>
                </a:path>
                <a:path w="429259" h="105410">
                  <a:moveTo>
                    <a:pt x="12826" y="0"/>
                  </a:moveTo>
                  <a:lnTo>
                    <a:pt x="3301" y="0"/>
                  </a:lnTo>
                  <a:lnTo>
                    <a:pt x="1778" y="381"/>
                  </a:lnTo>
                  <a:lnTo>
                    <a:pt x="761" y="888"/>
                  </a:lnTo>
                  <a:lnTo>
                    <a:pt x="507" y="1143"/>
                  </a:lnTo>
                  <a:lnTo>
                    <a:pt x="126" y="1397"/>
                  </a:lnTo>
                  <a:lnTo>
                    <a:pt x="0" y="2159"/>
                  </a:lnTo>
                  <a:lnTo>
                    <a:pt x="2158" y="36575"/>
                  </a:lnTo>
                  <a:lnTo>
                    <a:pt x="2158" y="37337"/>
                  </a:lnTo>
                  <a:lnTo>
                    <a:pt x="2412" y="37719"/>
                  </a:lnTo>
                  <a:lnTo>
                    <a:pt x="2539" y="37973"/>
                  </a:lnTo>
                  <a:lnTo>
                    <a:pt x="3301" y="38481"/>
                  </a:lnTo>
                  <a:lnTo>
                    <a:pt x="12319" y="38481"/>
                  </a:lnTo>
                  <a:lnTo>
                    <a:pt x="12826" y="38226"/>
                  </a:lnTo>
                  <a:lnTo>
                    <a:pt x="13207" y="37973"/>
                  </a:lnTo>
                  <a:lnTo>
                    <a:pt x="13334" y="37719"/>
                  </a:lnTo>
                  <a:lnTo>
                    <a:pt x="13588" y="37337"/>
                  </a:lnTo>
                  <a:lnTo>
                    <a:pt x="13715" y="36575"/>
                  </a:lnTo>
                  <a:lnTo>
                    <a:pt x="15748" y="2159"/>
                  </a:lnTo>
                  <a:lnTo>
                    <a:pt x="15748" y="1397"/>
                  </a:lnTo>
                  <a:lnTo>
                    <a:pt x="15341" y="888"/>
                  </a:lnTo>
                  <a:lnTo>
                    <a:pt x="15663" y="888"/>
                  </a:lnTo>
                  <a:lnTo>
                    <a:pt x="13970" y="381"/>
                  </a:lnTo>
                  <a:lnTo>
                    <a:pt x="12826" y="0"/>
                  </a:lnTo>
                  <a:close/>
                </a:path>
                <a:path w="429259" h="105410">
                  <a:moveTo>
                    <a:pt x="86232" y="104139"/>
                  </a:moveTo>
                  <a:lnTo>
                    <a:pt x="80772" y="104139"/>
                  </a:lnTo>
                  <a:lnTo>
                    <a:pt x="82041" y="104267"/>
                  </a:lnTo>
                  <a:lnTo>
                    <a:pt x="84962" y="104267"/>
                  </a:lnTo>
                  <a:lnTo>
                    <a:pt x="86232" y="104139"/>
                  </a:lnTo>
                  <a:close/>
                </a:path>
                <a:path w="429259" h="105410">
                  <a:moveTo>
                    <a:pt x="89026" y="103759"/>
                  </a:moveTo>
                  <a:lnTo>
                    <a:pt x="78104" y="103759"/>
                  </a:lnTo>
                  <a:lnTo>
                    <a:pt x="79247" y="104139"/>
                  </a:lnTo>
                  <a:lnTo>
                    <a:pt x="87883" y="104139"/>
                  </a:lnTo>
                  <a:lnTo>
                    <a:pt x="89026" y="103759"/>
                  </a:lnTo>
                  <a:close/>
                </a:path>
                <a:path w="429259" h="105410">
                  <a:moveTo>
                    <a:pt x="87502" y="253"/>
                  </a:moveTo>
                  <a:lnTo>
                    <a:pt x="79629" y="253"/>
                  </a:lnTo>
                  <a:lnTo>
                    <a:pt x="77470" y="635"/>
                  </a:lnTo>
                  <a:lnTo>
                    <a:pt x="76453" y="1143"/>
                  </a:lnTo>
                  <a:lnTo>
                    <a:pt x="76326" y="1397"/>
                  </a:lnTo>
                  <a:lnTo>
                    <a:pt x="76073" y="1777"/>
                  </a:lnTo>
                  <a:lnTo>
                    <a:pt x="76073" y="102615"/>
                  </a:lnTo>
                  <a:lnTo>
                    <a:pt x="76326" y="102870"/>
                  </a:lnTo>
                  <a:lnTo>
                    <a:pt x="76453" y="103124"/>
                  </a:lnTo>
                  <a:lnTo>
                    <a:pt x="77724" y="103759"/>
                  </a:lnTo>
                  <a:lnTo>
                    <a:pt x="89280" y="103759"/>
                  </a:lnTo>
                  <a:lnTo>
                    <a:pt x="90043" y="103377"/>
                  </a:lnTo>
                  <a:lnTo>
                    <a:pt x="90424" y="103124"/>
                  </a:lnTo>
                  <a:lnTo>
                    <a:pt x="90931" y="102615"/>
                  </a:lnTo>
                  <a:lnTo>
                    <a:pt x="90931" y="1777"/>
                  </a:lnTo>
                  <a:lnTo>
                    <a:pt x="90677" y="1397"/>
                  </a:lnTo>
                  <a:lnTo>
                    <a:pt x="90424" y="1143"/>
                  </a:lnTo>
                  <a:lnTo>
                    <a:pt x="90043" y="888"/>
                  </a:lnTo>
                  <a:lnTo>
                    <a:pt x="89534" y="635"/>
                  </a:lnTo>
                  <a:lnTo>
                    <a:pt x="89789" y="635"/>
                  </a:lnTo>
                  <a:lnTo>
                    <a:pt x="87502" y="253"/>
                  </a:lnTo>
                  <a:close/>
                </a:path>
                <a:path w="429259" h="105410">
                  <a:moveTo>
                    <a:pt x="163195" y="31623"/>
                  </a:moveTo>
                  <a:lnTo>
                    <a:pt x="149351" y="31623"/>
                  </a:lnTo>
                  <a:lnTo>
                    <a:pt x="143255" y="32512"/>
                  </a:lnTo>
                  <a:lnTo>
                    <a:pt x="115315" y="58547"/>
                  </a:lnTo>
                  <a:lnTo>
                    <a:pt x="114426" y="63500"/>
                  </a:lnTo>
                  <a:lnTo>
                    <a:pt x="114522" y="75311"/>
                  </a:lnTo>
                  <a:lnTo>
                    <a:pt x="114941" y="78105"/>
                  </a:lnTo>
                  <a:lnTo>
                    <a:pt x="114998" y="78486"/>
                  </a:lnTo>
                  <a:lnTo>
                    <a:pt x="115093" y="79121"/>
                  </a:lnTo>
                  <a:lnTo>
                    <a:pt x="147954" y="105156"/>
                  </a:lnTo>
                  <a:lnTo>
                    <a:pt x="161671" y="105156"/>
                  </a:lnTo>
                  <a:lnTo>
                    <a:pt x="166896" y="104394"/>
                  </a:lnTo>
                  <a:lnTo>
                    <a:pt x="167419" y="104394"/>
                  </a:lnTo>
                  <a:lnTo>
                    <a:pt x="172974" y="102362"/>
                  </a:lnTo>
                  <a:lnTo>
                    <a:pt x="178307" y="100584"/>
                  </a:lnTo>
                  <a:lnTo>
                    <a:pt x="182752" y="97917"/>
                  </a:lnTo>
                  <a:lnTo>
                    <a:pt x="185918" y="94869"/>
                  </a:lnTo>
                  <a:lnTo>
                    <a:pt x="150622" y="94869"/>
                  </a:lnTo>
                  <a:lnTo>
                    <a:pt x="147235" y="94234"/>
                  </a:lnTo>
                  <a:lnTo>
                    <a:pt x="146858" y="94234"/>
                  </a:lnTo>
                  <a:lnTo>
                    <a:pt x="139953" y="91312"/>
                  </a:lnTo>
                  <a:lnTo>
                    <a:pt x="137413" y="89408"/>
                  </a:lnTo>
                  <a:lnTo>
                    <a:pt x="135508" y="86995"/>
                  </a:lnTo>
                  <a:lnTo>
                    <a:pt x="133476" y="84582"/>
                  </a:lnTo>
                  <a:lnTo>
                    <a:pt x="132079" y="81787"/>
                  </a:lnTo>
                  <a:lnTo>
                    <a:pt x="131318" y="78486"/>
                  </a:lnTo>
                  <a:lnTo>
                    <a:pt x="130428" y="75311"/>
                  </a:lnTo>
                  <a:lnTo>
                    <a:pt x="130189" y="73151"/>
                  </a:lnTo>
                  <a:lnTo>
                    <a:pt x="130175" y="63500"/>
                  </a:lnTo>
                  <a:lnTo>
                    <a:pt x="130374" y="62102"/>
                  </a:lnTo>
                  <a:lnTo>
                    <a:pt x="130465" y="61468"/>
                  </a:lnTo>
                  <a:lnTo>
                    <a:pt x="130555" y="60833"/>
                  </a:lnTo>
                  <a:lnTo>
                    <a:pt x="131572" y="57658"/>
                  </a:lnTo>
                  <a:lnTo>
                    <a:pt x="132587" y="54356"/>
                  </a:lnTo>
                  <a:lnTo>
                    <a:pt x="134111" y="51562"/>
                  </a:lnTo>
                  <a:lnTo>
                    <a:pt x="136151" y="49402"/>
                  </a:lnTo>
                  <a:lnTo>
                    <a:pt x="138302" y="46862"/>
                  </a:lnTo>
                  <a:lnTo>
                    <a:pt x="140970" y="45085"/>
                  </a:lnTo>
                  <a:lnTo>
                    <a:pt x="144272" y="43814"/>
                  </a:lnTo>
                  <a:lnTo>
                    <a:pt x="147447" y="42545"/>
                  </a:lnTo>
                  <a:lnTo>
                    <a:pt x="151383" y="41783"/>
                  </a:lnTo>
                  <a:lnTo>
                    <a:pt x="187371" y="41783"/>
                  </a:lnTo>
                  <a:lnTo>
                    <a:pt x="183387" y="38100"/>
                  </a:lnTo>
                  <a:lnTo>
                    <a:pt x="179197" y="35687"/>
                  </a:lnTo>
                  <a:lnTo>
                    <a:pt x="169427" y="32512"/>
                  </a:lnTo>
                  <a:lnTo>
                    <a:pt x="170010" y="32512"/>
                  </a:lnTo>
                  <a:lnTo>
                    <a:pt x="163195" y="31623"/>
                  </a:lnTo>
                  <a:close/>
                </a:path>
                <a:path w="429259" h="105410">
                  <a:moveTo>
                    <a:pt x="187371" y="41783"/>
                  </a:moveTo>
                  <a:lnTo>
                    <a:pt x="160654" y="41783"/>
                  </a:lnTo>
                  <a:lnTo>
                    <a:pt x="164719" y="42545"/>
                  </a:lnTo>
                  <a:lnTo>
                    <a:pt x="171323" y="45338"/>
                  </a:lnTo>
                  <a:lnTo>
                    <a:pt x="173862" y="47244"/>
                  </a:lnTo>
                  <a:lnTo>
                    <a:pt x="175768" y="49784"/>
                  </a:lnTo>
                  <a:lnTo>
                    <a:pt x="177673" y="52197"/>
                  </a:lnTo>
                  <a:lnTo>
                    <a:pt x="179070" y="54990"/>
                  </a:lnTo>
                  <a:lnTo>
                    <a:pt x="179710" y="57658"/>
                  </a:lnTo>
                  <a:lnTo>
                    <a:pt x="180721" y="61468"/>
                  </a:lnTo>
                  <a:lnTo>
                    <a:pt x="180946" y="63500"/>
                  </a:lnTo>
                  <a:lnTo>
                    <a:pt x="180993" y="73151"/>
                  </a:lnTo>
                  <a:lnTo>
                    <a:pt x="180775" y="74675"/>
                  </a:lnTo>
                  <a:lnTo>
                    <a:pt x="180684" y="75311"/>
                  </a:lnTo>
                  <a:lnTo>
                    <a:pt x="180594" y="75946"/>
                  </a:lnTo>
                  <a:lnTo>
                    <a:pt x="167004" y="92837"/>
                  </a:lnTo>
                  <a:lnTo>
                    <a:pt x="163702" y="94234"/>
                  </a:lnTo>
                  <a:lnTo>
                    <a:pt x="159893" y="94869"/>
                  </a:lnTo>
                  <a:lnTo>
                    <a:pt x="185918" y="94869"/>
                  </a:lnTo>
                  <a:lnTo>
                    <a:pt x="189737" y="91312"/>
                  </a:lnTo>
                  <a:lnTo>
                    <a:pt x="192404" y="87375"/>
                  </a:lnTo>
                  <a:lnTo>
                    <a:pt x="194182" y="82676"/>
                  </a:lnTo>
                  <a:lnTo>
                    <a:pt x="195960" y="78105"/>
                  </a:lnTo>
                  <a:lnTo>
                    <a:pt x="196723" y="73151"/>
                  </a:lnTo>
                  <a:lnTo>
                    <a:pt x="196627" y="61468"/>
                  </a:lnTo>
                  <a:lnTo>
                    <a:pt x="196189" y="58547"/>
                  </a:lnTo>
                  <a:lnTo>
                    <a:pt x="196132" y="58165"/>
                  </a:lnTo>
                  <a:lnTo>
                    <a:pt x="196056" y="57658"/>
                  </a:lnTo>
                  <a:lnTo>
                    <a:pt x="195960" y="57023"/>
                  </a:lnTo>
                  <a:lnTo>
                    <a:pt x="194309" y="52577"/>
                  </a:lnTo>
                  <a:lnTo>
                    <a:pt x="192531" y="48133"/>
                  </a:lnTo>
                  <a:lnTo>
                    <a:pt x="190119" y="44323"/>
                  </a:lnTo>
                  <a:lnTo>
                    <a:pt x="187371" y="41783"/>
                  </a:lnTo>
                  <a:close/>
                </a:path>
                <a:path w="429259" h="105410">
                  <a:moveTo>
                    <a:pt x="254507" y="31623"/>
                  </a:moveTo>
                  <a:lnTo>
                    <a:pt x="246506" y="31623"/>
                  </a:lnTo>
                  <a:lnTo>
                    <a:pt x="241426" y="32385"/>
                  </a:lnTo>
                  <a:lnTo>
                    <a:pt x="236727" y="33909"/>
                  </a:lnTo>
                  <a:lnTo>
                    <a:pt x="232155" y="35306"/>
                  </a:lnTo>
                  <a:lnTo>
                    <a:pt x="213486" y="62611"/>
                  </a:lnTo>
                  <a:lnTo>
                    <a:pt x="213486" y="75057"/>
                  </a:lnTo>
                  <a:lnTo>
                    <a:pt x="234441" y="102743"/>
                  </a:lnTo>
                  <a:lnTo>
                    <a:pt x="239365" y="104521"/>
                  </a:lnTo>
                  <a:lnTo>
                    <a:pt x="239881" y="104521"/>
                  </a:lnTo>
                  <a:lnTo>
                    <a:pt x="244221" y="105156"/>
                  </a:lnTo>
                  <a:lnTo>
                    <a:pt x="252983" y="105156"/>
                  </a:lnTo>
                  <a:lnTo>
                    <a:pt x="275208" y="98551"/>
                  </a:lnTo>
                  <a:lnTo>
                    <a:pt x="275971" y="98044"/>
                  </a:lnTo>
                  <a:lnTo>
                    <a:pt x="276732" y="97409"/>
                  </a:lnTo>
                  <a:lnTo>
                    <a:pt x="277240" y="96900"/>
                  </a:lnTo>
                  <a:lnTo>
                    <a:pt x="277495" y="96520"/>
                  </a:lnTo>
                  <a:lnTo>
                    <a:pt x="277749" y="96265"/>
                  </a:lnTo>
                  <a:lnTo>
                    <a:pt x="277875" y="95885"/>
                  </a:lnTo>
                  <a:lnTo>
                    <a:pt x="278002" y="95503"/>
                  </a:lnTo>
                  <a:lnTo>
                    <a:pt x="278256" y="94996"/>
                  </a:lnTo>
                  <a:lnTo>
                    <a:pt x="278313" y="94487"/>
                  </a:lnTo>
                  <a:lnTo>
                    <a:pt x="248411" y="94487"/>
                  </a:lnTo>
                  <a:lnTo>
                    <a:pt x="246030" y="94107"/>
                  </a:lnTo>
                  <a:lnTo>
                    <a:pt x="245602" y="94107"/>
                  </a:lnTo>
                  <a:lnTo>
                    <a:pt x="242315" y="92963"/>
                  </a:lnTo>
                  <a:lnTo>
                    <a:pt x="239522" y="91821"/>
                  </a:lnTo>
                  <a:lnTo>
                    <a:pt x="237108" y="90297"/>
                  </a:lnTo>
                  <a:lnTo>
                    <a:pt x="235203" y="88011"/>
                  </a:lnTo>
                  <a:lnTo>
                    <a:pt x="233172" y="85851"/>
                  </a:lnTo>
                  <a:lnTo>
                    <a:pt x="231775" y="83185"/>
                  </a:lnTo>
                  <a:lnTo>
                    <a:pt x="230837" y="80137"/>
                  </a:lnTo>
                  <a:lnTo>
                    <a:pt x="229743" y="76708"/>
                  </a:lnTo>
                  <a:lnTo>
                    <a:pt x="229234" y="72898"/>
                  </a:lnTo>
                  <a:lnTo>
                    <a:pt x="229234" y="59944"/>
                  </a:lnTo>
                  <a:lnTo>
                    <a:pt x="231139" y="53339"/>
                  </a:lnTo>
                  <a:lnTo>
                    <a:pt x="238886" y="44323"/>
                  </a:lnTo>
                  <a:lnTo>
                    <a:pt x="244475" y="42037"/>
                  </a:lnTo>
                  <a:lnTo>
                    <a:pt x="277930" y="42037"/>
                  </a:lnTo>
                  <a:lnTo>
                    <a:pt x="277875" y="41275"/>
                  </a:lnTo>
                  <a:lnTo>
                    <a:pt x="277622" y="40894"/>
                  </a:lnTo>
                  <a:lnTo>
                    <a:pt x="277495" y="40386"/>
                  </a:lnTo>
                  <a:lnTo>
                    <a:pt x="276732" y="39243"/>
                  </a:lnTo>
                  <a:lnTo>
                    <a:pt x="276225" y="38735"/>
                  </a:lnTo>
                  <a:lnTo>
                    <a:pt x="275462" y="38226"/>
                  </a:lnTo>
                  <a:lnTo>
                    <a:pt x="274700" y="37592"/>
                  </a:lnTo>
                  <a:lnTo>
                    <a:pt x="273557" y="36830"/>
                  </a:lnTo>
                  <a:lnTo>
                    <a:pt x="271906" y="36068"/>
                  </a:lnTo>
                  <a:lnTo>
                    <a:pt x="270255" y="35178"/>
                  </a:lnTo>
                  <a:lnTo>
                    <a:pt x="268477" y="34417"/>
                  </a:lnTo>
                  <a:lnTo>
                    <a:pt x="266750" y="33909"/>
                  </a:lnTo>
                  <a:lnTo>
                    <a:pt x="264286" y="33147"/>
                  </a:lnTo>
                  <a:lnTo>
                    <a:pt x="262000" y="32638"/>
                  </a:lnTo>
                  <a:lnTo>
                    <a:pt x="257048" y="31876"/>
                  </a:lnTo>
                  <a:lnTo>
                    <a:pt x="254507" y="31623"/>
                  </a:lnTo>
                  <a:close/>
                </a:path>
                <a:path w="429259" h="105410">
                  <a:moveTo>
                    <a:pt x="276732" y="86106"/>
                  </a:moveTo>
                  <a:lnTo>
                    <a:pt x="275208" y="86106"/>
                  </a:lnTo>
                  <a:lnTo>
                    <a:pt x="274193" y="86487"/>
                  </a:lnTo>
                  <a:lnTo>
                    <a:pt x="271652" y="88264"/>
                  </a:lnTo>
                  <a:lnTo>
                    <a:pt x="270001" y="89153"/>
                  </a:lnTo>
                  <a:lnTo>
                    <a:pt x="255524" y="94487"/>
                  </a:lnTo>
                  <a:lnTo>
                    <a:pt x="278313" y="94487"/>
                  </a:lnTo>
                  <a:lnTo>
                    <a:pt x="278256" y="89153"/>
                  </a:lnTo>
                  <a:lnTo>
                    <a:pt x="278142" y="88011"/>
                  </a:lnTo>
                  <a:lnTo>
                    <a:pt x="277622" y="86868"/>
                  </a:lnTo>
                  <a:lnTo>
                    <a:pt x="277368" y="86487"/>
                  </a:lnTo>
                  <a:lnTo>
                    <a:pt x="276732" y="86106"/>
                  </a:lnTo>
                  <a:close/>
                </a:path>
                <a:path w="429259" h="105410">
                  <a:moveTo>
                    <a:pt x="277930" y="42037"/>
                  </a:moveTo>
                  <a:lnTo>
                    <a:pt x="255270" y="42037"/>
                  </a:lnTo>
                  <a:lnTo>
                    <a:pt x="258318" y="42418"/>
                  </a:lnTo>
                  <a:lnTo>
                    <a:pt x="260984" y="43180"/>
                  </a:lnTo>
                  <a:lnTo>
                    <a:pt x="273303" y="49530"/>
                  </a:lnTo>
                  <a:lnTo>
                    <a:pt x="274320" y="49911"/>
                  </a:lnTo>
                  <a:lnTo>
                    <a:pt x="276098" y="49911"/>
                  </a:lnTo>
                  <a:lnTo>
                    <a:pt x="276732" y="49530"/>
                  </a:lnTo>
                  <a:lnTo>
                    <a:pt x="277240" y="48768"/>
                  </a:lnTo>
                  <a:lnTo>
                    <a:pt x="277875" y="48006"/>
                  </a:lnTo>
                  <a:lnTo>
                    <a:pt x="277930" y="42037"/>
                  </a:lnTo>
                  <a:close/>
                </a:path>
                <a:path w="429259" h="105410">
                  <a:moveTo>
                    <a:pt x="308736" y="104139"/>
                  </a:moveTo>
                  <a:lnTo>
                    <a:pt x="303275" y="104139"/>
                  </a:lnTo>
                  <a:lnTo>
                    <a:pt x="304546" y="104267"/>
                  </a:lnTo>
                  <a:lnTo>
                    <a:pt x="307466" y="104267"/>
                  </a:lnTo>
                  <a:lnTo>
                    <a:pt x="308736" y="104139"/>
                  </a:lnTo>
                  <a:close/>
                </a:path>
                <a:path w="429259" h="105410">
                  <a:moveTo>
                    <a:pt x="361060" y="104139"/>
                  </a:moveTo>
                  <a:lnTo>
                    <a:pt x="355219" y="104139"/>
                  </a:lnTo>
                  <a:lnTo>
                    <a:pt x="356488" y="104267"/>
                  </a:lnTo>
                  <a:lnTo>
                    <a:pt x="359790" y="104267"/>
                  </a:lnTo>
                  <a:lnTo>
                    <a:pt x="361060" y="104139"/>
                  </a:lnTo>
                  <a:close/>
                </a:path>
                <a:path w="429259" h="105410">
                  <a:moveTo>
                    <a:pt x="313055" y="103377"/>
                  </a:moveTo>
                  <a:lnTo>
                    <a:pt x="298703" y="103377"/>
                  </a:lnTo>
                  <a:lnTo>
                    <a:pt x="302513" y="104139"/>
                  </a:lnTo>
                  <a:lnTo>
                    <a:pt x="310007" y="104139"/>
                  </a:lnTo>
                  <a:lnTo>
                    <a:pt x="313055" y="103377"/>
                  </a:lnTo>
                  <a:close/>
                </a:path>
                <a:path w="429259" h="105410">
                  <a:moveTo>
                    <a:pt x="332142" y="64770"/>
                  </a:moveTo>
                  <a:lnTo>
                    <a:pt x="313562" y="64770"/>
                  </a:lnTo>
                  <a:lnTo>
                    <a:pt x="349059" y="102615"/>
                  </a:lnTo>
                  <a:lnTo>
                    <a:pt x="350265" y="103377"/>
                  </a:lnTo>
                  <a:lnTo>
                    <a:pt x="352551" y="104139"/>
                  </a:lnTo>
                  <a:lnTo>
                    <a:pt x="362627" y="104139"/>
                  </a:lnTo>
                  <a:lnTo>
                    <a:pt x="365421" y="103377"/>
                  </a:lnTo>
                  <a:lnTo>
                    <a:pt x="365251" y="103377"/>
                  </a:lnTo>
                  <a:lnTo>
                    <a:pt x="366013" y="102615"/>
                  </a:lnTo>
                  <a:lnTo>
                    <a:pt x="366013" y="100837"/>
                  </a:lnTo>
                  <a:lnTo>
                    <a:pt x="364744" y="99187"/>
                  </a:lnTo>
                  <a:lnTo>
                    <a:pt x="363981" y="98298"/>
                  </a:lnTo>
                  <a:lnTo>
                    <a:pt x="332142" y="64770"/>
                  </a:lnTo>
                  <a:close/>
                </a:path>
                <a:path w="429259" h="105410">
                  <a:moveTo>
                    <a:pt x="312038" y="635"/>
                  </a:moveTo>
                  <a:lnTo>
                    <a:pt x="299974" y="635"/>
                  </a:lnTo>
                  <a:lnTo>
                    <a:pt x="298957" y="1143"/>
                  </a:lnTo>
                  <a:lnTo>
                    <a:pt x="298830" y="1397"/>
                  </a:lnTo>
                  <a:lnTo>
                    <a:pt x="298703" y="102615"/>
                  </a:lnTo>
                  <a:lnTo>
                    <a:pt x="299084" y="103377"/>
                  </a:lnTo>
                  <a:lnTo>
                    <a:pt x="312674" y="103377"/>
                  </a:lnTo>
                  <a:lnTo>
                    <a:pt x="313435" y="102615"/>
                  </a:lnTo>
                  <a:lnTo>
                    <a:pt x="313562" y="64770"/>
                  </a:lnTo>
                  <a:lnTo>
                    <a:pt x="332142" y="64770"/>
                  </a:lnTo>
                  <a:lnTo>
                    <a:pt x="330453" y="62992"/>
                  </a:lnTo>
                  <a:lnTo>
                    <a:pt x="313562" y="62992"/>
                  </a:lnTo>
                  <a:lnTo>
                    <a:pt x="313435" y="1777"/>
                  </a:lnTo>
                  <a:lnTo>
                    <a:pt x="313181" y="1397"/>
                  </a:lnTo>
                  <a:lnTo>
                    <a:pt x="312927" y="1143"/>
                  </a:lnTo>
                  <a:lnTo>
                    <a:pt x="312547" y="888"/>
                  </a:lnTo>
                  <a:lnTo>
                    <a:pt x="312038" y="635"/>
                  </a:lnTo>
                  <a:close/>
                </a:path>
                <a:path w="429259" h="105410">
                  <a:moveTo>
                    <a:pt x="359536" y="32765"/>
                  </a:moveTo>
                  <a:lnTo>
                    <a:pt x="349884" y="32765"/>
                  </a:lnTo>
                  <a:lnTo>
                    <a:pt x="348996" y="32893"/>
                  </a:lnTo>
                  <a:lnTo>
                    <a:pt x="347154" y="33527"/>
                  </a:lnTo>
                  <a:lnTo>
                    <a:pt x="346836" y="33655"/>
                  </a:lnTo>
                  <a:lnTo>
                    <a:pt x="346201" y="34036"/>
                  </a:lnTo>
                  <a:lnTo>
                    <a:pt x="345694" y="34289"/>
                  </a:lnTo>
                  <a:lnTo>
                    <a:pt x="345185" y="34671"/>
                  </a:lnTo>
                  <a:lnTo>
                    <a:pt x="344677" y="35178"/>
                  </a:lnTo>
                  <a:lnTo>
                    <a:pt x="313562" y="62992"/>
                  </a:lnTo>
                  <a:lnTo>
                    <a:pt x="330453" y="62992"/>
                  </a:lnTo>
                  <a:lnTo>
                    <a:pt x="360299" y="38735"/>
                  </a:lnTo>
                  <a:lnTo>
                    <a:pt x="361187" y="37973"/>
                  </a:lnTo>
                  <a:lnTo>
                    <a:pt x="361823" y="37211"/>
                  </a:lnTo>
                  <a:lnTo>
                    <a:pt x="362203" y="36575"/>
                  </a:lnTo>
                  <a:lnTo>
                    <a:pt x="362584" y="36068"/>
                  </a:lnTo>
                  <a:lnTo>
                    <a:pt x="362711" y="34036"/>
                  </a:lnTo>
                  <a:lnTo>
                    <a:pt x="362330" y="33655"/>
                  </a:lnTo>
                  <a:lnTo>
                    <a:pt x="362203" y="33527"/>
                  </a:lnTo>
                  <a:lnTo>
                    <a:pt x="362966" y="33527"/>
                  </a:lnTo>
                  <a:lnTo>
                    <a:pt x="359790" y="32893"/>
                  </a:lnTo>
                  <a:lnTo>
                    <a:pt x="360425" y="32893"/>
                  </a:lnTo>
                  <a:lnTo>
                    <a:pt x="359536" y="32765"/>
                  </a:lnTo>
                  <a:close/>
                </a:path>
                <a:path w="429259" h="105410">
                  <a:moveTo>
                    <a:pt x="310006" y="253"/>
                  </a:moveTo>
                  <a:lnTo>
                    <a:pt x="302133" y="253"/>
                  </a:lnTo>
                  <a:lnTo>
                    <a:pt x="299846" y="635"/>
                  </a:lnTo>
                  <a:lnTo>
                    <a:pt x="312292" y="635"/>
                  </a:lnTo>
                  <a:lnTo>
                    <a:pt x="310006" y="253"/>
                  </a:lnTo>
                  <a:close/>
                </a:path>
                <a:path w="429259" h="105410">
                  <a:moveTo>
                    <a:pt x="426084" y="0"/>
                  </a:moveTo>
                  <a:lnTo>
                    <a:pt x="416813" y="0"/>
                  </a:lnTo>
                  <a:lnTo>
                    <a:pt x="415925" y="253"/>
                  </a:lnTo>
                  <a:lnTo>
                    <a:pt x="415289" y="381"/>
                  </a:lnTo>
                  <a:lnTo>
                    <a:pt x="414274" y="888"/>
                  </a:lnTo>
                  <a:lnTo>
                    <a:pt x="414020" y="1143"/>
                  </a:lnTo>
                  <a:lnTo>
                    <a:pt x="413638" y="1397"/>
                  </a:lnTo>
                  <a:lnTo>
                    <a:pt x="413511" y="2159"/>
                  </a:lnTo>
                  <a:lnTo>
                    <a:pt x="415671" y="36575"/>
                  </a:lnTo>
                  <a:lnTo>
                    <a:pt x="415671" y="37337"/>
                  </a:lnTo>
                  <a:lnTo>
                    <a:pt x="415925" y="37719"/>
                  </a:lnTo>
                  <a:lnTo>
                    <a:pt x="416051" y="37973"/>
                  </a:lnTo>
                  <a:lnTo>
                    <a:pt x="416813" y="38481"/>
                  </a:lnTo>
                  <a:lnTo>
                    <a:pt x="425830" y="38481"/>
                  </a:lnTo>
                  <a:lnTo>
                    <a:pt x="426338" y="38226"/>
                  </a:lnTo>
                  <a:lnTo>
                    <a:pt x="426720" y="37973"/>
                  </a:lnTo>
                  <a:lnTo>
                    <a:pt x="426847" y="37719"/>
                  </a:lnTo>
                  <a:lnTo>
                    <a:pt x="427100" y="37337"/>
                  </a:lnTo>
                  <a:lnTo>
                    <a:pt x="427100" y="36575"/>
                  </a:lnTo>
                  <a:lnTo>
                    <a:pt x="429132" y="2159"/>
                  </a:lnTo>
                  <a:lnTo>
                    <a:pt x="429132" y="1397"/>
                  </a:lnTo>
                  <a:lnTo>
                    <a:pt x="428625" y="888"/>
                  </a:lnTo>
                  <a:lnTo>
                    <a:pt x="428116" y="635"/>
                  </a:lnTo>
                  <a:lnTo>
                    <a:pt x="427481" y="381"/>
                  </a:lnTo>
                  <a:lnTo>
                    <a:pt x="426847" y="253"/>
                  </a:lnTo>
                  <a:lnTo>
                    <a:pt x="426084" y="0"/>
                  </a:lnTo>
                  <a:close/>
                </a:path>
                <a:path w="429259" h="105410">
                  <a:moveTo>
                    <a:pt x="393826" y="0"/>
                  </a:moveTo>
                  <a:lnTo>
                    <a:pt x="384301" y="0"/>
                  </a:lnTo>
                  <a:lnTo>
                    <a:pt x="382778" y="381"/>
                  </a:lnTo>
                  <a:lnTo>
                    <a:pt x="381761" y="888"/>
                  </a:lnTo>
                  <a:lnTo>
                    <a:pt x="381507" y="1143"/>
                  </a:lnTo>
                  <a:lnTo>
                    <a:pt x="381126" y="1397"/>
                  </a:lnTo>
                  <a:lnTo>
                    <a:pt x="381000" y="2159"/>
                  </a:lnTo>
                  <a:lnTo>
                    <a:pt x="383158" y="36575"/>
                  </a:lnTo>
                  <a:lnTo>
                    <a:pt x="383158" y="37337"/>
                  </a:lnTo>
                  <a:lnTo>
                    <a:pt x="383412" y="37719"/>
                  </a:lnTo>
                  <a:lnTo>
                    <a:pt x="383539" y="37973"/>
                  </a:lnTo>
                  <a:lnTo>
                    <a:pt x="384301" y="38481"/>
                  </a:lnTo>
                  <a:lnTo>
                    <a:pt x="393319" y="38481"/>
                  </a:lnTo>
                  <a:lnTo>
                    <a:pt x="393826" y="38226"/>
                  </a:lnTo>
                  <a:lnTo>
                    <a:pt x="394207" y="37973"/>
                  </a:lnTo>
                  <a:lnTo>
                    <a:pt x="394334" y="37719"/>
                  </a:lnTo>
                  <a:lnTo>
                    <a:pt x="394588" y="37337"/>
                  </a:lnTo>
                  <a:lnTo>
                    <a:pt x="394715" y="36575"/>
                  </a:lnTo>
                  <a:lnTo>
                    <a:pt x="396748" y="2159"/>
                  </a:lnTo>
                  <a:lnTo>
                    <a:pt x="396748" y="1397"/>
                  </a:lnTo>
                  <a:lnTo>
                    <a:pt x="396341" y="888"/>
                  </a:lnTo>
                  <a:lnTo>
                    <a:pt x="396663" y="888"/>
                  </a:lnTo>
                  <a:lnTo>
                    <a:pt x="394970" y="381"/>
                  </a:lnTo>
                  <a:lnTo>
                    <a:pt x="393826" y="0"/>
                  </a:lnTo>
                  <a:close/>
                </a:path>
              </a:pathLst>
            </a:custGeom>
            <a:solidFill>
              <a:srgbClr val="E4DCE6"/>
            </a:solidFill>
          </p:spPr>
          <p:txBody>
            <a:bodyPr wrap="square" lIns="0" tIns="0" rIns="0" bIns="0" rtlCol="0"/>
            <a:lstStyle/>
            <a:p>
              <a:endParaRPr/>
            </a:p>
          </p:txBody>
        </p:sp>
        <p:pic>
          <p:nvPicPr>
            <p:cNvPr id="36" name="object 36"/>
            <p:cNvPicPr/>
            <p:nvPr/>
          </p:nvPicPr>
          <p:blipFill>
            <a:blip r:embed="rId25" cstate="print"/>
            <a:stretch>
              <a:fillRect/>
            </a:stretch>
          </p:blipFill>
          <p:spPr>
            <a:xfrm>
              <a:off x="9134475" y="4185793"/>
              <a:ext cx="731266" cy="104140"/>
            </a:xfrm>
            <a:prstGeom prst="rect">
              <a:avLst/>
            </a:prstGeom>
          </p:spPr>
        </p:pic>
        <p:pic>
          <p:nvPicPr>
            <p:cNvPr id="37" name="object 37"/>
            <p:cNvPicPr/>
            <p:nvPr/>
          </p:nvPicPr>
          <p:blipFill>
            <a:blip r:embed="rId26" cstate="print"/>
            <a:stretch>
              <a:fillRect/>
            </a:stretch>
          </p:blipFill>
          <p:spPr>
            <a:xfrm>
              <a:off x="9925050" y="4185031"/>
              <a:ext cx="1016634" cy="130429"/>
            </a:xfrm>
            <a:prstGeom prst="rect">
              <a:avLst/>
            </a:prstGeom>
          </p:spPr>
        </p:pic>
        <p:pic>
          <p:nvPicPr>
            <p:cNvPr id="38" name="object 38"/>
            <p:cNvPicPr/>
            <p:nvPr/>
          </p:nvPicPr>
          <p:blipFill>
            <a:blip r:embed="rId27" cstate="print"/>
            <a:stretch>
              <a:fillRect/>
            </a:stretch>
          </p:blipFill>
          <p:spPr>
            <a:xfrm>
              <a:off x="11011153" y="4185793"/>
              <a:ext cx="649097" cy="104140"/>
            </a:xfrm>
            <a:prstGeom prst="rect">
              <a:avLst/>
            </a:prstGeom>
          </p:spPr>
        </p:pic>
        <p:sp>
          <p:nvSpPr>
            <p:cNvPr id="39" name="object 39"/>
            <p:cNvSpPr/>
            <p:nvPr/>
          </p:nvSpPr>
          <p:spPr>
            <a:xfrm>
              <a:off x="11724894" y="4216400"/>
              <a:ext cx="257810" cy="99060"/>
            </a:xfrm>
            <a:custGeom>
              <a:avLst/>
              <a:gdLst/>
              <a:ahLst/>
              <a:cxnLst/>
              <a:rect l="l" t="t" r="r" b="b"/>
              <a:pathLst>
                <a:path w="257809" h="99060">
                  <a:moveTo>
                    <a:pt x="63862" y="9905"/>
                  </a:moveTo>
                  <a:lnTo>
                    <a:pt x="37337" y="9905"/>
                  </a:lnTo>
                  <a:lnTo>
                    <a:pt x="40258" y="10287"/>
                  </a:lnTo>
                  <a:lnTo>
                    <a:pt x="45440" y="11684"/>
                  </a:lnTo>
                  <a:lnTo>
                    <a:pt x="45196" y="11684"/>
                  </a:lnTo>
                  <a:lnTo>
                    <a:pt x="46862" y="12573"/>
                  </a:lnTo>
                  <a:lnTo>
                    <a:pt x="48386" y="13842"/>
                  </a:lnTo>
                  <a:lnTo>
                    <a:pt x="52704" y="23113"/>
                  </a:lnTo>
                  <a:lnTo>
                    <a:pt x="52704" y="30861"/>
                  </a:lnTo>
                  <a:lnTo>
                    <a:pt x="34925" y="30861"/>
                  </a:lnTo>
                  <a:lnTo>
                    <a:pt x="29082" y="31369"/>
                  </a:lnTo>
                  <a:lnTo>
                    <a:pt x="18923" y="33147"/>
                  </a:lnTo>
                  <a:lnTo>
                    <a:pt x="14604" y="34544"/>
                  </a:lnTo>
                  <a:lnTo>
                    <a:pt x="11049" y="36449"/>
                  </a:lnTo>
                  <a:lnTo>
                    <a:pt x="7492" y="38226"/>
                  </a:lnTo>
                  <a:lnTo>
                    <a:pt x="5418" y="40004"/>
                  </a:lnTo>
                  <a:lnTo>
                    <a:pt x="4739" y="40639"/>
                  </a:lnTo>
                  <a:lnTo>
                    <a:pt x="1015" y="46100"/>
                  </a:lnTo>
                  <a:lnTo>
                    <a:pt x="0" y="49402"/>
                  </a:lnTo>
                  <a:lnTo>
                    <a:pt x="0" y="56387"/>
                  </a:lnTo>
                  <a:lnTo>
                    <a:pt x="761" y="59309"/>
                  </a:lnTo>
                  <a:lnTo>
                    <a:pt x="2158" y="61849"/>
                  </a:lnTo>
                  <a:lnTo>
                    <a:pt x="3428" y="64262"/>
                  </a:lnTo>
                  <a:lnTo>
                    <a:pt x="5333" y="66421"/>
                  </a:lnTo>
                  <a:lnTo>
                    <a:pt x="7874" y="68199"/>
                  </a:lnTo>
                  <a:lnTo>
                    <a:pt x="10286" y="69976"/>
                  </a:lnTo>
                  <a:lnTo>
                    <a:pt x="13639" y="71374"/>
                  </a:lnTo>
                  <a:lnTo>
                    <a:pt x="13842" y="71374"/>
                  </a:lnTo>
                  <a:lnTo>
                    <a:pt x="18414" y="72516"/>
                  </a:lnTo>
                  <a:lnTo>
                    <a:pt x="18176" y="72516"/>
                  </a:lnTo>
                  <a:lnTo>
                    <a:pt x="20320" y="73151"/>
                  </a:lnTo>
                  <a:lnTo>
                    <a:pt x="24256" y="73533"/>
                  </a:lnTo>
                  <a:lnTo>
                    <a:pt x="33527" y="73533"/>
                  </a:lnTo>
                  <a:lnTo>
                    <a:pt x="54295" y="64008"/>
                  </a:lnTo>
                  <a:lnTo>
                    <a:pt x="26034" y="64008"/>
                  </a:lnTo>
                  <a:lnTo>
                    <a:pt x="22351" y="62864"/>
                  </a:lnTo>
                  <a:lnTo>
                    <a:pt x="19557" y="60833"/>
                  </a:lnTo>
                  <a:lnTo>
                    <a:pt x="16890" y="58800"/>
                  </a:lnTo>
                  <a:lnTo>
                    <a:pt x="15494" y="56007"/>
                  </a:lnTo>
                  <a:lnTo>
                    <a:pt x="15494" y="50546"/>
                  </a:lnTo>
                  <a:lnTo>
                    <a:pt x="28955" y="40639"/>
                  </a:lnTo>
                  <a:lnTo>
                    <a:pt x="32003" y="40004"/>
                  </a:lnTo>
                  <a:lnTo>
                    <a:pt x="35559" y="39750"/>
                  </a:lnTo>
                  <a:lnTo>
                    <a:pt x="67690" y="39750"/>
                  </a:lnTo>
                  <a:lnTo>
                    <a:pt x="67690" y="20954"/>
                  </a:lnTo>
                  <a:lnTo>
                    <a:pt x="67055" y="17399"/>
                  </a:lnTo>
                  <a:lnTo>
                    <a:pt x="65912" y="14224"/>
                  </a:lnTo>
                  <a:lnTo>
                    <a:pt x="64770" y="11175"/>
                  </a:lnTo>
                  <a:lnTo>
                    <a:pt x="63862" y="9905"/>
                  </a:lnTo>
                  <a:close/>
                </a:path>
                <a:path w="257809" h="99060">
                  <a:moveTo>
                    <a:pt x="64134" y="72516"/>
                  </a:moveTo>
                  <a:lnTo>
                    <a:pt x="58292" y="72516"/>
                  </a:lnTo>
                  <a:lnTo>
                    <a:pt x="59562" y="72644"/>
                  </a:lnTo>
                  <a:lnTo>
                    <a:pt x="62864" y="72644"/>
                  </a:lnTo>
                  <a:lnTo>
                    <a:pt x="64134" y="72516"/>
                  </a:lnTo>
                  <a:close/>
                </a:path>
                <a:path w="257809" h="99060">
                  <a:moveTo>
                    <a:pt x="67373" y="71627"/>
                  </a:moveTo>
                  <a:lnTo>
                    <a:pt x="54800" y="71627"/>
                  </a:lnTo>
                  <a:lnTo>
                    <a:pt x="57022" y="72516"/>
                  </a:lnTo>
                  <a:lnTo>
                    <a:pt x="65150" y="72516"/>
                  </a:lnTo>
                  <a:lnTo>
                    <a:pt x="67373" y="71627"/>
                  </a:lnTo>
                  <a:close/>
                </a:path>
                <a:path w="257809" h="99060">
                  <a:moveTo>
                    <a:pt x="67690" y="63626"/>
                  </a:moveTo>
                  <a:lnTo>
                    <a:pt x="54736" y="63626"/>
                  </a:lnTo>
                  <a:lnTo>
                    <a:pt x="54863" y="71374"/>
                  </a:lnTo>
                  <a:lnTo>
                    <a:pt x="55372" y="71627"/>
                  </a:lnTo>
                  <a:lnTo>
                    <a:pt x="66928" y="71627"/>
                  </a:lnTo>
                  <a:lnTo>
                    <a:pt x="67436" y="71374"/>
                  </a:lnTo>
                  <a:lnTo>
                    <a:pt x="67690" y="70992"/>
                  </a:lnTo>
                  <a:lnTo>
                    <a:pt x="67690" y="63626"/>
                  </a:lnTo>
                  <a:close/>
                </a:path>
                <a:path w="257809" h="99060">
                  <a:moveTo>
                    <a:pt x="67690" y="39750"/>
                  </a:moveTo>
                  <a:lnTo>
                    <a:pt x="52704" y="39750"/>
                  </a:lnTo>
                  <a:lnTo>
                    <a:pt x="52704" y="53975"/>
                  </a:lnTo>
                  <a:lnTo>
                    <a:pt x="48895" y="57403"/>
                  </a:lnTo>
                  <a:lnTo>
                    <a:pt x="45338" y="59816"/>
                  </a:lnTo>
                  <a:lnTo>
                    <a:pt x="42036" y="61467"/>
                  </a:lnTo>
                  <a:lnTo>
                    <a:pt x="38607" y="63119"/>
                  </a:lnTo>
                  <a:lnTo>
                    <a:pt x="34925" y="64008"/>
                  </a:lnTo>
                  <a:lnTo>
                    <a:pt x="54295" y="64008"/>
                  </a:lnTo>
                  <a:lnTo>
                    <a:pt x="54736" y="63626"/>
                  </a:lnTo>
                  <a:lnTo>
                    <a:pt x="67690" y="63626"/>
                  </a:lnTo>
                  <a:lnTo>
                    <a:pt x="67690" y="39750"/>
                  </a:lnTo>
                  <a:close/>
                </a:path>
                <a:path w="257809" h="99060">
                  <a:moveTo>
                    <a:pt x="42386" y="126"/>
                  </a:moveTo>
                  <a:lnTo>
                    <a:pt x="28828" y="126"/>
                  </a:lnTo>
                  <a:lnTo>
                    <a:pt x="22605" y="1142"/>
                  </a:lnTo>
                  <a:lnTo>
                    <a:pt x="5969" y="7112"/>
                  </a:lnTo>
                  <a:lnTo>
                    <a:pt x="5079" y="7747"/>
                  </a:lnTo>
                  <a:lnTo>
                    <a:pt x="4550" y="8509"/>
                  </a:lnTo>
                  <a:lnTo>
                    <a:pt x="4445" y="9144"/>
                  </a:lnTo>
                  <a:lnTo>
                    <a:pt x="4190" y="9905"/>
                  </a:lnTo>
                  <a:lnTo>
                    <a:pt x="4317" y="14732"/>
                  </a:lnTo>
                  <a:lnTo>
                    <a:pt x="4572" y="15239"/>
                  </a:lnTo>
                  <a:lnTo>
                    <a:pt x="5079" y="16001"/>
                  </a:lnTo>
                  <a:lnTo>
                    <a:pt x="5587" y="16510"/>
                  </a:lnTo>
                  <a:lnTo>
                    <a:pt x="5841" y="16510"/>
                  </a:lnTo>
                  <a:lnTo>
                    <a:pt x="6413" y="16890"/>
                  </a:lnTo>
                  <a:lnTo>
                    <a:pt x="7874" y="16890"/>
                  </a:lnTo>
                  <a:lnTo>
                    <a:pt x="8889" y="16510"/>
                  </a:lnTo>
                  <a:lnTo>
                    <a:pt x="11937" y="14986"/>
                  </a:lnTo>
                  <a:lnTo>
                    <a:pt x="16001" y="13335"/>
                  </a:lnTo>
                  <a:lnTo>
                    <a:pt x="18287" y="12573"/>
                  </a:lnTo>
                  <a:lnTo>
                    <a:pt x="20827" y="11684"/>
                  </a:lnTo>
                  <a:lnTo>
                    <a:pt x="23164" y="11175"/>
                  </a:lnTo>
                  <a:lnTo>
                    <a:pt x="26797" y="10287"/>
                  </a:lnTo>
                  <a:lnTo>
                    <a:pt x="30099" y="9905"/>
                  </a:lnTo>
                  <a:lnTo>
                    <a:pt x="63862" y="9905"/>
                  </a:lnTo>
                  <a:lnTo>
                    <a:pt x="62864" y="8509"/>
                  </a:lnTo>
                  <a:lnTo>
                    <a:pt x="60474" y="6476"/>
                  </a:lnTo>
                  <a:lnTo>
                    <a:pt x="57784" y="4317"/>
                  </a:lnTo>
                  <a:lnTo>
                    <a:pt x="54482" y="2666"/>
                  </a:lnTo>
                  <a:lnTo>
                    <a:pt x="50815" y="1777"/>
                  </a:lnTo>
                  <a:lnTo>
                    <a:pt x="46100" y="508"/>
                  </a:lnTo>
                  <a:lnTo>
                    <a:pt x="42386" y="126"/>
                  </a:lnTo>
                  <a:close/>
                </a:path>
                <a:path w="257809" h="99060">
                  <a:moveTo>
                    <a:pt x="105790" y="72516"/>
                  </a:moveTo>
                  <a:lnTo>
                    <a:pt x="100329" y="72516"/>
                  </a:lnTo>
                  <a:lnTo>
                    <a:pt x="101600" y="72644"/>
                  </a:lnTo>
                  <a:lnTo>
                    <a:pt x="104521" y="72644"/>
                  </a:lnTo>
                  <a:lnTo>
                    <a:pt x="105790" y="72516"/>
                  </a:lnTo>
                  <a:close/>
                </a:path>
                <a:path w="257809" h="99060">
                  <a:moveTo>
                    <a:pt x="161671" y="72516"/>
                  </a:moveTo>
                  <a:lnTo>
                    <a:pt x="156209" y="72516"/>
                  </a:lnTo>
                  <a:lnTo>
                    <a:pt x="157479" y="72644"/>
                  </a:lnTo>
                  <a:lnTo>
                    <a:pt x="160400" y="72644"/>
                  </a:lnTo>
                  <a:lnTo>
                    <a:pt x="161671" y="72516"/>
                  </a:lnTo>
                  <a:close/>
                </a:path>
                <a:path w="257809" h="99060">
                  <a:moveTo>
                    <a:pt x="108584" y="72136"/>
                  </a:moveTo>
                  <a:lnTo>
                    <a:pt x="97662" y="72136"/>
                  </a:lnTo>
                  <a:lnTo>
                    <a:pt x="98805" y="72516"/>
                  </a:lnTo>
                  <a:lnTo>
                    <a:pt x="107442" y="72516"/>
                  </a:lnTo>
                  <a:lnTo>
                    <a:pt x="108584" y="72136"/>
                  </a:lnTo>
                  <a:close/>
                </a:path>
                <a:path w="257809" h="99060">
                  <a:moveTo>
                    <a:pt x="164337" y="72136"/>
                  </a:moveTo>
                  <a:lnTo>
                    <a:pt x="153415" y="72136"/>
                  </a:lnTo>
                  <a:lnTo>
                    <a:pt x="154559" y="72516"/>
                  </a:lnTo>
                  <a:lnTo>
                    <a:pt x="163195" y="72516"/>
                  </a:lnTo>
                  <a:lnTo>
                    <a:pt x="164337" y="72136"/>
                  </a:lnTo>
                  <a:close/>
                </a:path>
                <a:path w="257809" h="99060">
                  <a:moveTo>
                    <a:pt x="106679" y="1142"/>
                  </a:moveTo>
                  <a:lnTo>
                    <a:pt x="98171" y="1142"/>
                  </a:lnTo>
                  <a:lnTo>
                    <a:pt x="97408" y="1270"/>
                  </a:lnTo>
                  <a:lnTo>
                    <a:pt x="96392" y="1777"/>
                  </a:lnTo>
                  <a:lnTo>
                    <a:pt x="96011" y="2032"/>
                  </a:lnTo>
                  <a:lnTo>
                    <a:pt x="96011" y="71500"/>
                  </a:lnTo>
                  <a:lnTo>
                    <a:pt x="97281" y="72136"/>
                  </a:lnTo>
                  <a:lnTo>
                    <a:pt x="108838" y="72136"/>
                  </a:lnTo>
                  <a:lnTo>
                    <a:pt x="109600" y="71754"/>
                  </a:lnTo>
                  <a:lnTo>
                    <a:pt x="109981" y="71500"/>
                  </a:lnTo>
                  <a:lnTo>
                    <a:pt x="110489" y="70992"/>
                  </a:lnTo>
                  <a:lnTo>
                    <a:pt x="110616" y="23495"/>
                  </a:lnTo>
                  <a:lnTo>
                    <a:pt x="114807" y="19303"/>
                  </a:lnTo>
                  <a:lnTo>
                    <a:pt x="118745" y="16001"/>
                  </a:lnTo>
                  <a:lnTo>
                    <a:pt x="125468" y="12191"/>
                  </a:lnTo>
                  <a:lnTo>
                    <a:pt x="109220" y="12191"/>
                  </a:lnTo>
                  <a:lnTo>
                    <a:pt x="109220" y="2921"/>
                  </a:lnTo>
                  <a:lnTo>
                    <a:pt x="109092" y="2539"/>
                  </a:lnTo>
                  <a:lnTo>
                    <a:pt x="108330" y="1777"/>
                  </a:lnTo>
                  <a:lnTo>
                    <a:pt x="107314" y="1270"/>
                  </a:lnTo>
                  <a:lnTo>
                    <a:pt x="106679" y="1142"/>
                  </a:lnTo>
                  <a:close/>
                </a:path>
                <a:path w="257809" h="99060">
                  <a:moveTo>
                    <a:pt x="162077" y="10540"/>
                  </a:moveTo>
                  <a:lnTo>
                    <a:pt x="136778" y="10540"/>
                  </a:lnTo>
                  <a:lnTo>
                    <a:pt x="139446" y="11049"/>
                  </a:lnTo>
                  <a:lnTo>
                    <a:pt x="141604" y="11937"/>
                  </a:lnTo>
                  <a:lnTo>
                    <a:pt x="151510" y="70992"/>
                  </a:lnTo>
                  <a:lnTo>
                    <a:pt x="152019" y="71500"/>
                  </a:lnTo>
                  <a:lnTo>
                    <a:pt x="152400" y="71754"/>
                  </a:lnTo>
                  <a:lnTo>
                    <a:pt x="153161" y="72136"/>
                  </a:lnTo>
                  <a:lnTo>
                    <a:pt x="164719" y="72136"/>
                  </a:lnTo>
                  <a:lnTo>
                    <a:pt x="165480" y="71754"/>
                  </a:lnTo>
                  <a:lnTo>
                    <a:pt x="165861" y="71500"/>
                  </a:lnTo>
                  <a:lnTo>
                    <a:pt x="166370" y="70992"/>
                  </a:lnTo>
                  <a:lnTo>
                    <a:pt x="166354" y="23495"/>
                  </a:lnTo>
                  <a:lnTo>
                    <a:pt x="165988" y="20574"/>
                  </a:lnTo>
                  <a:lnTo>
                    <a:pt x="164035" y="14097"/>
                  </a:lnTo>
                  <a:lnTo>
                    <a:pt x="163956" y="13842"/>
                  </a:lnTo>
                  <a:lnTo>
                    <a:pt x="162305" y="10795"/>
                  </a:lnTo>
                  <a:lnTo>
                    <a:pt x="162077" y="10540"/>
                  </a:lnTo>
                  <a:close/>
                </a:path>
                <a:path w="257809" h="99060">
                  <a:moveTo>
                    <a:pt x="142494" y="0"/>
                  </a:moveTo>
                  <a:lnTo>
                    <a:pt x="132333" y="0"/>
                  </a:lnTo>
                  <a:lnTo>
                    <a:pt x="127634" y="888"/>
                  </a:lnTo>
                  <a:lnTo>
                    <a:pt x="123062" y="2921"/>
                  </a:lnTo>
                  <a:lnTo>
                    <a:pt x="118490" y="4825"/>
                  </a:lnTo>
                  <a:lnTo>
                    <a:pt x="113791" y="8000"/>
                  </a:lnTo>
                  <a:lnTo>
                    <a:pt x="109220" y="12191"/>
                  </a:lnTo>
                  <a:lnTo>
                    <a:pt x="125468" y="12191"/>
                  </a:lnTo>
                  <a:lnTo>
                    <a:pt x="126364" y="11684"/>
                  </a:lnTo>
                  <a:lnTo>
                    <a:pt x="130048" y="10540"/>
                  </a:lnTo>
                  <a:lnTo>
                    <a:pt x="162077" y="10540"/>
                  </a:lnTo>
                  <a:lnTo>
                    <a:pt x="160020" y="8254"/>
                  </a:lnTo>
                  <a:lnTo>
                    <a:pt x="157606" y="5714"/>
                  </a:lnTo>
                  <a:lnTo>
                    <a:pt x="154558" y="3683"/>
                  </a:lnTo>
                  <a:lnTo>
                    <a:pt x="150875" y="2286"/>
                  </a:lnTo>
                  <a:lnTo>
                    <a:pt x="147383" y="888"/>
                  </a:lnTo>
                  <a:lnTo>
                    <a:pt x="147827" y="888"/>
                  </a:lnTo>
                  <a:lnTo>
                    <a:pt x="142494" y="0"/>
                  </a:lnTo>
                  <a:close/>
                </a:path>
                <a:path w="257809" h="99060">
                  <a:moveTo>
                    <a:pt x="200575" y="98171"/>
                  </a:moveTo>
                  <a:lnTo>
                    <a:pt x="200405" y="98171"/>
                  </a:lnTo>
                  <a:lnTo>
                    <a:pt x="201422" y="98678"/>
                  </a:lnTo>
                  <a:lnTo>
                    <a:pt x="202564" y="99060"/>
                  </a:lnTo>
                  <a:lnTo>
                    <a:pt x="212344" y="99060"/>
                  </a:lnTo>
                  <a:lnTo>
                    <a:pt x="213391" y="98678"/>
                  </a:lnTo>
                  <a:lnTo>
                    <a:pt x="201252" y="98678"/>
                  </a:lnTo>
                  <a:lnTo>
                    <a:pt x="200575" y="98171"/>
                  </a:lnTo>
                  <a:close/>
                </a:path>
                <a:path w="257809" h="99060">
                  <a:moveTo>
                    <a:pt x="192024" y="1142"/>
                  </a:moveTo>
                  <a:lnTo>
                    <a:pt x="182245" y="1142"/>
                  </a:lnTo>
                  <a:lnTo>
                    <a:pt x="181101" y="1270"/>
                  </a:lnTo>
                  <a:lnTo>
                    <a:pt x="180339" y="1524"/>
                  </a:lnTo>
                  <a:lnTo>
                    <a:pt x="179662" y="2032"/>
                  </a:lnTo>
                  <a:lnTo>
                    <a:pt x="179239" y="2412"/>
                  </a:lnTo>
                  <a:lnTo>
                    <a:pt x="179070" y="2666"/>
                  </a:lnTo>
                  <a:lnTo>
                    <a:pt x="179070" y="3937"/>
                  </a:lnTo>
                  <a:lnTo>
                    <a:pt x="179324" y="4699"/>
                  </a:lnTo>
                  <a:lnTo>
                    <a:pt x="179831" y="5714"/>
                  </a:lnTo>
                  <a:lnTo>
                    <a:pt x="209296" y="69723"/>
                  </a:lnTo>
                  <a:lnTo>
                    <a:pt x="209423" y="70230"/>
                  </a:lnTo>
                  <a:lnTo>
                    <a:pt x="209803" y="70738"/>
                  </a:lnTo>
                  <a:lnTo>
                    <a:pt x="210311" y="71120"/>
                  </a:lnTo>
                  <a:lnTo>
                    <a:pt x="210692" y="71627"/>
                  </a:lnTo>
                  <a:lnTo>
                    <a:pt x="211200" y="71882"/>
                  </a:lnTo>
                  <a:lnTo>
                    <a:pt x="211835" y="72136"/>
                  </a:lnTo>
                  <a:lnTo>
                    <a:pt x="200405" y="95376"/>
                  </a:lnTo>
                  <a:lnTo>
                    <a:pt x="200151" y="96138"/>
                  </a:lnTo>
                  <a:lnTo>
                    <a:pt x="200025" y="97662"/>
                  </a:lnTo>
                  <a:lnTo>
                    <a:pt x="200575" y="98171"/>
                  </a:lnTo>
                  <a:lnTo>
                    <a:pt x="201252" y="98678"/>
                  </a:lnTo>
                  <a:lnTo>
                    <a:pt x="213232" y="98678"/>
                  </a:lnTo>
                  <a:lnTo>
                    <a:pt x="234021" y="57658"/>
                  </a:lnTo>
                  <a:lnTo>
                    <a:pt x="219075" y="57658"/>
                  </a:lnTo>
                  <a:lnTo>
                    <a:pt x="195579" y="3937"/>
                  </a:lnTo>
                  <a:lnTo>
                    <a:pt x="195325" y="3301"/>
                  </a:lnTo>
                  <a:lnTo>
                    <a:pt x="195072" y="2794"/>
                  </a:lnTo>
                  <a:lnTo>
                    <a:pt x="194690" y="2412"/>
                  </a:lnTo>
                  <a:lnTo>
                    <a:pt x="194436" y="2032"/>
                  </a:lnTo>
                  <a:lnTo>
                    <a:pt x="194055" y="1777"/>
                  </a:lnTo>
                  <a:lnTo>
                    <a:pt x="192785" y="1270"/>
                  </a:lnTo>
                  <a:lnTo>
                    <a:pt x="192024" y="1142"/>
                  </a:lnTo>
                  <a:close/>
                </a:path>
                <a:path w="257809" h="99060">
                  <a:moveTo>
                    <a:pt x="254507" y="1142"/>
                  </a:moveTo>
                  <a:lnTo>
                    <a:pt x="245745" y="1142"/>
                  </a:lnTo>
                  <a:lnTo>
                    <a:pt x="244728" y="1270"/>
                  </a:lnTo>
                  <a:lnTo>
                    <a:pt x="243966" y="1524"/>
                  </a:lnTo>
                  <a:lnTo>
                    <a:pt x="242950" y="2032"/>
                  </a:lnTo>
                  <a:lnTo>
                    <a:pt x="242442" y="2666"/>
                  </a:lnTo>
                  <a:lnTo>
                    <a:pt x="219455" y="57658"/>
                  </a:lnTo>
                  <a:lnTo>
                    <a:pt x="234021" y="57658"/>
                  </a:lnTo>
                  <a:lnTo>
                    <a:pt x="257118" y="5714"/>
                  </a:lnTo>
                  <a:lnTo>
                    <a:pt x="257682" y="3937"/>
                  </a:lnTo>
                  <a:lnTo>
                    <a:pt x="257682" y="2666"/>
                  </a:lnTo>
                  <a:lnTo>
                    <a:pt x="254507" y="1142"/>
                  </a:lnTo>
                  <a:close/>
                </a:path>
              </a:pathLst>
            </a:custGeom>
            <a:solidFill>
              <a:srgbClr val="E4DCE6"/>
            </a:solidFill>
          </p:spPr>
          <p:txBody>
            <a:bodyPr wrap="square" lIns="0" tIns="0" rIns="0" bIns="0" rtlCol="0"/>
            <a:lstStyle/>
            <a:p>
              <a:endParaRPr/>
            </a:p>
          </p:txBody>
        </p:sp>
        <p:pic>
          <p:nvPicPr>
            <p:cNvPr id="40" name="object 40"/>
            <p:cNvPicPr/>
            <p:nvPr/>
          </p:nvPicPr>
          <p:blipFill>
            <a:blip r:embed="rId28" cstate="print"/>
            <a:stretch>
              <a:fillRect/>
            </a:stretch>
          </p:blipFill>
          <p:spPr>
            <a:xfrm>
              <a:off x="12047262" y="4185031"/>
              <a:ext cx="1230576" cy="104902"/>
            </a:xfrm>
            <a:prstGeom prst="rect">
              <a:avLst/>
            </a:prstGeom>
          </p:spPr>
        </p:pic>
        <p:pic>
          <p:nvPicPr>
            <p:cNvPr id="41" name="object 41"/>
            <p:cNvPicPr/>
            <p:nvPr/>
          </p:nvPicPr>
          <p:blipFill>
            <a:blip r:embed="rId29" cstate="print"/>
            <a:stretch>
              <a:fillRect/>
            </a:stretch>
          </p:blipFill>
          <p:spPr>
            <a:xfrm>
              <a:off x="13354684" y="4216400"/>
              <a:ext cx="313436" cy="73533"/>
            </a:xfrm>
            <a:prstGeom prst="rect">
              <a:avLst/>
            </a:prstGeom>
          </p:spPr>
        </p:pic>
        <p:pic>
          <p:nvPicPr>
            <p:cNvPr id="42" name="object 42"/>
            <p:cNvPicPr/>
            <p:nvPr/>
          </p:nvPicPr>
          <p:blipFill>
            <a:blip r:embed="rId30" cstate="print"/>
            <a:stretch>
              <a:fillRect/>
            </a:stretch>
          </p:blipFill>
          <p:spPr>
            <a:xfrm>
              <a:off x="7553832" y="4433570"/>
              <a:ext cx="1049782" cy="125983"/>
            </a:xfrm>
            <a:prstGeom prst="rect">
              <a:avLst/>
            </a:prstGeom>
          </p:spPr>
        </p:pic>
        <p:pic>
          <p:nvPicPr>
            <p:cNvPr id="43" name="object 43"/>
            <p:cNvPicPr/>
            <p:nvPr/>
          </p:nvPicPr>
          <p:blipFill>
            <a:blip r:embed="rId31" cstate="print"/>
            <a:stretch>
              <a:fillRect/>
            </a:stretch>
          </p:blipFill>
          <p:spPr>
            <a:xfrm>
              <a:off x="8667877" y="4460240"/>
              <a:ext cx="478917" cy="73533"/>
            </a:xfrm>
            <a:prstGeom prst="rect">
              <a:avLst/>
            </a:prstGeom>
          </p:spPr>
        </p:pic>
        <p:pic>
          <p:nvPicPr>
            <p:cNvPr id="44" name="object 44"/>
            <p:cNvPicPr/>
            <p:nvPr/>
          </p:nvPicPr>
          <p:blipFill>
            <a:blip r:embed="rId32" cstate="print"/>
            <a:stretch>
              <a:fillRect/>
            </a:stretch>
          </p:blipFill>
          <p:spPr>
            <a:xfrm>
              <a:off x="9219310" y="4429506"/>
              <a:ext cx="730377" cy="129413"/>
            </a:xfrm>
            <a:prstGeom prst="rect">
              <a:avLst/>
            </a:prstGeom>
          </p:spPr>
        </p:pic>
        <p:pic>
          <p:nvPicPr>
            <p:cNvPr id="45" name="object 45"/>
            <p:cNvPicPr/>
            <p:nvPr/>
          </p:nvPicPr>
          <p:blipFill>
            <a:blip r:embed="rId33" cstate="print"/>
            <a:stretch>
              <a:fillRect/>
            </a:stretch>
          </p:blipFill>
          <p:spPr>
            <a:xfrm>
              <a:off x="10028554" y="4460240"/>
              <a:ext cx="469772" cy="99313"/>
            </a:xfrm>
            <a:prstGeom prst="rect">
              <a:avLst/>
            </a:prstGeom>
          </p:spPr>
        </p:pic>
        <p:pic>
          <p:nvPicPr>
            <p:cNvPr id="46" name="object 46"/>
            <p:cNvPicPr/>
            <p:nvPr/>
          </p:nvPicPr>
          <p:blipFill>
            <a:blip r:embed="rId34" cstate="print"/>
            <a:stretch>
              <a:fillRect/>
            </a:stretch>
          </p:blipFill>
          <p:spPr>
            <a:xfrm>
              <a:off x="10567542" y="4429252"/>
              <a:ext cx="332993" cy="104521"/>
            </a:xfrm>
            <a:prstGeom prst="rect">
              <a:avLst/>
            </a:prstGeom>
          </p:spPr>
        </p:pic>
        <p:pic>
          <p:nvPicPr>
            <p:cNvPr id="47" name="object 47"/>
            <p:cNvPicPr/>
            <p:nvPr/>
          </p:nvPicPr>
          <p:blipFill>
            <a:blip r:embed="rId35" cstate="print"/>
            <a:stretch>
              <a:fillRect/>
            </a:stretch>
          </p:blipFill>
          <p:spPr>
            <a:xfrm>
              <a:off x="10973689" y="4429252"/>
              <a:ext cx="455167" cy="104521"/>
            </a:xfrm>
            <a:prstGeom prst="rect">
              <a:avLst/>
            </a:prstGeom>
          </p:spPr>
        </p:pic>
        <p:pic>
          <p:nvPicPr>
            <p:cNvPr id="48" name="object 48"/>
            <p:cNvPicPr/>
            <p:nvPr/>
          </p:nvPicPr>
          <p:blipFill>
            <a:blip r:embed="rId36" cstate="print"/>
            <a:stretch>
              <a:fillRect/>
            </a:stretch>
          </p:blipFill>
          <p:spPr>
            <a:xfrm>
              <a:off x="11500865" y="4436110"/>
              <a:ext cx="679957" cy="117348"/>
            </a:xfrm>
            <a:prstGeom prst="rect">
              <a:avLst/>
            </a:prstGeom>
          </p:spPr>
        </p:pic>
        <p:pic>
          <p:nvPicPr>
            <p:cNvPr id="49" name="object 49"/>
            <p:cNvPicPr/>
            <p:nvPr/>
          </p:nvPicPr>
          <p:blipFill>
            <a:blip r:embed="rId37" cstate="print"/>
            <a:stretch>
              <a:fillRect/>
            </a:stretch>
          </p:blipFill>
          <p:spPr>
            <a:xfrm>
              <a:off x="12247117" y="4429252"/>
              <a:ext cx="460375" cy="104521"/>
            </a:xfrm>
            <a:prstGeom prst="rect">
              <a:avLst/>
            </a:prstGeom>
          </p:spPr>
        </p:pic>
        <p:pic>
          <p:nvPicPr>
            <p:cNvPr id="50" name="object 50"/>
            <p:cNvPicPr/>
            <p:nvPr/>
          </p:nvPicPr>
          <p:blipFill>
            <a:blip r:embed="rId38" cstate="print"/>
            <a:stretch>
              <a:fillRect/>
            </a:stretch>
          </p:blipFill>
          <p:spPr>
            <a:xfrm>
              <a:off x="12777851" y="4429252"/>
              <a:ext cx="349250" cy="130301"/>
            </a:xfrm>
            <a:prstGeom prst="rect">
              <a:avLst/>
            </a:prstGeom>
          </p:spPr>
        </p:pic>
        <p:pic>
          <p:nvPicPr>
            <p:cNvPr id="51" name="object 51"/>
            <p:cNvPicPr/>
            <p:nvPr/>
          </p:nvPicPr>
          <p:blipFill>
            <a:blip r:embed="rId39" cstate="print"/>
            <a:stretch>
              <a:fillRect/>
            </a:stretch>
          </p:blipFill>
          <p:spPr>
            <a:xfrm>
              <a:off x="13210666" y="4460240"/>
              <a:ext cx="393572" cy="99313"/>
            </a:xfrm>
            <a:prstGeom prst="rect">
              <a:avLst/>
            </a:prstGeom>
          </p:spPr>
        </p:pic>
        <p:pic>
          <p:nvPicPr>
            <p:cNvPr id="52" name="object 52"/>
            <p:cNvPicPr/>
            <p:nvPr/>
          </p:nvPicPr>
          <p:blipFill>
            <a:blip r:embed="rId40" cstate="print"/>
            <a:stretch>
              <a:fillRect/>
            </a:stretch>
          </p:blipFill>
          <p:spPr>
            <a:xfrm>
              <a:off x="7553960" y="4669917"/>
              <a:ext cx="1327658" cy="130429"/>
            </a:xfrm>
            <a:prstGeom prst="rect">
              <a:avLst/>
            </a:prstGeom>
          </p:spPr>
        </p:pic>
        <p:pic>
          <p:nvPicPr>
            <p:cNvPr id="53" name="object 53"/>
            <p:cNvPicPr/>
            <p:nvPr/>
          </p:nvPicPr>
          <p:blipFill>
            <a:blip r:embed="rId41" cstate="print"/>
            <a:stretch>
              <a:fillRect/>
            </a:stretch>
          </p:blipFill>
          <p:spPr>
            <a:xfrm>
              <a:off x="8951213" y="4669917"/>
              <a:ext cx="574293" cy="104648"/>
            </a:xfrm>
            <a:prstGeom prst="rect">
              <a:avLst/>
            </a:prstGeom>
          </p:spPr>
        </p:pic>
      </p:grpSp>
      <p:grpSp>
        <p:nvGrpSpPr>
          <p:cNvPr id="54" name="object 54"/>
          <p:cNvGrpSpPr/>
          <p:nvPr/>
        </p:nvGrpSpPr>
        <p:grpSpPr>
          <a:xfrm>
            <a:off x="533400" y="5150103"/>
            <a:ext cx="6705600" cy="1981200"/>
            <a:chOff x="533400" y="5150103"/>
            <a:chExt cx="6705600" cy="1981200"/>
          </a:xfrm>
        </p:grpSpPr>
        <p:sp>
          <p:nvSpPr>
            <p:cNvPr id="55" name="object 55"/>
            <p:cNvSpPr/>
            <p:nvPr/>
          </p:nvSpPr>
          <p:spPr>
            <a:xfrm>
              <a:off x="533400" y="5150103"/>
              <a:ext cx="6705600" cy="1981200"/>
            </a:xfrm>
            <a:custGeom>
              <a:avLst/>
              <a:gdLst/>
              <a:ahLst/>
              <a:cxnLst/>
              <a:rect l="l" t="t" r="r" b="b"/>
              <a:pathLst>
                <a:path w="6705600" h="1981200">
                  <a:moveTo>
                    <a:pt x="6641465" y="0"/>
                  </a:moveTo>
                  <a:lnTo>
                    <a:pt x="64185" y="0"/>
                  </a:lnTo>
                  <a:lnTo>
                    <a:pt x="39203" y="5038"/>
                  </a:lnTo>
                  <a:lnTo>
                    <a:pt x="18800" y="18780"/>
                  </a:lnTo>
                  <a:lnTo>
                    <a:pt x="5044" y="39165"/>
                  </a:lnTo>
                  <a:lnTo>
                    <a:pt x="0" y="64135"/>
                  </a:lnTo>
                  <a:lnTo>
                    <a:pt x="0" y="1917014"/>
                  </a:lnTo>
                  <a:lnTo>
                    <a:pt x="5044" y="1941996"/>
                  </a:lnTo>
                  <a:lnTo>
                    <a:pt x="18800" y="1962399"/>
                  </a:lnTo>
                  <a:lnTo>
                    <a:pt x="39203" y="1976155"/>
                  </a:lnTo>
                  <a:lnTo>
                    <a:pt x="64185" y="1981200"/>
                  </a:lnTo>
                  <a:lnTo>
                    <a:pt x="6641465" y="1981200"/>
                  </a:lnTo>
                  <a:lnTo>
                    <a:pt x="6666434" y="1976155"/>
                  </a:lnTo>
                  <a:lnTo>
                    <a:pt x="6686819" y="1962399"/>
                  </a:lnTo>
                  <a:lnTo>
                    <a:pt x="6700561" y="1941996"/>
                  </a:lnTo>
                  <a:lnTo>
                    <a:pt x="6705600" y="1917014"/>
                  </a:lnTo>
                  <a:lnTo>
                    <a:pt x="6705600" y="64135"/>
                  </a:lnTo>
                  <a:lnTo>
                    <a:pt x="6700561" y="39165"/>
                  </a:lnTo>
                  <a:lnTo>
                    <a:pt x="6686819" y="18780"/>
                  </a:lnTo>
                  <a:lnTo>
                    <a:pt x="6666434" y="5038"/>
                  </a:lnTo>
                  <a:lnTo>
                    <a:pt x="6641465" y="0"/>
                  </a:lnTo>
                  <a:close/>
                </a:path>
              </a:pathLst>
            </a:custGeom>
            <a:solidFill>
              <a:srgbClr val="282C5E"/>
            </a:solidFill>
          </p:spPr>
          <p:txBody>
            <a:bodyPr wrap="square" lIns="0" tIns="0" rIns="0" bIns="0" rtlCol="0"/>
            <a:lstStyle/>
            <a:p>
              <a:endParaRPr/>
            </a:p>
          </p:txBody>
        </p:sp>
        <p:sp>
          <p:nvSpPr>
            <p:cNvPr id="56" name="object 56"/>
            <p:cNvSpPr/>
            <p:nvPr/>
          </p:nvSpPr>
          <p:spPr>
            <a:xfrm>
              <a:off x="688847" y="5302503"/>
              <a:ext cx="457200" cy="457200"/>
            </a:xfrm>
            <a:custGeom>
              <a:avLst/>
              <a:gdLst/>
              <a:ahLst/>
              <a:cxnLst/>
              <a:rect l="l" t="t" r="r" b="b"/>
              <a:pathLst>
                <a:path w="457200" h="457200">
                  <a:moveTo>
                    <a:pt x="228599" y="0"/>
                  </a:moveTo>
                  <a:lnTo>
                    <a:pt x="182529" y="4644"/>
                  </a:lnTo>
                  <a:lnTo>
                    <a:pt x="139619" y="17966"/>
                  </a:lnTo>
                  <a:lnTo>
                    <a:pt x="100788" y="39045"/>
                  </a:lnTo>
                  <a:lnTo>
                    <a:pt x="66955" y="66960"/>
                  </a:lnTo>
                  <a:lnTo>
                    <a:pt x="39041" y="100793"/>
                  </a:lnTo>
                  <a:lnTo>
                    <a:pt x="17964" y="139624"/>
                  </a:lnTo>
                  <a:lnTo>
                    <a:pt x="4644" y="182533"/>
                  </a:lnTo>
                  <a:lnTo>
                    <a:pt x="0" y="228600"/>
                  </a:lnTo>
                  <a:lnTo>
                    <a:pt x="4644" y="274666"/>
                  </a:lnTo>
                  <a:lnTo>
                    <a:pt x="17964" y="317575"/>
                  </a:lnTo>
                  <a:lnTo>
                    <a:pt x="39041" y="356406"/>
                  </a:lnTo>
                  <a:lnTo>
                    <a:pt x="66955" y="390239"/>
                  </a:lnTo>
                  <a:lnTo>
                    <a:pt x="100788" y="418154"/>
                  </a:lnTo>
                  <a:lnTo>
                    <a:pt x="139619" y="439233"/>
                  </a:lnTo>
                  <a:lnTo>
                    <a:pt x="182529" y="452555"/>
                  </a:lnTo>
                  <a:lnTo>
                    <a:pt x="228599" y="457200"/>
                  </a:lnTo>
                  <a:lnTo>
                    <a:pt x="274670" y="452555"/>
                  </a:lnTo>
                  <a:lnTo>
                    <a:pt x="317580" y="439233"/>
                  </a:lnTo>
                  <a:lnTo>
                    <a:pt x="356411" y="418154"/>
                  </a:lnTo>
                  <a:lnTo>
                    <a:pt x="390244" y="390239"/>
                  </a:lnTo>
                  <a:lnTo>
                    <a:pt x="418158" y="356406"/>
                  </a:lnTo>
                  <a:lnTo>
                    <a:pt x="439235" y="317575"/>
                  </a:lnTo>
                  <a:lnTo>
                    <a:pt x="452555" y="274666"/>
                  </a:lnTo>
                  <a:lnTo>
                    <a:pt x="457199" y="228600"/>
                  </a:lnTo>
                  <a:lnTo>
                    <a:pt x="452555" y="182533"/>
                  </a:lnTo>
                  <a:lnTo>
                    <a:pt x="439235" y="139624"/>
                  </a:lnTo>
                  <a:lnTo>
                    <a:pt x="418158" y="100793"/>
                  </a:lnTo>
                  <a:lnTo>
                    <a:pt x="390244" y="66960"/>
                  </a:lnTo>
                  <a:lnTo>
                    <a:pt x="356411" y="39045"/>
                  </a:lnTo>
                  <a:lnTo>
                    <a:pt x="317580" y="17966"/>
                  </a:lnTo>
                  <a:lnTo>
                    <a:pt x="274670" y="4644"/>
                  </a:lnTo>
                  <a:lnTo>
                    <a:pt x="228599" y="0"/>
                  </a:lnTo>
                  <a:close/>
                </a:path>
              </a:pathLst>
            </a:custGeom>
            <a:solidFill>
              <a:srgbClr val="EDADF6"/>
            </a:solidFill>
          </p:spPr>
          <p:txBody>
            <a:bodyPr wrap="square" lIns="0" tIns="0" rIns="0" bIns="0" rtlCol="0"/>
            <a:lstStyle/>
            <a:p>
              <a:endParaRPr/>
            </a:p>
          </p:txBody>
        </p:sp>
        <p:pic>
          <p:nvPicPr>
            <p:cNvPr id="57" name="object 57"/>
            <p:cNvPicPr/>
            <p:nvPr/>
          </p:nvPicPr>
          <p:blipFill>
            <a:blip r:embed="rId4" cstate="print"/>
            <a:stretch>
              <a:fillRect/>
            </a:stretch>
          </p:blipFill>
          <p:spPr>
            <a:xfrm>
              <a:off x="813815" y="5427471"/>
              <a:ext cx="207264" cy="207263"/>
            </a:xfrm>
            <a:prstGeom prst="rect">
              <a:avLst/>
            </a:prstGeom>
          </p:spPr>
        </p:pic>
        <p:pic>
          <p:nvPicPr>
            <p:cNvPr id="58" name="object 58"/>
            <p:cNvPicPr/>
            <p:nvPr/>
          </p:nvPicPr>
          <p:blipFill>
            <a:blip r:embed="rId42" cstate="print"/>
            <a:stretch>
              <a:fillRect/>
            </a:stretch>
          </p:blipFill>
          <p:spPr>
            <a:xfrm>
              <a:off x="707009" y="5967983"/>
              <a:ext cx="448132" cy="131318"/>
            </a:xfrm>
            <a:prstGeom prst="rect">
              <a:avLst/>
            </a:prstGeom>
          </p:spPr>
        </p:pic>
        <p:sp>
          <p:nvSpPr>
            <p:cNvPr id="59" name="object 59"/>
            <p:cNvSpPr/>
            <p:nvPr/>
          </p:nvSpPr>
          <p:spPr>
            <a:xfrm>
              <a:off x="1172794" y="5967983"/>
              <a:ext cx="1185545" cy="163195"/>
            </a:xfrm>
            <a:custGeom>
              <a:avLst/>
              <a:gdLst/>
              <a:ahLst/>
              <a:cxnLst/>
              <a:rect l="l" t="t" r="r" b="b"/>
              <a:pathLst>
                <a:path w="1185545" h="163195">
                  <a:moveTo>
                    <a:pt x="49123" y="82550"/>
                  </a:moveTo>
                  <a:lnTo>
                    <a:pt x="47066" y="76581"/>
                  </a:lnTo>
                  <a:lnTo>
                    <a:pt x="46621" y="76327"/>
                  </a:lnTo>
                  <a:lnTo>
                    <a:pt x="46139" y="76200"/>
                  </a:lnTo>
                  <a:lnTo>
                    <a:pt x="2413" y="76200"/>
                  </a:lnTo>
                  <a:lnTo>
                    <a:pt x="1498" y="76708"/>
                  </a:lnTo>
                  <a:lnTo>
                    <a:pt x="304" y="78613"/>
                  </a:lnTo>
                  <a:lnTo>
                    <a:pt x="0" y="80264"/>
                  </a:lnTo>
                  <a:lnTo>
                    <a:pt x="0" y="84963"/>
                  </a:lnTo>
                  <a:lnTo>
                    <a:pt x="304" y="86614"/>
                  </a:lnTo>
                  <a:lnTo>
                    <a:pt x="1498" y="88519"/>
                  </a:lnTo>
                  <a:lnTo>
                    <a:pt x="2413" y="89027"/>
                  </a:lnTo>
                  <a:lnTo>
                    <a:pt x="46748" y="89027"/>
                  </a:lnTo>
                  <a:lnTo>
                    <a:pt x="47612" y="88519"/>
                  </a:lnTo>
                  <a:lnTo>
                    <a:pt x="48818" y="86614"/>
                  </a:lnTo>
                  <a:lnTo>
                    <a:pt x="49123" y="84963"/>
                  </a:lnTo>
                  <a:lnTo>
                    <a:pt x="49123" y="82550"/>
                  </a:lnTo>
                  <a:close/>
                </a:path>
                <a:path w="1185545" h="163195">
                  <a:moveTo>
                    <a:pt x="152196" y="91186"/>
                  </a:moveTo>
                  <a:lnTo>
                    <a:pt x="151307" y="86868"/>
                  </a:lnTo>
                  <a:lnTo>
                    <a:pt x="149402" y="83312"/>
                  </a:lnTo>
                  <a:lnTo>
                    <a:pt x="147624" y="79883"/>
                  </a:lnTo>
                  <a:lnTo>
                    <a:pt x="145084" y="76835"/>
                  </a:lnTo>
                  <a:lnTo>
                    <a:pt x="142036" y="74295"/>
                  </a:lnTo>
                  <a:lnTo>
                    <a:pt x="138988" y="71628"/>
                  </a:lnTo>
                  <a:lnTo>
                    <a:pt x="119811" y="62357"/>
                  </a:lnTo>
                  <a:lnTo>
                    <a:pt x="115874" y="60706"/>
                  </a:lnTo>
                  <a:lnTo>
                    <a:pt x="87591" y="40767"/>
                  </a:lnTo>
                  <a:lnTo>
                    <a:pt x="87591" y="35179"/>
                  </a:lnTo>
                  <a:lnTo>
                    <a:pt x="88061" y="33020"/>
                  </a:lnTo>
                  <a:lnTo>
                    <a:pt x="89725" y="29464"/>
                  </a:lnTo>
                  <a:lnTo>
                    <a:pt x="89839" y="29210"/>
                  </a:lnTo>
                  <a:lnTo>
                    <a:pt x="106857" y="20701"/>
                  </a:lnTo>
                  <a:lnTo>
                    <a:pt x="115112" y="20701"/>
                  </a:lnTo>
                  <a:lnTo>
                    <a:pt x="133654" y="26162"/>
                  </a:lnTo>
                  <a:lnTo>
                    <a:pt x="135496" y="26924"/>
                  </a:lnTo>
                  <a:lnTo>
                    <a:pt x="136042" y="27178"/>
                  </a:lnTo>
                  <a:lnTo>
                    <a:pt x="137464" y="27940"/>
                  </a:lnTo>
                  <a:lnTo>
                    <a:pt x="139484" y="28956"/>
                  </a:lnTo>
                  <a:lnTo>
                    <a:pt x="139661" y="28956"/>
                  </a:lnTo>
                  <a:lnTo>
                    <a:pt x="140512" y="29210"/>
                  </a:lnTo>
                  <a:lnTo>
                    <a:pt x="142100" y="29210"/>
                  </a:lnTo>
                  <a:lnTo>
                    <a:pt x="143052" y="28575"/>
                  </a:lnTo>
                  <a:lnTo>
                    <a:pt x="143306" y="28194"/>
                  </a:lnTo>
                  <a:lnTo>
                    <a:pt x="143700" y="27178"/>
                  </a:lnTo>
                  <a:lnTo>
                    <a:pt x="143814" y="26924"/>
                  </a:lnTo>
                  <a:lnTo>
                    <a:pt x="143941" y="26289"/>
                  </a:lnTo>
                  <a:lnTo>
                    <a:pt x="144068" y="25400"/>
                  </a:lnTo>
                  <a:lnTo>
                    <a:pt x="144119" y="25019"/>
                  </a:lnTo>
                  <a:lnTo>
                    <a:pt x="144195" y="20701"/>
                  </a:lnTo>
                  <a:lnTo>
                    <a:pt x="144195" y="20193"/>
                  </a:lnTo>
                  <a:lnTo>
                    <a:pt x="144068" y="19558"/>
                  </a:lnTo>
                  <a:lnTo>
                    <a:pt x="143941" y="18161"/>
                  </a:lnTo>
                  <a:lnTo>
                    <a:pt x="143814" y="17653"/>
                  </a:lnTo>
                  <a:lnTo>
                    <a:pt x="143687" y="17018"/>
                  </a:lnTo>
                  <a:lnTo>
                    <a:pt x="143179" y="16256"/>
                  </a:lnTo>
                  <a:lnTo>
                    <a:pt x="133184" y="10922"/>
                  </a:lnTo>
                  <a:lnTo>
                    <a:pt x="129971" y="9906"/>
                  </a:lnTo>
                  <a:lnTo>
                    <a:pt x="127177" y="9144"/>
                  </a:lnTo>
                  <a:lnTo>
                    <a:pt x="124129" y="8509"/>
                  </a:lnTo>
                  <a:lnTo>
                    <a:pt x="120954" y="8128"/>
                  </a:lnTo>
                  <a:lnTo>
                    <a:pt x="117779" y="7620"/>
                  </a:lnTo>
                  <a:lnTo>
                    <a:pt x="114604" y="7366"/>
                  </a:lnTo>
                  <a:lnTo>
                    <a:pt x="105333" y="7366"/>
                  </a:lnTo>
                  <a:lnTo>
                    <a:pt x="69456" y="29464"/>
                  </a:lnTo>
                  <a:lnTo>
                    <a:pt x="68376" y="33909"/>
                  </a:lnTo>
                  <a:lnTo>
                    <a:pt x="68376" y="43815"/>
                  </a:lnTo>
                  <a:lnTo>
                    <a:pt x="88684" y="67437"/>
                  </a:lnTo>
                  <a:lnTo>
                    <a:pt x="92494" y="69469"/>
                  </a:lnTo>
                  <a:lnTo>
                    <a:pt x="100380" y="72771"/>
                  </a:lnTo>
                  <a:lnTo>
                    <a:pt x="104444" y="74295"/>
                  </a:lnTo>
                  <a:lnTo>
                    <a:pt x="108381" y="75946"/>
                  </a:lnTo>
                  <a:lnTo>
                    <a:pt x="129717" y="88773"/>
                  </a:lnTo>
                  <a:lnTo>
                    <a:pt x="131622" y="91186"/>
                  </a:lnTo>
                  <a:lnTo>
                    <a:pt x="132511" y="94107"/>
                  </a:lnTo>
                  <a:lnTo>
                    <a:pt x="132511" y="100711"/>
                  </a:lnTo>
                  <a:lnTo>
                    <a:pt x="131876" y="103505"/>
                  </a:lnTo>
                  <a:lnTo>
                    <a:pt x="130479" y="106045"/>
                  </a:lnTo>
                  <a:lnTo>
                    <a:pt x="129209" y="108458"/>
                  </a:lnTo>
                  <a:lnTo>
                    <a:pt x="127304" y="110617"/>
                  </a:lnTo>
                  <a:lnTo>
                    <a:pt x="124891" y="112268"/>
                  </a:lnTo>
                  <a:lnTo>
                    <a:pt x="122351" y="114046"/>
                  </a:lnTo>
                  <a:lnTo>
                    <a:pt x="119430" y="115316"/>
                  </a:lnTo>
                  <a:lnTo>
                    <a:pt x="116128" y="116205"/>
                  </a:lnTo>
                  <a:lnTo>
                    <a:pt x="112699" y="117221"/>
                  </a:lnTo>
                  <a:lnTo>
                    <a:pt x="108889" y="117602"/>
                  </a:lnTo>
                  <a:lnTo>
                    <a:pt x="99364" y="117602"/>
                  </a:lnTo>
                  <a:lnTo>
                    <a:pt x="94627" y="117094"/>
                  </a:lnTo>
                  <a:lnTo>
                    <a:pt x="90500" y="115951"/>
                  </a:lnTo>
                  <a:lnTo>
                    <a:pt x="86360" y="114935"/>
                  </a:lnTo>
                  <a:lnTo>
                    <a:pt x="82829" y="113792"/>
                  </a:lnTo>
                  <a:lnTo>
                    <a:pt x="76974" y="111252"/>
                  </a:lnTo>
                  <a:lnTo>
                    <a:pt x="74828" y="110236"/>
                  </a:lnTo>
                  <a:lnTo>
                    <a:pt x="70853" y="108077"/>
                  </a:lnTo>
                  <a:lnTo>
                    <a:pt x="69684" y="107569"/>
                  </a:lnTo>
                  <a:lnTo>
                    <a:pt x="67284" y="107569"/>
                  </a:lnTo>
                  <a:lnTo>
                    <a:pt x="66408" y="108077"/>
                  </a:lnTo>
                  <a:lnTo>
                    <a:pt x="65062" y="117983"/>
                  </a:lnTo>
                  <a:lnTo>
                    <a:pt x="65874" y="120269"/>
                  </a:lnTo>
                  <a:lnTo>
                    <a:pt x="99237" y="131318"/>
                  </a:lnTo>
                  <a:lnTo>
                    <a:pt x="110794" y="131318"/>
                  </a:lnTo>
                  <a:lnTo>
                    <a:pt x="143916" y="117602"/>
                  </a:lnTo>
                  <a:lnTo>
                    <a:pt x="145986" y="115316"/>
                  </a:lnTo>
                  <a:lnTo>
                    <a:pt x="146240" y="114935"/>
                  </a:lnTo>
                  <a:lnTo>
                    <a:pt x="148513" y="110871"/>
                  </a:lnTo>
                  <a:lnTo>
                    <a:pt x="151053" y="106426"/>
                  </a:lnTo>
                  <a:lnTo>
                    <a:pt x="152196" y="101473"/>
                  </a:lnTo>
                  <a:lnTo>
                    <a:pt x="152196" y="91186"/>
                  </a:lnTo>
                  <a:close/>
                </a:path>
                <a:path w="1185545" h="163195">
                  <a:moveTo>
                    <a:pt x="316026" y="141605"/>
                  </a:moveTo>
                  <a:lnTo>
                    <a:pt x="315899" y="137033"/>
                  </a:lnTo>
                  <a:lnTo>
                    <a:pt x="315899" y="136906"/>
                  </a:lnTo>
                  <a:lnTo>
                    <a:pt x="315518" y="135763"/>
                  </a:lnTo>
                  <a:lnTo>
                    <a:pt x="315264" y="134747"/>
                  </a:lnTo>
                  <a:lnTo>
                    <a:pt x="314756" y="133858"/>
                  </a:lnTo>
                  <a:lnTo>
                    <a:pt x="313994" y="133350"/>
                  </a:lnTo>
                  <a:lnTo>
                    <a:pt x="313359" y="132715"/>
                  </a:lnTo>
                  <a:lnTo>
                    <a:pt x="312216" y="132207"/>
                  </a:lnTo>
                  <a:lnTo>
                    <a:pt x="310692" y="131699"/>
                  </a:lnTo>
                  <a:lnTo>
                    <a:pt x="309295" y="131318"/>
                  </a:lnTo>
                  <a:lnTo>
                    <a:pt x="307263" y="130556"/>
                  </a:lnTo>
                  <a:lnTo>
                    <a:pt x="304596" y="129413"/>
                  </a:lnTo>
                  <a:lnTo>
                    <a:pt x="301929" y="128397"/>
                  </a:lnTo>
                  <a:lnTo>
                    <a:pt x="298627" y="126873"/>
                  </a:lnTo>
                  <a:lnTo>
                    <a:pt x="294309" y="124587"/>
                  </a:lnTo>
                  <a:lnTo>
                    <a:pt x="290626" y="122682"/>
                  </a:lnTo>
                  <a:lnTo>
                    <a:pt x="285927" y="119761"/>
                  </a:lnTo>
                  <a:lnTo>
                    <a:pt x="282613" y="117475"/>
                  </a:lnTo>
                  <a:lnTo>
                    <a:pt x="280771" y="116205"/>
                  </a:lnTo>
                  <a:lnTo>
                    <a:pt x="280454" y="116205"/>
                  </a:lnTo>
                  <a:lnTo>
                    <a:pt x="294182" y="95250"/>
                  </a:lnTo>
                  <a:lnTo>
                    <a:pt x="295706" y="91186"/>
                  </a:lnTo>
                  <a:lnTo>
                    <a:pt x="296849" y="86868"/>
                  </a:lnTo>
                  <a:lnTo>
                    <a:pt x="297459" y="82423"/>
                  </a:lnTo>
                  <a:lnTo>
                    <a:pt x="298246" y="77724"/>
                  </a:lnTo>
                  <a:lnTo>
                    <a:pt x="298627" y="72898"/>
                  </a:lnTo>
                  <a:lnTo>
                    <a:pt x="298627" y="67818"/>
                  </a:lnTo>
                  <a:lnTo>
                    <a:pt x="288086" y="28194"/>
                  </a:lnTo>
                  <a:lnTo>
                    <a:pt x="282752" y="23114"/>
                  </a:lnTo>
                  <a:lnTo>
                    <a:pt x="280720" y="21082"/>
                  </a:lnTo>
                  <a:lnTo>
                    <a:pt x="278625" y="18986"/>
                  </a:lnTo>
                  <a:lnTo>
                    <a:pt x="278625" y="75946"/>
                  </a:lnTo>
                  <a:lnTo>
                    <a:pt x="277926" y="81661"/>
                  </a:lnTo>
                  <a:lnTo>
                    <a:pt x="255574" y="113538"/>
                  </a:lnTo>
                  <a:lnTo>
                    <a:pt x="249859" y="116205"/>
                  </a:lnTo>
                  <a:lnTo>
                    <a:pt x="243001" y="117475"/>
                  </a:lnTo>
                  <a:lnTo>
                    <a:pt x="226364" y="117475"/>
                  </a:lnTo>
                  <a:lnTo>
                    <a:pt x="194995" y="94361"/>
                  </a:lnTo>
                  <a:lnTo>
                    <a:pt x="191604" y="62103"/>
                  </a:lnTo>
                  <a:lnTo>
                    <a:pt x="192328" y="56388"/>
                  </a:lnTo>
                  <a:lnTo>
                    <a:pt x="193852" y="50546"/>
                  </a:lnTo>
                  <a:lnTo>
                    <a:pt x="195249" y="44831"/>
                  </a:lnTo>
                  <a:lnTo>
                    <a:pt x="227253" y="21082"/>
                  </a:lnTo>
                  <a:lnTo>
                    <a:pt x="243636" y="21082"/>
                  </a:lnTo>
                  <a:lnTo>
                    <a:pt x="275069" y="44069"/>
                  </a:lnTo>
                  <a:lnTo>
                    <a:pt x="275132" y="44196"/>
                  </a:lnTo>
                  <a:lnTo>
                    <a:pt x="277926" y="55880"/>
                  </a:lnTo>
                  <a:lnTo>
                    <a:pt x="278523" y="60782"/>
                  </a:lnTo>
                  <a:lnTo>
                    <a:pt x="278625" y="75946"/>
                  </a:lnTo>
                  <a:lnTo>
                    <a:pt x="278625" y="18986"/>
                  </a:lnTo>
                  <a:lnTo>
                    <a:pt x="251371" y="8496"/>
                  </a:lnTo>
                  <a:lnTo>
                    <a:pt x="251739" y="8496"/>
                  </a:lnTo>
                  <a:lnTo>
                    <a:pt x="244132" y="7658"/>
                  </a:lnTo>
                  <a:lnTo>
                    <a:pt x="244602" y="7658"/>
                  </a:lnTo>
                  <a:lnTo>
                    <a:pt x="236524" y="7366"/>
                  </a:lnTo>
                  <a:lnTo>
                    <a:pt x="193217" y="18923"/>
                  </a:lnTo>
                  <a:lnTo>
                    <a:pt x="172707" y="55880"/>
                  </a:lnTo>
                  <a:lnTo>
                    <a:pt x="171894" y="77724"/>
                  </a:lnTo>
                  <a:lnTo>
                    <a:pt x="172516" y="84048"/>
                  </a:lnTo>
                  <a:lnTo>
                    <a:pt x="186613" y="115570"/>
                  </a:lnTo>
                  <a:lnTo>
                    <a:pt x="191693" y="120777"/>
                  </a:lnTo>
                  <a:lnTo>
                    <a:pt x="233730" y="131318"/>
                  </a:lnTo>
                  <a:lnTo>
                    <a:pt x="240969" y="131318"/>
                  </a:lnTo>
                  <a:lnTo>
                    <a:pt x="247319" y="130683"/>
                  </a:lnTo>
                  <a:lnTo>
                    <a:pt x="258241" y="127889"/>
                  </a:lnTo>
                  <a:lnTo>
                    <a:pt x="262813" y="126238"/>
                  </a:lnTo>
                  <a:lnTo>
                    <a:pt x="266115" y="124587"/>
                  </a:lnTo>
                  <a:lnTo>
                    <a:pt x="266522" y="124587"/>
                  </a:lnTo>
                  <a:lnTo>
                    <a:pt x="302056" y="144780"/>
                  </a:lnTo>
                  <a:lnTo>
                    <a:pt x="305358" y="145796"/>
                  </a:lnTo>
                  <a:lnTo>
                    <a:pt x="308533" y="146812"/>
                  </a:lnTo>
                  <a:lnTo>
                    <a:pt x="310946" y="147320"/>
                  </a:lnTo>
                  <a:lnTo>
                    <a:pt x="312851" y="147320"/>
                  </a:lnTo>
                  <a:lnTo>
                    <a:pt x="313232" y="147193"/>
                  </a:lnTo>
                  <a:lnTo>
                    <a:pt x="313550" y="147193"/>
                  </a:lnTo>
                  <a:lnTo>
                    <a:pt x="315772" y="143764"/>
                  </a:lnTo>
                  <a:lnTo>
                    <a:pt x="316026" y="141605"/>
                  </a:lnTo>
                  <a:close/>
                </a:path>
                <a:path w="1185545" h="163195">
                  <a:moveTo>
                    <a:pt x="404164" y="121285"/>
                  </a:moveTo>
                  <a:lnTo>
                    <a:pt x="403783" y="118491"/>
                  </a:lnTo>
                  <a:lnTo>
                    <a:pt x="403529" y="117856"/>
                  </a:lnTo>
                  <a:lnTo>
                    <a:pt x="403148" y="117348"/>
                  </a:lnTo>
                  <a:lnTo>
                    <a:pt x="402894" y="116840"/>
                  </a:lnTo>
                  <a:lnTo>
                    <a:pt x="402386" y="116332"/>
                  </a:lnTo>
                  <a:lnTo>
                    <a:pt x="402005" y="116078"/>
                  </a:lnTo>
                  <a:lnTo>
                    <a:pt x="401497" y="115824"/>
                  </a:lnTo>
                  <a:lnTo>
                    <a:pt x="349300" y="115824"/>
                  </a:lnTo>
                  <a:lnTo>
                    <a:pt x="349173" y="10668"/>
                  </a:lnTo>
                  <a:lnTo>
                    <a:pt x="342176" y="8636"/>
                  </a:lnTo>
                  <a:lnTo>
                    <a:pt x="337997" y="8636"/>
                  </a:lnTo>
                  <a:lnTo>
                    <a:pt x="335457" y="8890"/>
                  </a:lnTo>
                  <a:lnTo>
                    <a:pt x="332905" y="9144"/>
                  </a:lnTo>
                  <a:lnTo>
                    <a:pt x="333171" y="9144"/>
                  </a:lnTo>
                  <a:lnTo>
                    <a:pt x="331647" y="9652"/>
                  </a:lnTo>
                  <a:lnTo>
                    <a:pt x="331139" y="9906"/>
                  </a:lnTo>
                  <a:lnTo>
                    <a:pt x="330631" y="10668"/>
                  </a:lnTo>
                  <a:lnTo>
                    <a:pt x="330504" y="125476"/>
                  </a:lnTo>
                  <a:lnTo>
                    <a:pt x="330962" y="126492"/>
                  </a:lnTo>
                  <a:lnTo>
                    <a:pt x="331431" y="127254"/>
                  </a:lnTo>
                  <a:lnTo>
                    <a:pt x="332663" y="128143"/>
                  </a:lnTo>
                  <a:lnTo>
                    <a:pt x="334403" y="129159"/>
                  </a:lnTo>
                  <a:lnTo>
                    <a:pt x="334594" y="129159"/>
                  </a:lnTo>
                  <a:lnTo>
                    <a:pt x="335838" y="129540"/>
                  </a:lnTo>
                  <a:lnTo>
                    <a:pt x="401243" y="129540"/>
                  </a:lnTo>
                  <a:lnTo>
                    <a:pt x="402005" y="129159"/>
                  </a:lnTo>
                  <a:lnTo>
                    <a:pt x="402386" y="128905"/>
                  </a:lnTo>
                  <a:lnTo>
                    <a:pt x="402894" y="128397"/>
                  </a:lnTo>
                  <a:lnTo>
                    <a:pt x="403148" y="127762"/>
                  </a:lnTo>
                  <a:lnTo>
                    <a:pt x="403529" y="127254"/>
                  </a:lnTo>
                  <a:lnTo>
                    <a:pt x="403783" y="126492"/>
                  </a:lnTo>
                  <a:lnTo>
                    <a:pt x="404164" y="123825"/>
                  </a:lnTo>
                  <a:lnTo>
                    <a:pt x="404164" y="121285"/>
                  </a:lnTo>
                  <a:close/>
                </a:path>
                <a:path w="1185545" h="163195">
                  <a:moveTo>
                    <a:pt x="530656" y="126365"/>
                  </a:moveTo>
                  <a:lnTo>
                    <a:pt x="530402" y="125222"/>
                  </a:lnTo>
                  <a:lnTo>
                    <a:pt x="529767" y="123825"/>
                  </a:lnTo>
                  <a:lnTo>
                    <a:pt x="518718" y="97917"/>
                  </a:lnTo>
                  <a:lnTo>
                    <a:pt x="513308" y="85217"/>
                  </a:lnTo>
                  <a:lnTo>
                    <a:pt x="512991" y="84480"/>
                  </a:lnTo>
                  <a:lnTo>
                    <a:pt x="512991" y="129540"/>
                  </a:lnTo>
                  <a:lnTo>
                    <a:pt x="511467" y="129286"/>
                  </a:lnTo>
                  <a:lnTo>
                    <a:pt x="425373" y="129286"/>
                  </a:lnTo>
                  <a:lnTo>
                    <a:pt x="424484" y="129540"/>
                  </a:lnTo>
                  <a:lnTo>
                    <a:pt x="425246" y="129286"/>
                  </a:lnTo>
                  <a:lnTo>
                    <a:pt x="425881" y="129032"/>
                  </a:lnTo>
                  <a:lnTo>
                    <a:pt x="426516" y="128651"/>
                  </a:lnTo>
                  <a:lnTo>
                    <a:pt x="426770" y="128270"/>
                  </a:lnTo>
                  <a:lnTo>
                    <a:pt x="427278" y="127762"/>
                  </a:lnTo>
                  <a:lnTo>
                    <a:pt x="427532" y="127381"/>
                  </a:lnTo>
                  <a:lnTo>
                    <a:pt x="510641" y="127381"/>
                  </a:lnTo>
                  <a:lnTo>
                    <a:pt x="510844" y="127762"/>
                  </a:lnTo>
                  <a:lnTo>
                    <a:pt x="511390" y="128524"/>
                  </a:lnTo>
                  <a:lnTo>
                    <a:pt x="511479" y="128651"/>
                  </a:lnTo>
                  <a:lnTo>
                    <a:pt x="511860" y="129032"/>
                  </a:lnTo>
                  <a:lnTo>
                    <a:pt x="512368" y="129286"/>
                  </a:lnTo>
                  <a:lnTo>
                    <a:pt x="512991" y="129540"/>
                  </a:lnTo>
                  <a:lnTo>
                    <a:pt x="512991" y="84480"/>
                  </a:lnTo>
                  <a:lnTo>
                    <a:pt x="510425" y="78460"/>
                  </a:lnTo>
                  <a:lnTo>
                    <a:pt x="510425" y="126873"/>
                  </a:lnTo>
                  <a:lnTo>
                    <a:pt x="427659" y="126873"/>
                  </a:lnTo>
                  <a:lnTo>
                    <a:pt x="439343" y="97917"/>
                  </a:lnTo>
                  <a:lnTo>
                    <a:pt x="498398" y="97917"/>
                  </a:lnTo>
                  <a:lnTo>
                    <a:pt x="510425" y="126873"/>
                  </a:lnTo>
                  <a:lnTo>
                    <a:pt x="510425" y="78460"/>
                  </a:lnTo>
                  <a:lnTo>
                    <a:pt x="493445" y="38620"/>
                  </a:lnTo>
                  <a:lnTo>
                    <a:pt x="493445" y="85217"/>
                  </a:lnTo>
                  <a:lnTo>
                    <a:pt x="444042" y="85217"/>
                  </a:lnTo>
                  <a:lnTo>
                    <a:pt x="468680" y="25146"/>
                  </a:lnTo>
                  <a:lnTo>
                    <a:pt x="493445" y="85217"/>
                  </a:lnTo>
                  <a:lnTo>
                    <a:pt x="493445" y="38620"/>
                  </a:lnTo>
                  <a:lnTo>
                    <a:pt x="487705" y="25146"/>
                  </a:lnTo>
                  <a:lnTo>
                    <a:pt x="482142" y="12065"/>
                  </a:lnTo>
                  <a:lnTo>
                    <a:pt x="481876" y="11430"/>
                  </a:lnTo>
                  <a:lnTo>
                    <a:pt x="481495" y="10795"/>
                  </a:lnTo>
                  <a:lnTo>
                    <a:pt x="480999" y="10287"/>
                  </a:lnTo>
                  <a:lnTo>
                    <a:pt x="479729" y="9525"/>
                  </a:lnTo>
                  <a:lnTo>
                    <a:pt x="478701" y="9271"/>
                  </a:lnTo>
                  <a:lnTo>
                    <a:pt x="477824" y="9017"/>
                  </a:lnTo>
                  <a:lnTo>
                    <a:pt x="478078" y="9017"/>
                  </a:lnTo>
                  <a:lnTo>
                    <a:pt x="473494" y="8636"/>
                  </a:lnTo>
                  <a:lnTo>
                    <a:pt x="465239" y="8636"/>
                  </a:lnTo>
                  <a:lnTo>
                    <a:pt x="460870" y="9017"/>
                  </a:lnTo>
                  <a:lnTo>
                    <a:pt x="461187" y="9017"/>
                  </a:lnTo>
                  <a:lnTo>
                    <a:pt x="460298" y="9271"/>
                  </a:lnTo>
                  <a:lnTo>
                    <a:pt x="409371" y="123825"/>
                  </a:lnTo>
                  <a:lnTo>
                    <a:pt x="408698" y="125222"/>
                  </a:lnTo>
                  <a:lnTo>
                    <a:pt x="408609" y="128524"/>
                  </a:lnTo>
                  <a:lnTo>
                    <a:pt x="409587" y="129286"/>
                  </a:lnTo>
                  <a:lnTo>
                    <a:pt x="409232" y="129286"/>
                  </a:lnTo>
                  <a:lnTo>
                    <a:pt x="411391" y="129794"/>
                  </a:lnTo>
                  <a:lnTo>
                    <a:pt x="412038" y="129921"/>
                  </a:lnTo>
                  <a:lnTo>
                    <a:pt x="422325" y="129921"/>
                  </a:lnTo>
                  <a:lnTo>
                    <a:pt x="423595" y="129794"/>
                  </a:lnTo>
                  <a:lnTo>
                    <a:pt x="423722" y="129794"/>
                  </a:lnTo>
                  <a:lnTo>
                    <a:pt x="513626" y="129794"/>
                  </a:lnTo>
                  <a:lnTo>
                    <a:pt x="514261" y="129794"/>
                  </a:lnTo>
                  <a:lnTo>
                    <a:pt x="514781" y="129921"/>
                  </a:lnTo>
                  <a:lnTo>
                    <a:pt x="526973" y="129921"/>
                  </a:lnTo>
                  <a:lnTo>
                    <a:pt x="528370" y="129794"/>
                  </a:lnTo>
                  <a:lnTo>
                    <a:pt x="528942" y="129794"/>
                  </a:lnTo>
                  <a:lnTo>
                    <a:pt x="529894" y="129032"/>
                  </a:lnTo>
                  <a:lnTo>
                    <a:pt x="530529" y="128651"/>
                  </a:lnTo>
                  <a:lnTo>
                    <a:pt x="530656" y="126365"/>
                  </a:lnTo>
                  <a:close/>
                </a:path>
                <a:path w="1185545" h="163195">
                  <a:moveTo>
                    <a:pt x="569010" y="2413"/>
                  </a:moveTo>
                  <a:lnTo>
                    <a:pt x="568883" y="2032"/>
                  </a:lnTo>
                  <a:lnTo>
                    <a:pt x="568502" y="1651"/>
                  </a:lnTo>
                  <a:lnTo>
                    <a:pt x="568248" y="1270"/>
                  </a:lnTo>
                  <a:lnTo>
                    <a:pt x="567740" y="1016"/>
                  </a:lnTo>
                  <a:lnTo>
                    <a:pt x="566470" y="508"/>
                  </a:lnTo>
                  <a:lnTo>
                    <a:pt x="565581" y="254"/>
                  </a:lnTo>
                  <a:lnTo>
                    <a:pt x="563283" y="0"/>
                  </a:lnTo>
                  <a:lnTo>
                    <a:pt x="556691" y="0"/>
                  </a:lnTo>
                  <a:lnTo>
                    <a:pt x="550976" y="2032"/>
                  </a:lnTo>
                  <a:lnTo>
                    <a:pt x="550976" y="128143"/>
                  </a:lnTo>
                  <a:lnTo>
                    <a:pt x="551230" y="128524"/>
                  </a:lnTo>
                  <a:lnTo>
                    <a:pt x="551484" y="128778"/>
                  </a:lnTo>
                  <a:lnTo>
                    <a:pt x="551992" y="129159"/>
                  </a:lnTo>
                  <a:lnTo>
                    <a:pt x="552945" y="129540"/>
                  </a:lnTo>
                  <a:lnTo>
                    <a:pt x="553389" y="129540"/>
                  </a:lnTo>
                  <a:lnTo>
                    <a:pt x="554278" y="129794"/>
                  </a:lnTo>
                  <a:lnTo>
                    <a:pt x="555548" y="129921"/>
                  </a:lnTo>
                  <a:lnTo>
                    <a:pt x="564438" y="129921"/>
                  </a:lnTo>
                  <a:lnTo>
                    <a:pt x="565581" y="129794"/>
                  </a:lnTo>
                  <a:lnTo>
                    <a:pt x="566470" y="129540"/>
                  </a:lnTo>
                  <a:lnTo>
                    <a:pt x="566788" y="129540"/>
                  </a:lnTo>
                  <a:lnTo>
                    <a:pt x="567740" y="129159"/>
                  </a:lnTo>
                  <a:lnTo>
                    <a:pt x="568248" y="128778"/>
                  </a:lnTo>
                  <a:lnTo>
                    <a:pt x="568883" y="128143"/>
                  </a:lnTo>
                  <a:lnTo>
                    <a:pt x="569010" y="127762"/>
                  </a:lnTo>
                  <a:lnTo>
                    <a:pt x="569010" y="2413"/>
                  </a:lnTo>
                  <a:close/>
                </a:path>
                <a:path w="1185545" h="163195">
                  <a:moveTo>
                    <a:pt x="675055" y="117983"/>
                  </a:moveTo>
                  <a:lnTo>
                    <a:pt x="674928" y="110363"/>
                  </a:lnTo>
                  <a:lnTo>
                    <a:pt x="674839" y="109855"/>
                  </a:lnTo>
                  <a:lnTo>
                    <a:pt x="674801" y="109601"/>
                  </a:lnTo>
                  <a:lnTo>
                    <a:pt x="674547" y="108966"/>
                  </a:lnTo>
                  <a:lnTo>
                    <a:pt x="674293" y="108458"/>
                  </a:lnTo>
                  <a:lnTo>
                    <a:pt x="673912" y="108077"/>
                  </a:lnTo>
                  <a:lnTo>
                    <a:pt x="673709" y="107950"/>
                  </a:lnTo>
                  <a:lnTo>
                    <a:pt x="673277" y="107569"/>
                  </a:lnTo>
                  <a:lnTo>
                    <a:pt x="671080" y="107569"/>
                  </a:lnTo>
                  <a:lnTo>
                    <a:pt x="670229" y="107950"/>
                  </a:lnTo>
                  <a:lnTo>
                    <a:pt x="668578" y="108966"/>
                  </a:lnTo>
                  <a:lnTo>
                    <a:pt x="667054" y="110109"/>
                  </a:lnTo>
                  <a:lnTo>
                    <a:pt x="665022" y="111379"/>
                  </a:lnTo>
                  <a:lnTo>
                    <a:pt x="662736" y="112649"/>
                  </a:lnTo>
                  <a:lnTo>
                    <a:pt x="660450" y="114046"/>
                  </a:lnTo>
                  <a:lnTo>
                    <a:pt x="657783" y="115189"/>
                  </a:lnTo>
                  <a:lnTo>
                    <a:pt x="651433" y="117475"/>
                  </a:lnTo>
                  <a:lnTo>
                    <a:pt x="647750" y="117983"/>
                  </a:lnTo>
                  <a:lnTo>
                    <a:pt x="639241" y="117983"/>
                  </a:lnTo>
                  <a:lnTo>
                    <a:pt x="636079" y="117475"/>
                  </a:lnTo>
                  <a:lnTo>
                    <a:pt x="635609" y="117475"/>
                  </a:lnTo>
                  <a:lnTo>
                    <a:pt x="631875" y="115951"/>
                  </a:lnTo>
                  <a:lnTo>
                    <a:pt x="628573" y="114681"/>
                  </a:lnTo>
                  <a:lnTo>
                    <a:pt x="625652" y="112649"/>
                  </a:lnTo>
                  <a:lnTo>
                    <a:pt x="623366" y="109855"/>
                  </a:lnTo>
                  <a:lnTo>
                    <a:pt x="620953" y="107188"/>
                  </a:lnTo>
                  <a:lnTo>
                    <a:pt x="619175" y="103759"/>
                  </a:lnTo>
                  <a:lnTo>
                    <a:pt x="618134" y="100076"/>
                  </a:lnTo>
                  <a:lnTo>
                    <a:pt x="616762" y="95631"/>
                  </a:lnTo>
                  <a:lnTo>
                    <a:pt x="616127" y="90932"/>
                  </a:lnTo>
                  <a:lnTo>
                    <a:pt x="616127" y="85598"/>
                  </a:lnTo>
                  <a:lnTo>
                    <a:pt x="616559" y="78105"/>
                  </a:lnTo>
                  <a:lnTo>
                    <a:pt x="634415" y="52324"/>
                  </a:lnTo>
                  <a:lnTo>
                    <a:pt x="647369" y="52324"/>
                  </a:lnTo>
                  <a:lnTo>
                    <a:pt x="667562" y="60706"/>
                  </a:lnTo>
                  <a:lnTo>
                    <a:pt x="669086" y="61722"/>
                  </a:lnTo>
                  <a:lnTo>
                    <a:pt x="670356" y="62230"/>
                  </a:lnTo>
                  <a:lnTo>
                    <a:pt x="672388" y="62230"/>
                  </a:lnTo>
                  <a:lnTo>
                    <a:pt x="673150" y="61722"/>
                  </a:lnTo>
                  <a:lnTo>
                    <a:pt x="673696" y="60833"/>
                  </a:lnTo>
                  <a:lnTo>
                    <a:pt x="674420" y="59817"/>
                  </a:lnTo>
                  <a:lnTo>
                    <a:pt x="674687" y="58547"/>
                  </a:lnTo>
                  <a:lnTo>
                    <a:pt x="674674" y="52324"/>
                  </a:lnTo>
                  <a:lnTo>
                    <a:pt x="674420" y="51435"/>
                  </a:lnTo>
                  <a:lnTo>
                    <a:pt x="674293" y="50927"/>
                  </a:lnTo>
                  <a:lnTo>
                    <a:pt x="674141" y="50546"/>
                  </a:lnTo>
                  <a:lnTo>
                    <a:pt x="674039" y="50292"/>
                  </a:lnTo>
                  <a:lnTo>
                    <a:pt x="673785" y="49784"/>
                  </a:lnTo>
                  <a:lnTo>
                    <a:pt x="673404" y="49403"/>
                  </a:lnTo>
                  <a:lnTo>
                    <a:pt x="673150" y="48895"/>
                  </a:lnTo>
                  <a:lnTo>
                    <a:pt x="672515" y="48387"/>
                  </a:lnTo>
                  <a:lnTo>
                    <a:pt x="670737" y="46863"/>
                  </a:lnTo>
                  <a:lnTo>
                    <a:pt x="669340" y="45974"/>
                  </a:lnTo>
                  <a:lnTo>
                    <a:pt x="667435" y="44831"/>
                  </a:lnTo>
                  <a:lnTo>
                    <a:pt x="665657" y="43942"/>
                  </a:lnTo>
                  <a:lnTo>
                    <a:pt x="663244" y="42926"/>
                  </a:lnTo>
                  <a:lnTo>
                    <a:pt x="660704" y="42164"/>
                  </a:lnTo>
                  <a:lnTo>
                    <a:pt x="658291" y="41275"/>
                  </a:lnTo>
                  <a:lnTo>
                    <a:pt x="655497" y="40640"/>
                  </a:lnTo>
                  <a:lnTo>
                    <a:pt x="649655" y="39624"/>
                  </a:lnTo>
                  <a:lnTo>
                    <a:pt x="646607" y="39370"/>
                  </a:lnTo>
                  <a:lnTo>
                    <a:pt x="636828" y="39370"/>
                  </a:lnTo>
                  <a:lnTo>
                    <a:pt x="630859" y="40259"/>
                  </a:lnTo>
                  <a:lnTo>
                    <a:pt x="625271" y="42164"/>
                  </a:lnTo>
                  <a:lnTo>
                    <a:pt x="619683" y="43942"/>
                  </a:lnTo>
                  <a:lnTo>
                    <a:pt x="614730" y="46736"/>
                  </a:lnTo>
                  <a:lnTo>
                    <a:pt x="610666" y="50546"/>
                  </a:lnTo>
                  <a:lnTo>
                    <a:pt x="606475" y="54356"/>
                  </a:lnTo>
                  <a:lnTo>
                    <a:pt x="603300" y="59182"/>
                  </a:lnTo>
                  <a:lnTo>
                    <a:pt x="600887" y="65151"/>
                  </a:lnTo>
                  <a:lnTo>
                    <a:pt x="598474" y="70993"/>
                  </a:lnTo>
                  <a:lnTo>
                    <a:pt x="597331" y="78105"/>
                  </a:lnTo>
                  <a:lnTo>
                    <a:pt x="597331" y="93599"/>
                  </a:lnTo>
                  <a:lnTo>
                    <a:pt x="598157" y="99695"/>
                  </a:lnTo>
                  <a:lnTo>
                    <a:pt x="598220" y="100076"/>
                  </a:lnTo>
                  <a:lnTo>
                    <a:pt x="600252" y="105537"/>
                  </a:lnTo>
                  <a:lnTo>
                    <a:pt x="602157" y="111125"/>
                  </a:lnTo>
                  <a:lnTo>
                    <a:pt x="604951" y="115824"/>
                  </a:lnTo>
                  <a:lnTo>
                    <a:pt x="612317" y="123444"/>
                  </a:lnTo>
                  <a:lnTo>
                    <a:pt x="616889" y="126365"/>
                  </a:lnTo>
                  <a:lnTo>
                    <a:pt x="622477" y="128270"/>
                  </a:lnTo>
                  <a:lnTo>
                    <a:pt x="628269" y="130429"/>
                  </a:lnTo>
                  <a:lnTo>
                    <a:pt x="628713" y="130429"/>
                  </a:lnTo>
                  <a:lnTo>
                    <a:pt x="634161" y="131318"/>
                  </a:lnTo>
                  <a:lnTo>
                    <a:pt x="644702" y="131318"/>
                  </a:lnTo>
                  <a:lnTo>
                    <a:pt x="648131" y="131064"/>
                  </a:lnTo>
                  <a:lnTo>
                    <a:pt x="651306" y="130429"/>
                  </a:lnTo>
                  <a:lnTo>
                    <a:pt x="654481" y="129921"/>
                  </a:lnTo>
                  <a:lnTo>
                    <a:pt x="657529" y="129159"/>
                  </a:lnTo>
                  <a:lnTo>
                    <a:pt x="660196" y="128270"/>
                  </a:lnTo>
                  <a:lnTo>
                    <a:pt x="662990" y="127381"/>
                  </a:lnTo>
                  <a:lnTo>
                    <a:pt x="674928" y="118618"/>
                  </a:lnTo>
                  <a:lnTo>
                    <a:pt x="675055" y="117983"/>
                  </a:lnTo>
                  <a:close/>
                </a:path>
                <a:path w="1185545" h="163195">
                  <a:moveTo>
                    <a:pt x="783640" y="128143"/>
                  </a:moveTo>
                  <a:lnTo>
                    <a:pt x="783577" y="68707"/>
                  </a:lnTo>
                  <a:lnTo>
                    <a:pt x="778929" y="53086"/>
                  </a:lnTo>
                  <a:lnTo>
                    <a:pt x="778814" y="52832"/>
                  </a:lnTo>
                  <a:lnTo>
                    <a:pt x="778573" y="52578"/>
                  </a:lnTo>
                  <a:lnTo>
                    <a:pt x="776020" y="49784"/>
                  </a:lnTo>
                  <a:lnTo>
                    <a:pt x="773226" y="46609"/>
                  </a:lnTo>
                  <a:lnTo>
                    <a:pt x="769543" y="44069"/>
                  </a:lnTo>
                  <a:lnTo>
                    <a:pt x="765098" y="42164"/>
                  </a:lnTo>
                  <a:lnTo>
                    <a:pt x="760818" y="40386"/>
                  </a:lnTo>
                  <a:lnTo>
                    <a:pt x="761301" y="40386"/>
                  </a:lnTo>
                  <a:lnTo>
                    <a:pt x="755065" y="39370"/>
                  </a:lnTo>
                  <a:lnTo>
                    <a:pt x="743127" y="39370"/>
                  </a:lnTo>
                  <a:lnTo>
                    <a:pt x="716838" y="53086"/>
                  </a:lnTo>
                  <a:lnTo>
                    <a:pt x="716711" y="2032"/>
                  </a:lnTo>
                  <a:lnTo>
                    <a:pt x="716330" y="1651"/>
                  </a:lnTo>
                  <a:lnTo>
                    <a:pt x="716076" y="1270"/>
                  </a:lnTo>
                  <a:lnTo>
                    <a:pt x="715568" y="1016"/>
                  </a:lnTo>
                  <a:lnTo>
                    <a:pt x="714298" y="508"/>
                  </a:lnTo>
                  <a:lnTo>
                    <a:pt x="713409" y="254"/>
                  </a:lnTo>
                  <a:lnTo>
                    <a:pt x="711111" y="0"/>
                  </a:lnTo>
                  <a:lnTo>
                    <a:pt x="704519" y="0"/>
                  </a:lnTo>
                  <a:lnTo>
                    <a:pt x="698804" y="2032"/>
                  </a:lnTo>
                  <a:lnTo>
                    <a:pt x="698804" y="128143"/>
                  </a:lnTo>
                  <a:lnTo>
                    <a:pt x="699058" y="128524"/>
                  </a:lnTo>
                  <a:lnTo>
                    <a:pt x="699312" y="128778"/>
                  </a:lnTo>
                  <a:lnTo>
                    <a:pt x="699820" y="129159"/>
                  </a:lnTo>
                  <a:lnTo>
                    <a:pt x="700760" y="129540"/>
                  </a:lnTo>
                  <a:lnTo>
                    <a:pt x="701217" y="129540"/>
                  </a:lnTo>
                  <a:lnTo>
                    <a:pt x="702106" y="129794"/>
                  </a:lnTo>
                  <a:lnTo>
                    <a:pt x="703376" y="129921"/>
                  </a:lnTo>
                  <a:lnTo>
                    <a:pt x="712266" y="129921"/>
                  </a:lnTo>
                  <a:lnTo>
                    <a:pt x="713409" y="129794"/>
                  </a:lnTo>
                  <a:lnTo>
                    <a:pt x="714298" y="129540"/>
                  </a:lnTo>
                  <a:lnTo>
                    <a:pt x="714616" y="129540"/>
                  </a:lnTo>
                  <a:lnTo>
                    <a:pt x="715568" y="129159"/>
                  </a:lnTo>
                  <a:lnTo>
                    <a:pt x="716076" y="128778"/>
                  </a:lnTo>
                  <a:lnTo>
                    <a:pt x="716711" y="128143"/>
                  </a:lnTo>
                  <a:lnTo>
                    <a:pt x="716838" y="68707"/>
                  </a:lnTo>
                  <a:lnTo>
                    <a:pt x="721791" y="63373"/>
                  </a:lnTo>
                  <a:lnTo>
                    <a:pt x="726490" y="59436"/>
                  </a:lnTo>
                  <a:lnTo>
                    <a:pt x="731062" y="56769"/>
                  </a:lnTo>
                  <a:lnTo>
                    <a:pt x="735634" y="53975"/>
                  </a:lnTo>
                  <a:lnTo>
                    <a:pt x="738543" y="53086"/>
                  </a:lnTo>
                  <a:lnTo>
                    <a:pt x="740206" y="52578"/>
                  </a:lnTo>
                  <a:lnTo>
                    <a:pt x="748207" y="52578"/>
                  </a:lnTo>
                  <a:lnTo>
                    <a:pt x="760526" y="59182"/>
                  </a:lnTo>
                  <a:lnTo>
                    <a:pt x="762177" y="61214"/>
                  </a:lnTo>
                  <a:lnTo>
                    <a:pt x="763447" y="63754"/>
                  </a:lnTo>
                  <a:lnTo>
                    <a:pt x="765225" y="69596"/>
                  </a:lnTo>
                  <a:lnTo>
                    <a:pt x="765606" y="73406"/>
                  </a:lnTo>
                  <a:lnTo>
                    <a:pt x="765606" y="127762"/>
                  </a:lnTo>
                  <a:lnTo>
                    <a:pt x="766114" y="128524"/>
                  </a:lnTo>
                  <a:lnTo>
                    <a:pt x="766368" y="128778"/>
                  </a:lnTo>
                  <a:lnTo>
                    <a:pt x="766876" y="129159"/>
                  </a:lnTo>
                  <a:lnTo>
                    <a:pt x="767816" y="129540"/>
                  </a:lnTo>
                  <a:lnTo>
                    <a:pt x="768146" y="129540"/>
                  </a:lnTo>
                  <a:lnTo>
                    <a:pt x="769162" y="129794"/>
                  </a:lnTo>
                  <a:lnTo>
                    <a:pt x="770305" y="129921"/>
                  </a:lnTo>
                  <a:lnTo>
                    <a:pt x="779195" y="129921"/>
                  </a:lnTo>
                  <a:lnTo>
                    <a:pt x="780338" y="129794"/>
                  </a:lnTo>
                  <a:lnTo>
                    <a:pt x="781227" y="129540"/>
                  </a:lnTo>
                  <a:lnTo>
                    <a:pt x="781481" y="129540"/>
                  </a:lnTo>
                  <a:lnTo>
                    <a:pt x="782624" y="129159"/>
                  </a:lnTo>
                  <a:lnTo>
                    <a:pt x="783005" y="128778"/>
                  </a:lnTo>
                  <a:lnTo>
                    <a:pt x="783386" y="128524"/>
                  </a:lnTo>
                  <a:lnTo>
                    <a:pt x="783640" y="128143"/>
                  </a:lnTo>
                  <a:close/>
                </a:path>
                <a:path w="1185545" h="163195">
                  <a:moveTo>
                    <a:pt x="901877" y="73533"/>
                  </a:moveTo>
                  <a:lnTo>
                    <a:pt x="892060" y="51308"/>
                  </a:lnTo>
                  <a:lnTo>
                    <a:pt x="891717" y="50927"/>
                  </a:lnTo>
                  <a:lnTo>
                    <a:pt x="888161" y="47371"/>
                  </a:lnTo>
                  <a:lnTo>
                    <a:pt x="883907" y="44704"/>
                  </a:lnTo>
                  <a:lnTo>
                    <a:pt x="883716" y="44627"/>
                  </a:lnTo>
                  <a:lnTo>
                    <a:pt x="883716" y="77216"/>
                  </a:lnTo>
                  <a:lnTo>
                    <a:pt x="829741" y="77216"/>
                  </a:lnTo>
                  <a:lnTo>
                    <a:pt x="837107" y="59182"/>
                  </a:lnTo>
                  <a:lnTo>
                    <a:pt x="839393" y="56769"/>
                  </a:lnTo>
                  <a:lnTo>
                    <a:pt x="842314" y="54864"/>
                  </a:lnTo>
                  <a:lnTo>
                    <a:pt x="845312" y="53594"/>
                  </a:lnTo>
                  <a:lnTo>
                    <a:pt x="849045" y="52070"/>
                  </a:lnTo>
                  <a:lnTo>
                    <a:pt x="852982" y="51308"/>
                  </a:lnTo>
                  <a:lnTo>
                    <a:pt x="866190" y="51308"/>
                  </a:lnTo>
                  <a:lnTo>
                    <a:pt x="883716" y="77216"/>
                  </a:lnTo>
                  <a:lnTo>
                    <a:pt x="883716" y="44627"/>
                  </a:lnTo>
                  <a:lnTo>
                    <a:pt x="878255" y="42418"/>
                  </a:lnTo>
                  <a:lnTo>
                    <a:pt x="872794" y="40386"/>
                  </a:lnTo>
                  <a:lnTo>
                    <a:pt x="866190" y="39370"/>
                  </a:lnTo>
                  <a:lnTo>
                    <a:pt x="851204" y="39370"/>
                  </a:lnTo>
                  <a:lnTo>
                    <a:pt x="816533" y="60579"/>
                  </a:lnTo>
                  <a:lnTo>
                    <a:pt x="810945" y="78486"/>
                  </a:lnTo>
                  <a:lnTo>
                    <a:pt x="810945" y="93345"/>
                  </a:lnTo>
                  <a:lnTo>
                    <a:pt x="832916" y="126492"/>
                  </a:lnTo>
                  <a:lnTo>
                    <a:pt x="852220" y="131318"/>
                  </a:lnTo>
                  <a:lnTo>
                    <a:pt x="865047" y="131318"/>
                  </a:lnTo>
                  <a:lnTo>
                    <a:pt x="896162" y="124079"/>
                  </a:lnTo>
                  <a:lnTo>
                    <a:pt x="896543" y="123825"/>
                  </a:lnTo>
                  <a:lnTo>
                    <a:pt x="897051" y="123063"/>
                  </a:lnTo>
                  <a:lnTo>
                    <a:pt x="897178" y="122555"/>
                  </a:lnTo>
                  <a:lnTo>
                    <a:pt x="897305" y="122174"/>
                  </a:lnTo>
                  <a:lnTo>
                    <a:pt x="897559" y="121158"/>
                  </a:lnTo>
                  <a:lnTo>
                    <a:pt x="897559" y="118872"/>
                  </a:lnTo>
                  <a:lnTo>
                    <a:pt x="897445" y="114935"/>
                  </a:lnTo>
                  <a:lnTo>
                    <a:pt x="897305" y="114300"/>
                  </a:lnTo>
                  <a:lnTo>
                    <a:pt x="897051" y="113792"/>
                  </a:lnTo>
                  <a:lnTo>
                    <a:pt x="896543" y="113030"/>
                  </a:lnTo>
                  <a:lnTo>
                    <a:pt x="896404" y="113030"/>
                  </a:lnTo>
                  <a:lnTo>
                    <a:pt x="895654" y="112649"/>
                  </a:lnTo>
                  <a:lnTo>
                    <a:pt x="893406" y="112649"/>
                  </a:lnTo>
                  <a:lnTo>
                    <a:pt x="892009" y="113030"/>
                  </a:lnTo>
                  <a:lnTo>
                    <a:pt x="892149" y="113030"/>
                  </a:lnTo>
                  <a:lnTo>
                    <a:pt x="890828" y="113538"/>
                  </a:lnTo>
                  <a:lnTo>
                    <a:pt x="866825" y="118872"/>
                  </a:lnTo>
                  <a:lnTo>
                    <a:pt x="856157" y="118872"/>
                  </a:lnTo>
                  <a:lnTo>
                    <a:pt x="851077" y="118110"/>
                  </a:lnTo>
                  <a:lnTo>
                    <a:pt x="847013" y="116713"/>
                  </a:lnTo>
                  <a:lnTo>
                    <a:pt x="842822" y="115316"/>
                  </a:lnTo>
                  <a:lnTo>
                    <a:pt x="839520" y="113284"/>
                  </a:lnTo>
                  <a:lnTo>
                    <a:pt x="836980" y="110617"/>
                  </a:lnTo>
                  <a:lnTo>
                    <a:pt x="834313" y="107950"/>
                  </a:lnTo>
                  <a:lnTo>
                    <a:pt x="829741" y="88392"/>
                  </a:lnTo>
                  <a:lnTo>
                    <a:pt x="896670" y="88392"/>
                  </a:lnTo>
                  <a:lnTo>
                    <a:pt x="898321" y="87884"/>
                  </a:lnTo>
                  <a:lnTo>
                    <a:pt x="901115" y="85852"/>
                  </a:lnTo>
                  <a:lnTo>
                    <a:pt x="901877" y="84201"/>
                  </a:lnTo>
                  <a:lnTo>
                    <a:pt x="901877" y="77216"/>
                  </a:lnTo>
                  <a:lnTo>
                    <a:pt x="901877" y="73533"/>
                  </a:lnTo>
                  <a:close/>
                </a:path>
                <a:path w="1185545" h="163195">
                  <a:moveTo>
                    <a:pt x="1076769" y="68707"/>
                  </a:moveTo>
                  <a:lnTo>
                    <a:pt x="1071956" y="52578"/>
                  </a:lnTo>
                  <a:lnTo>
                    <a:pt x="1069517" y="49784"/>
                  </a:lnTo>
                  <a:lnTo>
                    <a:pt x="1066850" y="46609"/>
                  </a:lnTo>
                  <a:lnTo>
                    <a:pt x="1063294" y="44069"/>
                  </a:lnTo>
                  <a:lnTo>
                    <a:pt x="1054658" y="40259"/>
                  </a:lnTo>
                  <a:lnTo>
                    <a:pt x="1049324" y="39370"/>
                  </a:lnTo>
                  <a:lnTo>
                    <a:pt x="1040307" y="39370"/>
                  </a:lnTo>
                  <a:lnTo>
                    <a:pt x="1037767" y="39624"/>
                  </a:lnTo>
                  <a:lnTo>
                    <a:pt x="1035100" y="40259"/>
                  </a:lnTo>
                  <a:lnTo>
                    <a:pt x="1031925" y="40894"/>
                  </a:lnTo>
                  <a:lnTo>
                    <a:pt x="1032217" y="40894"/>
                  </a:lnTo>
                  <a:lnTo>
                    <a:pt x="1029614" y="41910"/>
                  </a:lnTo>
                  <a:lnTo>
                    <a:pt x="1024305" y="44323"/>
                  </a:lnTo>
                  <a:lnTo>
                    <a:pt x="1009192" y="55880"/>
                  </a:lnTo>
                  <a:lnTo>
                    <a:pt x="1008049" y="53340"/>
                  </a:lnTo>
                  <a:lnTo>
                    <a:pt x="1007503" y="52578"/>
                  </a:lnTo>
                  <a:lnTo>
                    <a:pt x="1006525" y="51181"/>
                  </a:lnTo>
                  <a:lnTo>
                    <a:pt x="1002969" y="47117"/>
                  </a:lnTo>
                  <a:lnTo>
                    <a:pt x="1001077" y="45466"/>
                  </a:lnTo>
                  <a:lnTo>
                    <a:pt x="998626" y="44069"/>
                  </a:lnTo>
                  <a:lnTo>
                    <a:pt x="995857" y="42418"/>
                  </a:lnTo>
                  <a:lnTo>
                    <a:pt x="993063" y="41275"/>
                  </a:lnTo>
                  <a:lnTo>
                    <a:pt x="986586" y="39751"/>
                  </a:lnTo>
                  <a:lnTo>
                    <a:pt x="982903" y="39370"/>
                  </a:lnTo>
                  <a:lnTo>
                    <a:pt x="973378" y="39370"/>
                  </a:lnTo>
                  <a:lnTo>
                    <a:pt x="946708" y="54610"/>
                  </a:lnTo>
                  <a:lnTo>
                    <a:pt x="946581" y="42545"/>
                  </a:lnTo>
                  <a:lnTo>
                    <a:pt x="946454" y="42418"/>
                  </a:lnTo>
                  <a:lnTo>
                    <a:pt x="946073" y="41910"/>
                  </a:lnTo>
                  <a:lnTo>
                    <a:pt x="945692" y="41529"/>
                  </a:lnTo>
                  <a:lnTo>
                    <a:pt x="944422" y="41021"/>
                  </a:lnTo>
                  <a:lnTo>
                    <a:pt x="943660" y="40894"/>
                  </a:lnTo>
                  <a:lnTo>
                    <a:pt x="933500" y="40894"/>
                  </a:lnTo>
                  <a:lnTo>
                    <a:pt x="932611" y="41021"/>
                  </a:lnTo>
                  <a:lnTo>
                    <a:pt x="931341" y="41529"/>
                  </a:lnTo>
                  <a:lnTo>
                    <a:pt x="930960" y="41910"/>
                  </a:lnTo>
                  <a:lnTo>
                    <a:pt x="930579" y="42418"/>
                  </a:lnTo>
                  <a:lnTo>
                    <a:pt x="930452" y="42545"/>
                  </a:lnTo>
                  <a:lnTo>
                    <a:pt x="930325" y="43053"/>
                  </a:lnTo>
                  <a:lnTo>
                    <a:pt x="930325" y="127762"/>
                  </a:lnTo>
                  <a:lnTo>
                    <a:pt x="932421" y="129540"/>
                  </a:lnTo>
                  <a:lnTo>
                    <a:pt x="932865" y="129540"/>
                  </a:lnTo>
                  <a:lnTo>
                    <a:pt x="933754" y="129794"/>
                  </a:lnTo>
                  <a:lnTo>
                    <a:pt x="935024" y="129921"/>
                  </a:lnTo>
                  <a:lnTo>
                    <a:pt x="943914" y="129921"/>
                  </a:lnTo>
                  <a:lnTo>
                    <a:pt x="945057" y="129794"/>
                  </a:lnTo>
                  <a:lnTo>
                    <a:pt x="945946" y="129540"/>
                  </a:lnTo>
                  <a:lnTo>
                    <a:pt x="946264" y="129540"/>
                  </a:lnTo>
                  <a:lnTo>
                    <a:pt x="947216" y="129159"/>
                  </a:lnTo>
                  <a:lnTo>
                    <a:pt x="947724" y="128778"/>
                  </a:lnTo>
                  <a:lnTo>
                    <a:pt x="948359" y="128143"/>
                  </a:lnTo>
                  <a:lnTo>
                    <a:pt x="948486" y="68707"/>
                  </a:lnTo>
                  <a:lnTo>
                    <a:pt x="953439" y="63373"/>
                  </a:lnTo>
                  <a:lnTo>
                    <a:pt x="958011" y="59436"/>
                  </a:lnTo>
                  <a:lnTo>
                    <a:pt x="962329" y="56769"/>
                  </a:lnTo>
                  <a:lnTo>
                    <a:pt x="965555" y="54610"/>
                  </a:lnTo>
                  <a:lnTo>
                    <a:pt x="966520" y="53975"/>
                  </a:lnTo>
                  <a:lnTo>
                    <a:pt x="970711" y="52578"/>
                  </a:lnTo>
                  <a:lnTo>
                    <a:pt x="978331" y="52578"/>
                  </a:lnTo>
                  <a:lnTo>
                    <a:pt x="981824" y="53340"/>
                  </a:lnTo>
                  <a:lnTo>
                    <a:pt x="981544" y="53340"/>
                  </a:lnTo>
                  <a:lnTo>
                    <a:pt x="983665" y="54229"/>
                  </a:lnTo>
                  <a:lnTo>
                    <a:pt x="993317" y="66675"/>
                  </a:lnTo>
                  <a:lnTo>
                    <a:pt x="994206" y="69596"/>
                  </a:lnTo>
                  <a:lnTo>
                    <a:pt x="994587" y="72771"/>
                  </a:lnTo>
                  <a:lnTo>
                    <a:pt x="994714" y="128143"/>
                  </a:lnTo>
                  <a:lnTo>
                    <a:pt x="994968" y="128524"/>
                  </a:lnTo>
                  <a:lnTo>
                    <a:pt x="995222" y="128778"/>
                  </a:lnTo>
                  <a:lnTo>
                    <a:pt x="995730" y="129159"/>
                  </a:lnTo>
                  <a:lnTo>
                    <a:pt x="996683" y="129540"/>
                  </a:lnTo>
                  <a:lnTo>
                    <a:pt x="997127" y="129540"/>
                  </a:lnTo>
                  <a:lnTo>
                    <a:pt x="998016" y="129794"/>
                  </a:lnTo>
                  <a:lnTo>
                    <a:pt x="999286" y="129921"/>
                  </a:lnTo>
                  <a:lnTo>
                    <a:pt x="1007922" y="129921"/>
                  </a:lnTo>
                  <a:lnTo>
                    <a:pt x="1009065" y="129794"/>
                  </a:lnTo>
                  <a:lnTo>
                    <a:pt x="1010081" y="129540"/>
                  </a:lnTo>
                  <a:lnTo>
                    <a:pt x="1010335" y="129540"/>
                  </a:lnTo>
                  <a:lnTo>
                    <a:pt x="1012621" y="127762"/>
                  </a:lnTo>
                  <a:lnTo>
                    <a:pt x="1012621" y="68707"/>
                  </a:lnTo>
                  <a:lnTo>
                    <a:pt x="1017701" y="63373"/>
                  </a:lnTo>
                  <a:lnTo>
                    <a:pt x="1022400" y="59436"/>
                  </a:lnTo>
                  <a:lnTo>
                    <a:pt x="1026591" y="56769"/>
                  </a:lnTo>
                  <a:lnTo>
                    <a:pt x="1027925" y="55880"/>
                  </a:lnTo>
                  <a:lnTo>
                    <a:pt x="1030782" y="53975"/>
                  </a:lnTo>
                  <a:lnTo>
                    <a:pt x="1034973" y="52578"/>
                  </a:lnTo>
                  <a:lnTo>
                    <a:pt x="1042466" y="52578"/>
                  </a:lnTo>
                  <a:lnTo>
                    <a:pt x="1045959" y="53340"/>
                  </a:lnTo>
                  <a:lnTo>
                    <a:pt x="1045692" y="53340"/>
                  </a:lnTo>
                  <a:lnTo>
                    <a:pt x="1047927" y="54229"/>
                  </a:lnTo>
                  <a:lnTo>
                    <a:pt x="1050340" y="55372"/>
                  </a:lnTo>
                  <a:lnTo>
                    <a:pt x="1052499" y="57023"/>
                  </a:lnTo>
                  <a:lnTo>
                    <a:pt x="1054023" y="59182"/>
                  </a:lnTo>
                  <a:lnTo>
                    <a:pt x="1055674" y="61214"/>
                  </a:lnTo>
                  <a:lnTo>
                    <a:pt x="1056817" y="63754"/>
                  </a:lnTo>
                  <a:lnTo>
                    <a:pt x="1058341" y="69596"/>
                  </a:lnTo>
                  <a:lnTo>
                    <a:pt x="1058722" y="72771"/>
                  </a:lnTo>
                  <a:lnTo>
                    <a:pt x="1058849" y="128143"/>
                  </a:lnTo>
                  <a:lnTo>
                    <a:pt x="1059103" y="128524"/>
                  </a:lnTo>
                  <a:lnTo>
                    <a:pt x="1059357" y="128778"/>
                  </a:lnTo>
                  <a:lnTo>
                    <a:pt x="1059865" y="129159"/>
                  </a:lnTo>
                  <a:lnTo>
                    <a:pt x="1061008" y="129540"/>
                  </a:lnTo>
                  <a:lnTo>
                    <a:pt x="1061262" y="129540"/>
                  </a:lnTo>
                  <a:lnTo>
                    <a:pt x="1062151" y="129794"/>
                  </a:lnTo>
                  <a:lnTo>
                    <a:pt x="1063421" y="129921"/>
                  </a:lnTo>
                  <a:lnTo>
                    <a:pt x="1072311" y="129921"/>
                  </a:lnTo>
                  <a:lnTo>
                    <a:pt x="1073454" y="129794"/>
                  </a:lnTo>
                  <a:lnTo>
                    <a:pt x="1074343" y="129540"/>
                  </a:lnTo>
                  <a:lnTo>
                    <a:pt x="1074597" y="129540"/>
                  </a:lnTo>
                  <a:lnTo>
                    <a:pt x="1075740" y="129159"/>
                  </a:lnTo>
                  <a:lnTo>
                    <a:pt x="1076121" y="128778"/>
                  </a:lnTo>
                  <a:lnTo>
                    <a:pt x="1076502" y="128524"/>
                  </a:lnTo>
                  <a:lnTo>
                    <a:pt x="1076756" y="128143"/>
                  </a:lnTo>
                  <a:lnTo>
                    <a:pt x="1076769" y="68707"/>
                  </a:lnTo>
                  <a:close/>
                </a:path>
                <a:path w="1185545" h="163195">
                  <a:moveTo>
                    <a:pt x="1185214" y="42799"/>
                  </a:moveTo>
                  <a:lnTo>
                    <a:pt x="1181404" y="40894"/>
                  </a:lnTo>
                  <a:lnTo>
                    <a:pt x="1180007" y="40640"/>
                  </a:lnTo>
                  <a:lnTo>
                    <a:pt x="1172133" y="40640"/>
                  </a:lnTo>
                  <a:lnTo>
                    <a:pt x="1170990" y="40894"/>
                  </a:lnTo>
                  <a:lnTo>
                    <a:pt x="1169720" y="41021"/>
                  </a:lnTo>
                  <a:lnTo>
                    <a:pt x="1166545" y="43815"/>
                  </a:lnTo>
                  <a:lnTo>
                    <a:pt x="1139367" y="111379"/>
                  </a:lnTo>
                  <a:lnTo>
                    <a:pt x="1138986" y="111379"/>
                  </a:lnTo>
                  <a:lnTo>
                    <a:pt x="1110792" y="44196"/>
                  </a:lnTo>
                  <a:lnTo>
                    <a:pt x="1110411" y="43434"/>
                  </a:lnTo>
                  <a:lnTo>
                    <a:pt x="1110030" y="42799"/>
                  </a:lnTo>
                  <a:lnTo>
                    <a:pt x="1109776" y="42291"/>
                  </a:lnTo>
                  <a:lnTo>
                    <a:pt x="1109395" y="41910"/>
                  </a:lnTo>
                  <a:lnTo>
                    <a:pt x="1108887" y="41529"/>
                  </a:lnTo>
                  <a:lnTo>
                    <a:pt x="1107363" y="41021"/>
                  </a:lnTo>
                  <a:lnTo>
                    <a:pt x="1106474" y="40894"/>
                  </a:lnTo>
                  <a:lnTo>
                    <a:pt x="1094790" y="40894"/>
                  </a:lnTo>
                  <a:lnTo>
                    <a:pt x="1090980" y="42799"/>
                  </a:lnTo>
                  <a:lnTo>
                    <a:pt x="1090980" y="44196"/>
                  </a:lnTo>
                  <a:lnTo>
                    <a:pt x="1091869" y="46609"/>
                  </a:lnTo>
                  <a:lnTo>
                    <a:pt x="1127175" y="126619"/>
                  </a:lnTo>
                  <a:lnTo>
                    <a:pt x="1127302" y="127127"/>
                  </a:lnTo>
                  <a:lnTo>
                    <a:pt x="1127810" y="127762"/>
                  </a:lnTo>
                  <a:lnTo>
                    <a:pt x="1128953" y="128905"/>
                  </a:lnTo>
                  <a:lnTo>
                    <a:pt x="1129588" y="129286"/>
                  </a:lnTo>
                  <a:lnTo>
                    <a:pt x="1130223" y="129540"/>
                  </a:lnTo>
                  <a:lnTo>
                    <a:pt x="1116634" y="158623"/>
                  </a:lnTo>
                  <a:lnTo>
                    <a:pt x="1116126" y="159512"/>
                  </a:lnTo>
                  <a:lnTo>
                    <a:pt x="1116126" y="161544"/>
                  </a:lnTo>
                  <a:lnTo>
                    <a:pt x="1116507" y="162052"/>
                  </a:lnTo>
                  <a:lnTo>
                    <a:pt x="1117447" y="162560"/>
                  </a:lnTo>
                  <a:lnTo>
                    <a:pt x="1118666" y="163068"/>
                  </a:lnTo>
                  <a:lnTo>
                    <a:pt x="1119809" y="163195"/>
                  </a:lnTo>
                  <a:lnTo>
                    <a:pt x="1130731" y="163195"/>
                  </a:lnTo>
                  <a:lnTo>
                    <a:pt x="1132636" y="162560"/>
                  </a:lnTo>
                  <a:lnTo>
                    <a:pt x="1134414" y="162052"/>
                  </a:lnTo>
                  <a:lnTo>
                    <a:pt x="1135430" y="161290"/>
                  </a:lnTo>
                  <a:lnTo>
                    <a:pt x="1135938" y="160274"/>
                  </a:lnTo>
                  <a:lnTo>
                    <a:pt x="1149146" y="129540"/>
                  </a:lnTo>
                  <a:lnTo>
                    <a:pt x="1156868" y="111379"/>
                  </a:lnTo>
                  <a:lnTo>
                    <a:pt x="1184579" y="46228"/>
                  </a:lnTo>
                  <a:lnTo>
                    <a:pt x="1184960" y="45212"/>
                  </a:lnTo>
                  <a:lnTo>
                    <a:pt x="1185214" y="44196"/>
                  </a:lnTo>
                  <a:lnTo>
                    <a:pt x="1185214" y="42799"/>
                  </a:lnTo>
                  <a:close/>
                </a:path>
              </a:pathLst>
            </a:custGeom>
            <a:solidFill>
              <a:srgbClr val="E4DCE6"/>
            </a:solidFill>
          </p:spPr>
          <p:txBody>
            <a:bodyPr wrap="square" lIns="0" tIns="0" rIns="0" bIns="0" rtlCol="0"/>
            <a:lstStyle/>
            <a:p>
              <a:endParaRPr/>
            </a:p>
          </p:txBody>
        </p:sp>
        <p:pic>
          <p:nvPicPr>
            <p:cNvPr id="60" name="object 60"/>
            <p:cNvPicPr/>
            <p:nvPr/>
          </p:nvPicPr>
          <p:blipFill>
            <a:blip r:embed="rId43" cstate="print"/>
            <a:stretch>
              <a:fillRect/>
            </a:stretch>
          </p:blipFill>
          <p:spPr>
            <a:xfrm>
              <a:off x="696455" y="6324472"/>
              <a:ext cx="701941" cy="99059"/>
            </a:xfrm>
            <a:prstGeom prst="rect">
              <a:avLst/>
            </a:prstGeom>
          </p:spPr>
        </p:pic>
        <p:pic>
          <p:nvPicPr>
            <p:cNvPr id="61" name="object 61"/>
            <p:cNvPicPr/>
            <p:nvPr/>
          </p:nvPicPr>
          <p:blipFill>
            <a:blip r:embed="rId44" cstate="print"/>
            <a:stretch>
              <a:fillRect/>
            </a:stretch>
          </p:blipFill>
          <p:spPr>
            <a:xfrm>
              <a:off x="1475358" y="6316852"/>
              <a:ext cx="546354" cy="132461"/>
            </a:xfrm>
            <a:prstGeom prst="rect">
              <a:avLst/>
            </a:prstGeom>
          </p:spPr>
        </p:pic>
        <p:pic>
          <p:nvPicPr>
            <p:cNvPr id="62" name="object 62"/>
            <p:cNvPicPr/>
            <p:nvPr/>
          </p:nvPicPr>
          <p:blipFill>
            <a:blip r:embed="rId45" cstate="print"/>
            <a:stretch>
              <a:fillRect/>
            </a:stretch>
          </p:blipFill>
          <p:spPr>
            <a:xfrm>
              <a:off x="2093086" y="6318757"/>
              <a:ext cx="732663" cy="104775"/>
            </a:xfrm>
            <a:prstGeom prst="rect">
              <a:avLst/>
            </a:prstGeom>
          </p:spPr>
        </p:pic>
        <p:pic>
          <p:nvPicPr>
            <p:cNvPr id="63" name="object 63"/>
            <p:cNvPicPr/>
            <p:nvPr/>
          </p:nvPicPr>
          <p:blipFill>
            <a:blip r:embed="rId46" cstate="print"/>
            <a:stretch>
              <a:fillRect/>
            </a:stretch>
          </p:blipFill>
          <p:spPr>
            <a:xfrm>
              <a:off x="2905505" y="6316852"/>
              <a:ext cx="913638" cy="132207"/>
            </a:xfrm>
            <a:prstGeom prst="rect">
              <a:avLst/>
            </a:prstGeom>
          </p:spPr>
        </p:pic>
        <p:pic>
          <p:nvPicPr>
            <p:cNvPr id="64" name="object 64"/>
            <p:cNvPicPr/>
            <p:nvPr/>
          </p:nvPicPr>
          <p:blipFill>
            <a:blip r:embed="rId47" cstate="print"/>
            <a:stretch>
              <a:fillRect/>
            </a:stretch>
          </p:blipFill>
          <p:spPr>
            <a:xfrm>
              <a:off x="3884803" y="6318757"/>
              <a:ext cx="1187196" cy="130556"/>
            </a:xfrm>
            <a:prstGeom prst="rect">
              <a:avLst/>
            </a:prstGeom>
          </p:spPr>
        </p:pic>
        <p:pic>
          <p:nvPicPr>
            <p:cNvPr id="65" name="object 65"/>
            <p:cNvPicPr/>
            <p:nvPr/>
          </p:nvPicPr>
          <p:blipFill>
            <a:blip r:embed="rId48" cstate="print"/>
            <a:stretch>
              <a:fillRect/>
            </a:stretch>
          </p:blipFill>
          <p:spPr>
            <a:xfrm>
              <a:off x="5140705" y="6318757"/>
              <a:ext cx="706247" cy="117602"/>
            </a:xfrm>
            <a:prstGeom prst="rect">
              <a:avLst/>
            </a:prstGeom>
          </p:spPr>
        </p:pic>
        <p:pic>
          <p:nvPicPr>
            <p:cNvPr id="66" name="object 66"/>
            <p:cNvPicPr/>
            <p:nvPr/>
          </p:nvPicPr>
          <p:blipFill>
            <a:blip r:embed="rId49" cstate="print"/>
            <a:stretch>
              <a:fillRect/>
            </a:stretch>
          </p:blipFill>
          <p:spPr>
            <a:xfrm>
              <a:off x="5906770" y="6318757"/>
              <a:ext cx="686434" cy="104775"/>
            </a:xfrm>
            <a:prstGeom prst="rect">
              <a:avLst/>
            </a:prstGeom>
          </p:spPr>
        </p:pic>
        <p:sp>
          <p:nvSpPr>
            <p:cNvPr id="67" name="object 67"/>
            <p:cNvSpPr/>
            <p:nvPr/>
          </p:nvSpPr>
          <p:spPr>
            <a:xfrm>
              <a:off x="698207" y="6561962"/>
              <a:ext cx="30480" cy="131445"/>
            </a:xfrm>
            <a:custGeom>
              <a:avLst/>
              <a:gdLst/>
              <a:ahLst/>
              <a:cxnLst/>
              <a:rect l="l" t="t" r="r" b="b"/>
              <a:pathLst>
                <a:path w="30479" h="131445">
                  <a:moveTo>
                    <a:pt x="21361" y="0"/>
                  </a:moveTo>
                  <a:lnTo>
                    <a:pt x="3314" y="38099"/>
                  </a:lnTo>
                  <a:lnTo>
                    <a:pt x="0" y="59943"/>
                  </a:lnTo>
                  <a:lnTo>
                    <a:pt x="0" y="71119"/>
                  </a:lnTo>
                  <a:lnTo>
                    <a:pt x="8001" y="109092"/>
                  </a:lnTo>
                  <a:lnTo>
                    <a:pt x="26835" y="131190"/>
                  </a:lnTo>
                  <a:lnTo>
                    <a:pt x="29006" y="130682"/>
                  </a:lnTo>
                  <a:lnTo>
                    <a:pt x="29946" y="129793"/>
                  </a:lnTo>
                  <a:lnTo>
                    <a:pt x="29895" y="128904"/>
                  </a:lnTo>
                  <a:lnTo>
                    <a:pt x="25974" y="120263"/>
                  </a:lnTo>
                  <a:lnTo>
                    <a:pt x="22915" y="112601"/>
                  </a:lnTo>
                  <a:lnTo>
                    <a:pt x="14492" y="73382"/>
                  </a:lnTo>
                  <a:lnTo>
                    <a:pt x="14249" y="65404"/>
                  </a:lnTo>
                  <a:lnTo>
                    <a:pt x="14487" y="57425"/>
                  </a:lnTo>
                  <a:lnTo>
                    <a:pt x="22847" y="18160"/>
                  </a:lnTo>
                  <a:lnTo>
                    <a:pt x="29629" y="3047"/>
                  </a:lnTo>
                  <a:lnTo>
                    <a:pt x="29857" y="2539"/>
                  </a:lnTo>
                  <a:lnTo>
                    <a:pt x="29819" y="1269"/>
                  </a:lnTo>
                  <a:lnTo>
                    <a:pt x="28105" y="253"/>
                  </a:lnTo>
                  <a:lnTo>
                    <a:pt x="21361" y="0"/>
                  </a:lnTo>
                  <a:close/>
                </a:path>
              </a:pathLst>
            </a:custGeom>
            <a:solidFill>
              <a:srgbClr val="E4DCE6"/>
            </a:solidFill>
          </p:spPr>
          <p:txBody>
            <a:bodyPr wrap="square" lIns="0" tIns="0" rIns="0" bIns="0" rtlCol="0"/>
            <a:lstStyle/>
            <a:p>
              <a:endParaRPr/>
            </a:p>
          </p:txBody>
        </p:sp>
      </p:grpSp>
      <p:sp>
        <p:nvSpPr>
          <p:cNvPr id="68" name="object 68"/>
          <p:cNvSpPr txBox="1"/>
          <p:nvPr/>
        </p:nvSpPr>
        <p:spPr>
          <a:xfrm>
            <a:off x="736091" y="6556247"/>
            <a:ext cx="599440" cy="178435"/>
          </a:xfrm>
          <a:prstGeom prst="rect">
            <a:avLst/>
          </a:prstGeom>
          <a:solidFill>
            <a:srgbClr val="161B4B"/>
          </a:solidFill>
        </p:spPr>
        <p:txBody>
          <a:bodyPr vert="horz" wrap="square" lIns="0" tIns="0" rIns="0" bIns="0" rtlCol="0">
            <a:spAutoFit/>
          </a:bodyPr>
          <a:lstStyle/>
          <a:p>
            <a:pPr>
              <a:lnSpc>
                <a:spcPts val="1355"/>
              </a:lnSpc>
            </a:pPr>
            <a:r>
              <a:rPr lang="en-US" sz="1200" spc="-10" dirty="0" err="1">
                <a:solidFill>
                  <a:srgbClr val="E4DCE6"/>
                </a:solidFill>
                <a:latin typeface="Consolas"/>
                <a:cs typeface="Consolas"/>
              </a:rPr>
              <a:t>s</a:t>
            </a:r>
            <a:r>
              <a:rPr sz="1200" spc="-10" dirty="0" err="1">
                <a:solidFill>
                  <a:srgbClr val="E4DCE6"/>
                </a:solidFill>
                <a:latin typeface="Consolas"/>
                <a:cs typeface="Consolas"/>
              </a:rPr>
              <a:t>ite</a:t>
            </a:r>
            <a:r>
              <a:rPr lang="en-US" sz="1200" spc="-10" dirty="0" err="1">
                <a:solidFill>
                  <a:srgbClr val="E4DCE6"/>
                </a:solidFill>
                <a:latin typeface="Consolas"/>
                <a:cs typeface="Consolas"/>
              </a:rPr>
              <a:t>.</a:t>
            </a:r>
            <a:r>
              <a:rPr sz="1200" spc="-10" dirty="0" err="1">
                <a:solidFill>
                  <a:srgbClr val="E4DCE6"/>
                </a:solidFill>
                <a:latin typeface="Consolas"/>
                <a:cs typeface="Consolas"/>
              </a:rPr>
              <a:t>db</a:t>
            </a:r>
            <a:endParaRPr sz="1200" dirty="0">
              <a:latin typeface="Consolas"/>
              <a:cs typeface="Consolas"/>
            </a:endParaRPr>
          </a:p>
        </p:txBody>
      </p:sp>
      <p:grpSp>
        <p:nvGrpSpPr>
          <p:cNvPr id="69" name="object 69"/>
          <p:cNvGrpSpPr/>
          <p:nvPr/>
        </p:nvGrpSpPr>
        <p:grpSpPr>
          <a:xfrm>
            <a:off x="701890" y="6561963"/>
            <a:ext cx="5752465" cy="374015"/>
            <a:chOff x="701890" y="6561963"/>
            <a:chExt cx="5752465" cy="374015"/>
          </a:xfrm>
        </p:grpSpPr>
        <p:pic>
          <p:nvPicPr>
            <p:cNvPr id="70" name="object 70"/>
            <p:cNvPicPr/>
            <p:nvPr/>
          </p:nvPicPr>
          <p:blipFill>
            <a:blip r:embed="rId50" cstate="print"/>
            <a:stretch>
              <a:fillRect/>
            </a:stretch>
          </p:blipFill>
          <p:spPr>
            <a:xfrm>
              <a:off x="1325244" y="6561963"/>
              <a:ext cx="73025" cy="131190"/>
            </a:xfrm>
            <a:prstGeom prst="rect">
              <a:avLst/>
            </a:prstGeom>
          </p:spPr>
        </p:pic>
        <p:pic>
          <p:nvPicPr>
            <p:cNvPr id="71" name="object 71"/>
            <p:cNvPicPr/>
            <p:nvPr/>
          </p:nvPicPr>
          <p:blipFill>
            <a:blip r:embed="rId51" cstate="print"/>
            <a:stretch>
              <a:fillRect/>
            </a:stretch>
          </p:blipFill>
          <p:spPr>
            <a:xfrm>
              <a:off x="1477009" y="6563995"/>
              <a:ext cx="471804" cy="104902"/>
            </a:xfrm>
            <a:prstGeom prst="rect">
              <a:avLst/>
            </a:prstGeom>
          </p:spPr>
        </p:pic>
        <p:pic>
          <p:nvPicPr>
            <p:cNvPr id="72" name="object 72"/>
            <p:cNvPicPr/>
            <p:nvPr/>
          </p:nvPicPr>
          <p:blipFill>
            <a:blip r:embed="rId52" cstate="print"/>
            <a:stretch>
              <a:fillRect/>
            </a:stretch>
          </p:blipFill>
          <p:spPr>
            <a:xfrm>
              <a:off x="2012569" y="6563995"/>
              <a:ext cx="154812" cy="104902"/>
            </a:xfrm>
            <a:prstGeom prst="rect">
              <a:avLst/>
            </a:prstGeom>
          </p:spPr>
        </p:pic>
        <p:pic>
          <p:nvPicPr>
            <p:cNvPr id="73" name="object 73"/>
            <p:cNvPicPr/>
            <p:nvPr/>
          </p:nvPicPr>
          <p:blipFill>
            <a:blip r:embed="rId53" cstate="print"/>
            <a:stretch>
              <a:fillRect/>
            </a:stretch>
          </p:blipFill>
          <p:spPr>
            <a:xfrm>
              <a:off x="2244851" y="6578727"/>
              <a:ext cx="1043177" cy="90170"/>
            </a:xfrm>
            <a:prstGeom prst="rect">
              <a:avLst/>
            </a:prstGeom>
          </p:spPr>
        </p:pic>
        <p:sp>
          <p:nvSpPr>
            <p:cNvPr id="74" name="object 74"/>
            <p:cNvSpPr/>
            <p:nvPr/>
          </p:nvSpPr>
          <p:spPr>
            <a:xfrm>
              <a:off x="3353688" y="6564503"/>
              <a:ext cx="266065" cy="104775"/>
            </a:xfrm>
            <a:custGeom>
              <a:avLst/>
              <a:gdLst/>
              <a:ahLst/>
              <a:cxnLst/>
              <a:rect l="l" t="t" r="r" b="b"/>
              <a:pathLst>
                <a:path w="266064" h="104775">
                  <a:moveTo>
                    <a:pt x="64370" y="40767"/>
                  </a:moveTo>
                  <a:lnTo>
                    <a:pt x="37591" y="40767"/>
                  </a:lnTo>
                  <a:lnTo>
                    <a:pt x="40512" y="41148"/>
                  </a:lnTo>
                  <a:lnTo>
                    <a:pt x="45821" y="42545"/>
                  </a:lnTo>
                  <a:lnTo>
                    <a:pt x="45577" y="42545"/>
                  </a:lnTo>
                  <a:lnTo>
                    <a:pt x="47244" y="43434"/>
                  </a:lnTo>
                  <a:lnTo>
                    <a:pt x="48768" y="44704"/>
                  </a:lnTo>
                  <a:lnTo>
                    <a:pt x="53086" y="53975"/>
                  </a:lnTo>
                  <a:lnTo>
                    <a:pt x="53086" y="61722"/>
                  </a:lnTo>
                  <a:lnTo>
                    <a:pt x="35178" y="61722"/>
                  </a:lnTo>
                  <a:lnTo>
                    <a:pt x="29337" y="62230"/>
                  </a:lnTo>
                  <a:lnTo>
                    <a:pt x="19050" y="64008"/>
                  </a:lnTo>
                  <a:lnTo>
                    <a:pt x="14605" y="65405"/>
                  </a:lnTo>
                  <a:lnTo>
                    <a:pt x="11049" y="67310"/>
                  </a:lnTo>
                  <a:lnTo>
                    <a:pt x="7493" y="69088"/>
                  </a:lnTo>
                  <a:lnTo>
                    <a:pt x="5319" y="70866"/>
                  </a:lnTo>
                  <a:lnTo>
                    <a:pt x="4612" y="71501"/>
                  </a:lnTo>
                  <a:lnTo>
                    <a:pt x="888" y="76962"/>
                  </a:lnTo>
                  <a:lnTo>
                    <a:pt x="0" y="80264"/>
                  </a:lnTo>
                  <a:lnTo>
                    <a:pt x="0" y="87249"/>
                  </a:lnTo>
                  <a:lnTo>
                    <a:pt x="524" y="89662"/>
                  </a:lnTo>
                  <a:lnTo>
                    <a:pt x="635" y="90170"/>
                  </a:lnTo>
                  <a:lnTo>
                    <a:pt x="13627" y="102235"/>
                  </a:lnTo>
                  <a:lnTo>
                    <a:pt x="13842" y="102235"/>
                  </a:lnTo>
                  <a:lnTo>
                    <a:pt x="16890" y="102997"/>
                  </a:lnTo>
                  <a:lnTo>
                    <a:pt x="20447" y="104013"/>
                  </a:lnTo>
                  <a:lnTo>
                    <a:pt x="24384" y="104394"/>
                  </a:lnTo>
                  <a:lnTo>
                    <a:pt x="33782" y="104394"/>
                  </a:lnTo>
                  <a:lnTo>
                    <a:pt x="54676" y="94869"/>
                  </a:lnTo>
                  <a:lnTo>
                    <a:pt x="26288" y="94869"/>
                  </a:lnTo>
                  <a:lnTo>
                    <a:pt x="22478" y="93726"/>
                  </a:lnTo>
                  <a:lnTo>
                    <a:pt x="16890" y="89662"/>
                  </a:lnTo>
                  <a:lnTo>
                    <a:pt x="15621" y="86868"/>
                  </a:lnTo>
                  <a:lnTo>
                    <a:pt x="15621" y="81407"/>
                  </a:lnTo>
                  <a:lnTo>
                    <a:pt x="16001" y="79629"/>
                  </a:lnTo>
                  <a:lnTo>
                    <a:pt x="17018" y="77978"/>
                  </a:lnTo>
                  <a:lnTo>
                    <a:pt x="17907" y="76454"/>
                  </a:lnTo>
                  <a:lnTo>
                    <a:pt x="19431" y="75184"/>
                  </a:lnTo>
                  <a:lnTo>
                    <a:pt x="23495" y="72898"/>
                  </a:lnTo>
                  <a:lnTo>
                    <a:pt x="26035" y="72009"/>
                  </a:lnTo>
                  <a:lnTo>
                    <a:pt x="29083" y="71501"/>
                  </a:lnTo>
                  <a:lnTo>
                    <a:pt x="32258" y="70866"/>
                  </a:lnTo>
                  <a:lnTo>
                    <a:pt x="35813" y="70612"/>
                  </a:lnTo>
                  <a:lnTo>
                    <a:pt x="68199" y="70612"/>
                  </a:lnTo>
                  <a:lnTo>
                    <a:pt x="68176" y="51689"/>
                  </a:lnTo>
                  <a:lnTo>
                    <a:pt x="67563" y="48260"/>
                  </a:lnTo>
                  <a:lnTo>
                    <a:pt x="66421" y="45085"/>
                  </a:lnTo>
                  <a:lnTo>
                    <a:pt x="65277" y="42037"/>
                  </a:lnTo>
                  <a:lnTo>
                    <a:pt x="64370" y="40767"/>
                  </a:lnTo>
                  <a:close/>
                </a:path>
                <a:path w="266064" h="104775">
                  <a:moveTo>
                    <a:pt x="65405" y="103251"/>
                  </a:moveTo>
                  <a:lnTo>
                    <a:pt x="57785" y="103251"/>
                  </a:lnTo>
                  <a:lnTo>
                    <a:pt x="58800" y="103378"/>
                  </a:lnTo>
                  <a:lnTo>
                    <a:pt x="60071" y="103505"/>
                  </a:lnTo>
                  <a:lnTo>
                    <a:pt x="63246" y="103505"/>
                  </a:lnTo>
                  <a:lnTo>
                    <a:pt x="64515" y="103378"/>
                  </a:lnTo>
                  <a:lnTo>
                    <a:pt x="65405" y="103251"/>
                  </a:lnTo>
                  <a:close/>
                </a:path>
                <a:path w="266064" h="104775">
                  <a:moveTo>
                    <a:pt x="68199" y="94488"/>
                  </a:moveTo>
                  <a:lnTo>
                    <a:pt x="55118" y="94488"/>
                  </a:lnTo>
                  <a:lnTo>
                    <a:pt x="55245" y="102235"/>
                  </a:lnTo>
                  <a:lnTo>
                    <a:pt x="55752" y="102489"/>
                  </a:lnTo>
                  <a:lnTo>
                    <a:pt x="56134" y="102870"/>
                  </a:lnTo>
                  <a:lnTo>
                    <a:pt x="57276" y="103251"/>
                  </a:lnTo>
                  <a:lnTo>
                    <a:pt x="65976" y="103251"/>
                  </a:lnTo>
                  <a:lnTo>
                    <a:pt x="66928" y="102870"/>
                  </a:lnTo>
                  <a:lnTo>
                    <a:pt x="67437" y="102489"/>
                  </a:lnTo>
                  <a:lnTo>
                    <a:pt x="67945" y="102235"/>
                  </a:lnTo>
                  <a:lnTo>
                    <a:pt x="68199" y="101854"/>
                  </a:lnTo>
                  <a:lnTo>
                    <a:pt x="68199" y="94488"/>
                  </a:lnTo>
                  <a:close/>
                </a:path>
                <a:path w="266064" h="104775">
                  <a:moveTo>
                    <a:pt x="68199" y="70612"/>
                  </a:moveTo>
                  <a:lnTo>
                    <a:pt x="53086" y="70612"/>
                  </a:lnTo>
                  <a:lnTo>
                    <a:pt x="53086" y="84836"/>
                  </a:lnTo>
                  <a:lnTo>
                    <a:pt x="49275" y="88265"/>
                  </a:lnTo>
                  <a:lnTo>
                    <a:pt x="45720" y="90678"/>
                  </a:lnTo>
                  <a:lnTo>
                    <a:pt x="38862" y="93980"/>
                  </a:lnTo>
                  <a:lnTo>
                    <a:pt x="35178" y="94869"/>
                  </a:lnTo>
                  <a:lnTo>
                    <a:pt x="54676" y="94869"/>
                  </a:lnTo>
                  <a:lnTo>
                    <a:pt x="55118" y="94488"/>
                  </a:lnTo>
                  <a:lnTo>
                    <a:pt x="68199" y="94488"/>
                  </a:lnTo>
                  <a:lnTo>
                    <a:pt x="68199" y="70612"/>
                  </a:lnTo>
                  <a:close/>
                </a:path>
                <a:path w="266064" h="104775">
                  <a:moveTo>
                    <a:pt x="41401" y="30861"/>
                  </a:moveTo>
                  <a:lnTo>
                    <a:pt x="32258" y="30861"/>
                  </a:lnTo>
                  <a:lnTo>
                    <a:pt x="29083" y="30988"/>
                  </a:lnTo>
                  <a:lnTo>
                    <a:pt x="5969" y="37973"/>
                  </a:lnTo>
                  <a:lnTo>
                    <a:pt x="5080" y="38608"/>
                  </a:lnTo>
                  <a:lnTo>
                    <a:pt x="4572" y="39243"/>
                  </a:lnTo>
                  <a:lnTo>
                    <a:pt x="4572" y="46101"/>
                  </a:lnTo>
                  <a:lnTo>
                    <a:pt x="5080" y="46863"/>
                  </a:lnTo>
                  <a:lnTo>
                    <a:pt x="5461" y="47244"/>
                  </a:lnTo>
                  <a:lnTo>
                    <a:pt x="5841" y="47371"/>
                  </a:lnTo>
                  <a:lnTo>
                    <a:pt x="6223" y="47625"/>
                  </a:lnTo>
                  <a:lnTo>
                    <a:pt x="6603" y="47752"/>
                  </a:lnTo>
                  <a:lnTo>
                    <a:pt x="7874" y="47752"/>
                  </a:lnTo>
                  <a:lnTo>
                    <a:pt x="8889" y="47371"/>
                  </a:lnTo>
                  <a:lnTo>
                    <a:pt x="11937" y="45847"/>
                  </a:lnTo>
                  <a:lnTo>
                    <a:pt x="16128" y="44196"/>
                  </a:lnTo>
                  <a:lnTo>
                    <a:pt x="18287" y="43434"/>
                  </a:lnTo>
                  <a:lnTo>
                    <a:pt x="20955" y="42545"/>
                  </a:lnTo>
                  <a:lnTo>
                    <a:pt x="23875" y="41910"/>
                  </a:lnTo>
                  <a:lnTo>
                    <a:pt x="26924" y="41148"/>
                  </a:lnTo>
                  <a:lnTo>
                    <a:pt x="30225" y="40767"/>
                  </a:lnTo>
                  <a:lnTo>
                    <a:pt x="64370" y="40767"/>
                  </a:lnTo>
                  <a:lnTo>
                    <a:pt x="63373" y="39370"/>
                  </a:lnTo>
                  <a:lnTo>
                    <a:pt x="60833" y="37211"/>
                  </a:lnTo>
                  <a:lnTo>
                    <a:pt x="58165" y="35179"/>
                  </a:lnTo>
                  <a:lnTo>
                    <a:pt x="54863" y="33528"/>
                  </a:lnTo>
                  <a:lnTo>
                    <a:pt x="50673" y="32512"/>
                  </a:lnTo>
                  <a:lnTo>
                    <a:pt x="46482" y="31369"/>
                  </a:lnTo>
                  <a:lnTo>
                    <a:pt x="41401" y="30861"/>
                  </a:lnTo>
                  <a:close/>
                </a:path>
                <a:path w="266064" h="104775">
                  <a:moveTo>
                    <a:pt x="106934" y="103251"/>
                  </a:moveTo>
                  <a:lnTo>
                    <a:pt x="99440" y="103251"/>
                  </a:lnTo>
                  <a:lnTo>
                    <a:pt x="100330" y="103378"/>
                  </a:lnTo>
                  <a:lnTo>
                    <a:pt x="101600" y="103505"/>
                  </a:lnTo>
                  <a:lnTo>
                    <a:pt x="104648" y="103505"/>
                  </a:lnTo>
                  <a:lnTo>
                    <a:pt x="105918" y="103378"/>
                  </a:lnTo>
                  <a:lnTo>
                    <a:pt x="106934" y="103251"/>
                  </a:lnTo>
                  <a:close/>
                </a:path>
                <a:path w="266064" h="104775">
                  <a:moveTo>
                    <a:pt x="163195" y="103251"/>
                  </a:moveTo>
                  <a:lnTo>
                    <a:pt x="155701" y="103251"/>
                  </a:lnTo>
                  <a:lnTo>
                    <a:pt x="156718" y="103378"/>
                  </a:lnTo>
                  <a:lnTo>
                    <a:pt x="157987" y="103505"/>
                  </a:lnTo>
                  <a:lnTo>
                    <a:pt x="160909" y="103505"/>
                  </a:lnTo>
                  <a:lnTo>
                    <a:pt x="162178" y="103378"/>
                  </a:lnTo>
                  <a:lnTo>
                    <a:pt x="163195" y="103251"/>
                  </a:lnTo>
                  <a:close/>
                </a:path>
                <a:path w="266064" h="104775">
                  <a:moveTo>
                    <a:pt x="107441" y="32131"/>
                  </a:moveTo>
                  <a:lnTo>
                    <a:pt x="97409" y="32131"/>
                  </a:lnTo>
                  <a:lnTo>
                    <a:pt x="96393" y="32639"/>
                  </a:lnTo>
                  <a:lnTo>
                    <a:pt x="96012" y="32893"/>
                  </a:lnTo>
                  <a:lnTo>
                    <a:pt x="95758" y="33147"/>
                  </a:lnTo>
                  <a:lnTo>
                    <a:pt x="95631" y="33401"/>
                  </a:lnTo>
                  <a:lnTo>
                    <a:pt x="95503" y="33782"/>
                  </a:lnTo>
                  <a:lnTo>
                    <a:pt x="95503" y="101473"/>
                  </a:lnTo>
                  <a:lnTo>
                    <a:pt x="95631" y="101854"/>
                  </a:lnTo>
                  <a:lnTo>
                    <a:pt x="95885" y="102108"/>
                  </a:lnTo>
                  <a:lnTo>
                    <a:pt x="96012" y="102362"/>
                  </a:lnTo>
                  <a:lnTo>
                    <a:pt x="97027" y="102870"/>
                  </a:lnTo>
                  <a:lnTo>
                    <a:pt x="97662" y="102997"/>
                  </a:lnTo>
                  <a:lnTo>
                    <a:pt x="98425" y="103251"/>
                  </a:lnTo>
                  <a:lnTo>
                    <a:pt x="107823" y="103251"/>
                  </a:lnTo>
                  <a:lnTo>
                    <a:pt x="108585" y="102997"/>
                  </a:lnTo>
                  <a:lnTo>
                    <a:pt x="109220" y="102870"/>
                  </a:lnTo>
                  <a:lnTo>
                    <a:pt x="109727" y="102616"/>
                  </a:lnTo>
                  <a:lnTo>
                    <a:pt x="110109" y="102362"/>
                  </a:lnTo>
                  <a:lnTo>
                    <a:pt x="110616" y="101854"/>
                  </a:lnTo>
                  <a:lnTo>
                    <a:pt x="110744" y="101473"/>
                  </a:lnTo>
                  <a:lnTo>
                    <a:pt x="110744" y="54356"/>
                  </a:lnTo>
                  <a:lnTo>
                    <a:pt x="114935" y="50165"/>
                  </a:lnTo>
                  <a:lnTo>
                    <a:pt x="118872" y="46863"/>
                  </a:lnTo>
                  <a:lnTo>
                    <a:pt x="122682" y="44704"/>
                  </a:lnTo>
                  <a:lnTo>
                    <a:pt x="125692" y="43053"/>
                  </a:lnTo>
                  <a:lnTo>
                    <a:pt x="109220" y="43053"/>
                  </a:lnTo>
                  <a:lnTo>
                    <a:pt x="109220" y="33401"/>
                  </a:lnTo>
                  <a:lnTo>
                    <a:pt x="108712" y="32893"/>
                  </a:lnTo>
                  <a:lnTo>
                    <a:pt x="107950" y="32385"/>
                  </a:lnTo>
                  <a:lnTo>
                    <a:pt x="107441" y="32131"/>
                  </a:lnTo>
                  <a:close/>
                </a:path>
                <a:path w="266064" h="104775">
                  <a:moveTo>
                    <a:pt x="162585" y="41402"/>
                  </a:moveTo>
                  <a:lnTo>
                    <a:pt x="137160" y="41402"/>
                  </a:lnTo>
                  <a:lnTo>
                    <a:pt x="139700" y="41910"/>
                  </a:lnTo>
                  <a:lnTo>
                    <a:pt x="144272" y="43688"/>
                  </a:lnTo>
                  <a:lnTo>
                    <a:pt x="151891" y="101854"/>
                  </a:lnTo>
                  <a:lnTo>
                    <a:pt x="152400" y="102362"/>
                  </a:lnTo>
                  <a:lnTo>
                    <a:pt x="152781" y="102616"/>
                  </a:lnTo>
                  <a:lnTo>
                    <a:pt x="153415" y="102870"/>
                  </a:lnTo>
                  <a:lnTo>
                    <a:pt x="153924" y="102997"/>
                  </a:lnTo>
                  <a:lnTo>
                    <a:pt x="154686" y="103251"/>
                  </a:lnTo>
                  <a:lnTo>
                    <a:pt x="164084" y="103251"/>
                  </a:lnTo>
                  <a:lnTo>
                    <a:pt x="165481" y="102870"/>
                  </a:lnTo>
                  <a:lnTo>
                    <a:pt x="165988" y="102616"/>
                  </a:lnTo>
                  <a:lnTo>
                    <a:pt x="166370" y="102362"/>
                  </a:lnTo>
                  <a:lnTo>
                    <a:pt x="166877" y="101854"/>
                  </a:lnTo>
                  <a:lnTo>
                    <a:pt x="166862" y="54356"/>
                  </a:lnTo>
                  <a:lnTo>
                    <a:pt x="166497" y="51435"/>
                  </a:lnTo>
                  <a:lnTo>
                    <a:pt x="164543" y="44958"/>
                  </a:lnTo>
                  <a:lnTo>
                    <a:pt x="164464" y="44704"/>
                  </a:lnTo>
                  <a:lnTo>
                    <a:pt x="162813" y="41656"/>
                  </a:lnTo>
                  <a:lnTo>
                    <a:pt x="162585" y="41402"/>
                  </a:lnTo>
                  <a:close/>
                </a:path>
                <a:path w="266064" h="104775">
                  <a:moveTo>
                    <a:pt x="142875" y="30861"/>
                  </a:moveTo>
                  <a:lnTo>
                    <a:pt x="132587" y="30861"/>
                  </a:lnTo>
                  <a:lnTo>
                    <a:pt x="127888" y="31750"/>
                  </a:lnTo>
                  <a:lnTo>
                    <a:pt x="123189" y="33782"/>
                  </a:lnTo>
                  <a:lnTo>
                    <a:pt x="118618" y="35687"/>
                  </a:lnTo>
                  <a:lnTo>
                    <a:pt x="113919" y="38862"/>
                  </a:lnTo>
                  <a:lnTo>
                    <a:pt x="109220" y="43053"/>
                  </a:lnTo>
                  <a:lnTo>
                    <a:pt x="125692" y="43053"/>
                  </a:lnTo>
                  <a:lnTo>
                    <a:pt x="126619" y="42545"/>
                  </a:lnTo>
                  <a:lnTo>
                    <a:pt x="130428" y="41402"/>
                  </a:lnTo>
                  <a:lnTo>
                    <a:pt x="162585" y="41402"/>
                  </a:lnTo>
                  <a:lnTo>
                    <a:pt x="160527" y="39116"/>
                  </a:lnTo>
                  <a:lnTo>
                    <a:pt x="158114" y="36576"/>
                  </a:lnTo>
                  <a:lnTo>
                    <a:pt x="155066" y="34544"/>
                  </a:lnTo>
                  <a:lnTo>
                    <a:pt x="151257" y="33147"/>
                  </a:lnTo>
                  <a:lnTo>
                    <a:pt x="147880" y="31750"/>
                  </a:lnTo>
                  <a:lnTo>
                    <a:pt x="148357" y="31750"/>
                  </a:lnTo>
                  <a:lnTo>
                    <a:pt x="142875" y="30861"/>
                  </a:lnTo>
                  <a:close/>
                </a:path>
                <a:path w="266064" h="104775">
                  <a:moveTo>
                    <a:pt x="229997" y="30861"/>
                  </a:moveTo>
                  <a:lnTo>
                    <a:pt x="219328" y="30861"/>
                  </a:lnTo>
                  <a:lnTo>
                    <a:pt x="214122" y="31750"/>
                  </a:lnTo>
                  <a:lnTo>
                    <a:pt x="209676" y="33401"/>
                  </a:lnTo>
                  <a:lnTo>
                    <a:pt x="205232" y="35179"/>
                  </a:lnTo>
                  <a:lnTo>
                    <a:pt x="201422" y="37719"/>
                  </a:lnTo>
                  <a:lnTo>
                    <a:pt x="198613" y="40894"/>
                  </a:lnTo>
                  <a:lnTo>
                    <a:pt x="195452" y="44323"/>
                  </a:lnTo>
                  <a:lnTo>
                    <a:pt x="193166" y="48260"/>
                  </a:lnTo>
                  <a:lnTo>
                    <a:pt x="191643" y="52832"/>
                  </a:lnTo>
                  <a:lnTo>
                    <a:pt x="190119" y="57531"/>
                  </a:lnTo>
                  <a:lnTo>
                    <a:pt x="189357" y="62738"/>
                  </a:lnTo>
                  <a:lnTo>
                    <a:pt x="189425" y="73787"/>
                  </a:lnTo>
                  <a:lnTo>
                    <a:pt x="217043" y="104394"/>
                  </a:lnTo>
                  <a:lnTo>
                    <a:pt x="228726" y="104394"/>
                  </a:lnTo>
                  <a:lnTo>
                    <a:pt x="233807" y="103378"/>
                  </a:lnTo>
                  <a:lnTo>
                    <a:pt x="243205" y="99060"/>
                  </a:lnTo>
                  <a:lnTo>
                    <a:pt x="247776" y="96139"/>
                  </a:lnTo>
                  <a:lnTo>
                    <a:pt x="250295" y="93980"/>
                  </a:lnTo>
                  <a:lnTo>
                    <a:pt x="221741" y="93980"/>
                  </a:lnTo>
                  <a:lnTo>
                    <a:pt x="218439" y="93218"/>
                  </a:lnTo>
                  <a:lnTo>
                    <a:pt x="205105" y="70485"/>
                  </a:lnTo>
                  <a:lnTo>
                    <a:pt x="205105" y="64008"/>
                  </a:lnTo>
                  <a:lnTo>
                    <a:pt x="222503" y="41402"/>
                  </a:lnTo>
                  <a:lnTo>
                    <a:pt x="265607" y="41402"/>
                  </a:lnTo>
                  <a:lnTo>
                    <a:pt x="265607" y="40894"/>
                  </a:lnTo>
                  <a:lnTo>
                    <a:pt x="250444" y="40894"/>
                  </a:lnTo>
                  <a:lnTo>
                    <a:pt x="246507" y="37592"/>
                  </a:lnTo>
                  <a:lnTo>
                    <a:pt x="242646" y="35179"/>
                  </a:lnTo>
                  <a:lnTo>
                    <a:pt x="234732" y="31750"/>
                  </a:lnTo>
                  <a:lnTo>
                    <a:pt x="235182" y="31750"/>
                  </a:lnTo>
                  <a:lnTo>
                    <a:pt x="229997" y="30861"/>
                  </a:lnTo>
                  <a:close/>
                </a:path>
                <a:path w="266064" h="104775">
                  <a:moveTo>
                    <a:pt x="262255" y="103251"/>
                  </a:moveTo>
                  <a:lnTo>
                    <a:pt x="255905" y="103251"/>
                  </a:lnTo>
                  <a:lnTo>
                    <a:pt x="256666" y="103378"/>
                  </a:lnTo>
                  <a:lnTo>
                    <a:pt x="257810" y="103505"/>
                  </a:lnTo>
                  <a:lnTo>
                    <a:pt x="260350" y="103505"/>
                  </a:lnTo>
                  <a:lnTo>
                    <a:pt x="262255" y="103251"/>
                  </a:lnTo>
                  <a:close/>
                </a:path>
                <a:path w="266064" h="104775">
                  <a:moveTo>
                    <a:pt x="264287" y="102870"/>
                  </a:moveTo>
                  <a:lnTo>
                    <a:pt x="253746" y="102870"/>
                  </a:lnTo>
                  <a:lnTo>
                    <a:pt x="254253" y="102997"/>
                  </a:lnTo>
                  <a:lnTo>
                    <a:pt x="255015" y="103251"/>
                  </a:lnTo>
                  <a:lnTo>
                    <a:pt x="263144" y="103251"/>
                  </a:lnTo>
                  <a:lnTo>
                    <a:pt x="263778" y="102997"/>
                  </a:lnTo>
                  <a:lnTo>
                    <a:pt x="264287" y="102870"/>
                  </a:lnTo>
                  <a:close/>
                </a:path>
                <a:path w="266064" h="104775">
                  <a:moveTo>
                    <a:pt x="265672" y="92329"/>
                  </a:moveTo>
                  <a:lnTo>
                    <a:pt x="252222" y="92329"/>
                  </a:lnTo>
                  <a:lnTo>
                    <a:pt x="252349" y="101854"/>
                  </a:lnTo>
                  <a:lnTo>
                    <a:pt x="252475" y="102235"/>
                  </a:lnTo>
                  <a:lnTo>
                    <a:pt x="252730" y="102489"/>
                  </a:lnTo>
                  <a:lnTo>
                    <a:pt x="253491" y="102870"/>
                  </a:lnTo>
                  <a:lnTo>
                    <a:pt x="264604" y="102870"/>
                  </a:lnTo>
                  <a:lnTo>
                    <a:pt x="265175" y="102489"/>
                  </a:lnTo>
                  <a:lnTo>
                    <a:pt x="265430" y="102235"/>
                  </a:lnTo>
                  <a:lnTo>
                    <a:pt x="265557" y="101854"/>
                  </a:lnTo>
                  <a:lnTo>
                    <a:pt x="265672" y="92329"/>
                  </a:lnTo>
                  <a:close/>
                </a:path>
                <a:path w="266064" h="104775">
                  <a:moveTo>
                    <a:pt x="265607" y="41402"/>
                  </a:moveTo>
                  <a:lnTo>
                    <a:pt x="230632" y="41402"/>
                  </a:lnTo>
                  <a:lnTo>
                    <a:pt x="234569" y="42418"/>
                  </a:lnTo>
                  <a:lnTo>
                    <a:pt x="238506" y="44577"/>
                  </a:lnTo>
                  <a:lnTo>
                    <a:pt x="242315" y="46736"/>
                  </a:lnTo>
                  <a:lnTo>
                    <a:pt x="246252" y="49911"/>
                  </a:lnTo>
                  <a:lnTo>
                    <a:pt x="250444" y="53975"/>
                  </a:lnTo>
                  <a:lnTo>
                    <a:pt x="250444" y="80772"/>
                  </a:lnTo>
                  <a:lnTo>
                    <a:pt x="231648" y="93218"/>
                  </a:lnTo>
                  <a:lnTo>
                    <a:pt x="229743" y="93726"/>
                  </a:lnTo>
                  <a:lnTo>
                    <a:pt x="227837" y="93980"/>
                  </a:lnTo>
                  <a:lnTo>
                    <a:pt x="250295" y="93980"/>
                  </a:lnTo>
                  <a:lnTo>
                    <a:pt x="252222" y="92329"/>
                  </a:lnTo>
                  <a:lnTo>
                    <a:pt x="265672" y="92329"/>
                  </a:lnTo>
                  <a:lnTo>
                    <a:pt x="265607" y="41402"/>
                  </a:lnTo>
                  <a:close/>
                </a:path>
                <a:path w="266064" h="104775">
                  <a:moveTo>
                    <a:pt x="263016" y="0"/>
                  </a:moveTo>
                  <a:lnTo>
                    <a:pt x="253364" y="0"/>
                  </a:lnTo>
                  <a:lnTo>
                    <a:pt x="251333" y="381"/>
                  </a:lnTo>
                  <a:lnTo>
                    <a:pt x="250951" y="635"/>
                  </a:lnTo>
                  <a:lnTo>
                    <a:pt x="250698" y="1016"/>
                  </a:lnTo>
                  <a:lnTo>
                    <a:pt x="250571" y="1397"/>
                  </a:lnTo>
                  <a:lnTo>
                    <a:pt x="250444" y="40894"/>
                  </a:lnTo>
                  <a:lnTo>
                    <a:pt x="265607" y="40894"/>
                  </a:lnTo>
                  <a:lnTo>
                    <a:pt x="265557" y="1397"/>
                  </a:lnTo>
                  <a:lnTo>
                    <a:pt x="265049" y="635"/>
                  </a:lnTo>
                  <a:lnTo>
                    <a:pt x="264668" y="381"/>
                  </a:lnTo>
                  <a:lnTo>
                    <a:pt x="263016" y="0"/>
                  </a:lnTo>
                  <a:close/>
                </a:path>
              </a:pathLst>
            </a:custGeom>
            <a:solidFill>
              <a:srgbClr val="E4DCE6"/>
            </a:solidFill>
          </p:spPr>
          <p:txBody>
            <a:bodyPr wrap="square" lIns="0" tIns="0" rIns="0" bIns="0" rtlCol="0"/>
            <a:lstStyle/>
            <a:p>
              <a:endParaRPr/>
            </a:p>
          </p:txBody>
        </p:sp>
        <p:pic>
          <p:nvPicPr>
            <p:cNvPr id="75" name="object 75"/>
            <p:cNvPicPr/>
            <p:nvPr/>
          </p:nvPicPr>
          <p:blipFill>
            <a:blip r:embed="rId54" cstate="print"/>
            <a:stretch>
              <a:fillRect/>
            </a:stretch>
          </p:blipFill>
          <p:spPr>
            <a:xfrm>
              <a:off x="3693160" y="6563995"/>
              <a:ext cx="515989" cy="104902"/>
            </a:xfrm>
            <a:prstGeom prst="rect">
              <a:avLst/>
            </a:prstGeom>
          </p:spPr>
        </p:pic>
        <p:pic>
          <p:nvPicPr>
            <p:cNvPr id="76" name="object 76"/>
            <p:cNvPicPr/>
            <p:nvPr/>
          </p:nvPicPr>
          <p:blipFill>
            <a:blip r:embed="rId55" cstate="print"/>
            <a:stretch>
              <a:fillRect/>
            </a:stretch>
          </p:blipFill>
          <p:spPr>
            <a:xfrm>
              <a:off x="4282185" y="6564503"/>
              <a:ext cx="317753" cy="104394"/>
            </a:xfrm>
            <a:prstGeom prst="rect">
              <a:avLst/>
            </a:prstGeom>
          </p:spPr>
        </p:pic>
        <p:pic>
          <p:nvPicPr>
            <p:cNvPr id="77" name="object 77"/>
            <p:cNvPicPr/>
            <p:nvPr/>
          </p:nvPicPr>
          <p:blipFill>
            <a:blip r:embed="rId56" cstate="print"/>
            <a:stretch>
              <a:fillRect/>
            </a:stretch>
          </p:blipFill>
          <p:spPr>
            <a:xfrm>
              <a:off x="4668901" y="6595364"/>
              <a:ext cx="230377" cy="73533"/>
            </a:xfrm>
            <a:prstGeom prst="rect">
              <a:avLst/>
            </a:prstGeom>
          </p:spPr>
        </p:pic>
        <p:pic>
          <p:nvPicPr>
            <p:cNvPr id="78" name="object 78"/>
            <p:cNvPicPr/>
            <p:nvPr/>
          </p:nvPicPr>
          <p:blipFill>
            <a:blip r:embed="rId57" cstate="print"/>
            <a:stretch>
              <a:fillRect/>
            </a:stretch>
          </p:blipFill>
          <p:spPr>
            <a:xfrm>
              <a:off x="4962016" y="6563995"/>
              <a:ext cx="1150608" cy="130429"/>
            </a:xfrm>
            <a:prstGeom prst="rect">
              <a:avLst/>
            </a:prstGeom>
          </p:spPr>
        </p:pic>
        <p:sp>
          <p:nvSpPr>
            <p:cNvPr id="79" name="object 79"/>
            <p:cNvSpPr/>
            <p:nvPr/>
          </p:nvSpPr>
          <p:spPr>
            <a:xfrm>
              <a:off x="6186804" y="6564503"/>
              <a:ext cx="267335" cy="104775"/>
            </a:xfrm>
            <a:custGeom>
              <a:avLst/>
              <a:gdLst/>
              <a:ahLst/>
              <a:cxnLst/>
              <a:rect l="l" t="t" r="r" b="b"/>
              <a:pathLst>
                <a:path w="267335" h="104775">
                  <a:moveTo>
                    <a:pt x="64370" y="40767"/>
                  </a:moveTo>
                  <a:lnTo>
                    <a:pt x="37592" y="40767"/>
                  </a:lnTo>
                  <a:lnTo>
                    <a:pt x="40512" y="41148"/>
                  </a:lnTo>
                  <a:lnTo>
                    <a:pt x="45821" y="42545"/>
                  </a:lnTo>
                  <a:lnTo>
                    <a:pt x="45577" y="42545"/>
                  </a:lnTo>
                  <a:lnTo>
                    <a:pt x="47244" y="43434"/>
                  </a:lnTo>
                  <a:lnTo>
                    <a:pt x="48768" y="44704"/>
                  </a:lnTo>
                  <a:lnTo>
                    <a:pt x="53086" y="53975"/>
                  </a:lnTo>
                  <a:lnTo>
                    <a:pt x="53086" y="61722"/>
                  </a:lnTo>
                  <a:lnTo>
                    <a:pt x="35179" y="61722"/>
                  </a:lnTo>
                  <a:lnTo>
                    <a:pt x="29337" y="62230"/>
                  </a:lnTo>
                  <a:lnTo>
                    <a:pt x="19050" y="64008"/>
                  </a:lnTo>
                  <a:lnTo>
                    <a:pt x="14605" y="65405"/>
                  </a:lnTo>
                  <a:lnTo>
                    <a:pt x="11049" y="67310"/>
                  </a:lnTo>
                  <a:lnTo>
                    <a:pt x="7493" y="69088"/>
                  </a:lnTo>
                  <a:lnTo>
                    <a:pt x="5319" y="70866"/>
                  </a:lnTo>
                  <a:lnTo>
                    <a:pt x="4612" y="71501"/>
                  </a:lnTo>
                  <a:lnTo>
                    <a:pt x="889" y="76962"/>
                  </a:lnTo>
                  <a:lnTo>
                    <a:pt x="0" y="80264"/>
                  </a:lnTo>
                  <a:lnTo>
                    <a:pt x="0" y="87249"/>
                  </a:lnTo>
                  <a:lnTo>
                    <a:pt x="524" y="89662"/>
                  </a:lnTo>
                  <a:lnTo>
                    <a:pt x="635" y="90170"/>
                  </a:lnTo>
                  <a:lnTo>
                    <a:pt x="13627" y="102235"/>
                  </a:lnTo>
                  <a:lnTo>
                    <a:pt x="13842" y="102235"/>
                  </a:lnTo>
                  <a:lnTo>
                    <a:pt x="16891" y="102997"/>
                  </a:lnTo>
                  <a:lnTo>
                    <a:pt x="20447" y="104013"/>
                  </a:lnTo>
                  <a:lnTo>
                    <a:pt x="24384" y="104394"/>
                  </a:lnTo>
                  <a:lnTo>
                    <a:pt x="33782" y="104394"/>
                  </a:lnTo>
                  <a:lnTo>
                    <a:pt x="54676" y="94869"/>
                  </a:lnTo>
                  <a:lnTo>
                    <a:pt x="26289" y="94869"/>
                  </a:lnTo>
                  <a:lnTo>
                    <a:pt x="22479" y="93726"/>
                  </a:lnTo>
                  <a:lnTo>
                    <a:pt x="16891" y="89662"/>
                  </a:lnTo>
                  <a:lnTo>
                    <a:pt x="15621" y="86868"/>
                  </a:lnTo>
                  <a:lnTo>
                    <a:pt x="15621" y="81407"/>
                  </a:lnTo>
                  <a:lnTo>
                    <a:pt x="16002" y="79629"/>
                  </a:lnTo>
                  <a:lnTo>
                    <a:pt x="17018" y="77978"/>
                  </a:lnTo>
                  <a:lnTo>
                    <a:pt x="17907" y="76454"/>
                  </a:lnTo>
                  <a:lnTo>
                    <a:pt x="19431" y="75184"/>
                  </a:lnTo>
                  <a:lnTo>
                    <a:pt x="23495" y="72898"/>
                  </a:lnTo>
                  <a:lnTo>
                    <a:pt x="26035" y="72009"/>
                  </a:lnTo>
                  <a:lnTo>
                    <a:pt x="29083" y="71501"/>
                  </a:lnTo>
                  <a:lnTo>
                    <a:pt x="32258" y="70866"/>
                  </a:lnTo>
                  <a:lnTo>
                    <a:pt x="35814" y="70612"/>
                  </a:lnTo>
                  <a:lnTo>
                    <a:pt x="68199" y="70612"/>
                  </a:lnTo>
                  <a:lnTo>
                    <a:pt x="68176" y="51689"/>
                  </a:lnTo>
                  <a:lnTo>
                    <a:pt x="67564" y="48260"/>
                  </a:lnTo>
                  <a:lnTo>
                    <a:pt x="66421" y="45085"/>
                  </a:lnTo>
                  <a:lnTo>
                    <a:pt x="65278" y="42037"/>
                  </a:lnTo>
                  <a:lnTo>
                    <a:pt x="64370" y="40767"/>
                  </a:lnTo>
                  <a:close/>
                </a:path>
                <a:path w="267335" h="104775">
                  <a:moveTo>
                    <a:pt x="65405" y="103251"/>
                  </a:moveTo>
                  <a:lnTo>
                    <a:pt x="57785" y="103251"/>
                  </a:lnTo>
                  <a:lnTo>
                    <a:pt x="58800" y="103378"/>
                  </a:lnTo>
                  <a:lnTo>
                    <a:pt x="60071" y="103505"/>
                  </a:lnTo>
                  <a:lnTo>
                    <a:pt x="63246" y="103505"/>
                  </a:lnTo>
                  <a:lnTo>
                    <a:pt x="64516" y="103378"/>
                  </a:lnTo>
                  <a:lnTo>
                    <a:pt x="65405" y="103251"/>
                  </a:lnTo>
                  <a:close/>
                </a:path>
                <a:path w="267335" h="104775">
                  <a:moveTo>
                    <a:pt x="68199" y="94488"/>
                  </a:moveTo>
                  <a:lnTo>
                    <a:pt x="55118" y="94488"/>
                  </a:lnTo>
                  <a:lnTo>
                    <a:pt x="55245" y="102235"/>
                  </a:lnTo>
                  <a:lnTo>
                    <a:pt x="55753" y="102489"/>
                  </a:lnTo>
                  <a:lnTo>
                    <a:pt x="56134" y="102870"/>
                  </a:lnTo>
                  <a:lnTo>
                    <a:pt x="57276" y="103251"/>
                  </a:lnTo>
                  <a:lnTo>
                    <a:pt x="65976" y="103251"/>
                  </a:lnTo>
                  <a:lnTo>
                    <a:pt x="66929" y="102870"/>
                  </a:lnTo>
                  <a:lnTo>
                    <a:pt x="67437" y="102489"/>
                  </a:lnTo>
                  <a:lnTo>
                    <a:pt x="67945" y="102235"/>
                  </a:lnTo>
                  <a:lnTo>
                    <a:pt x="68199" y="101854"/>
                  </a:lnTo>
                  <a:lnTo>
                    <a:pt x="68199" y="94488"/>
                  </a:lnTo>
                  <a:close/>
                </a:path>
                <a:path w="267335" h="104775">
                  <a:moveTo>
                    <a:pt x="68199" y="70612"/>
                  </a:moveTo>
                  <a:lnTo>
                    <a:pt x="53086" y="70612"/>
                  </a:lnTo>
                  <a:lnTo>
                    <a:pt x="53086" y="84836"/>
                  </a:lnTo>
                  <a:lnTo>
                    <a:pt x="49275" y="88265"/>
                  </a:lnTo>
                  <a:lnTo>
                    <a:pt x="45720" y="90678"/>
                  </a:lnTo>
                  <a:lnTo>
                    <a:pt x="38862" y="93980"/>
                  </a:lnTo>
                  <a:lnTo>
                    <a:pt x="35179" y="94869"/>
                  </a:lnTo>
                  <a:lnTo>
                    <a:pt x="54676" y="94869"/>
                  </a:lnTo>
                  <a:lnTo>
                    <a:pt x="55118" y="94488"/>
                  </a:lnTo>
                  <a:lnTo>
                    <a:pt x="68199" y="94488"/>
                  </a:lnTo>
                  <a:lnTo>
                    <a:pt x="68199" y="70612"/>
                  </a:lnTo>
                  <a:close/>
                </a:path>
                <a:path w="267335" h="104775">
                  <a:moveTo>
                    <a:pt x="41402" y="30861"/>
                  </a:moveTo>
                  <a:lnTo>
                    <a:pt x="32258" y="30861"/>
                  </a:lnTo>
                  <a:lnTo>
                    <a:pt x="29083" y="30988"/>
                  </a:lnTo>
                  <a:lnTo>
                    <a:pt x="5969" y="37973"/>
                  </a:lnTo>
                  <a:lnTo>
                    <a:pt x="5080" y="38608"/>
                  </a:lnTo>
                  <a:lnTo>
                    <a:pt x="4572" y="39243"/>
                  </a:lnTo>
                  <a:lnTo>
                    <a:pt x="4572" y="46101"/>
                  </a:lnTo>
                  <a:lnTo>
                    <a:pt x="5080" y="46863"/>
                  </a:lnTo>
                  <a:lnTo>
                    <a:pt x="5461" y="47244"/>
                  </a:lnTo>
                  <a:lnTo>
                    <a:pt x="5842" y="47371"/>
                  </a:lnTo>
                  <a:lnTo>
                    <a:pt x="6223" y="47625"/>
                  </a:lnTo>
                  <a:lnTo>
                    <a:pt x="6604" y="47752"/>
                  </a:lnTo>
                  <a:lnTo>
                    <a:pt x="7874" y="47752"/>
                  </a:lnTo>
                  <a:lnTo>
                    <a:pt x="8890" y="47371"/>
                  </a:lnTo>
                  <a:lnTo>
                    <a:pt x="11937" y="45847"/>
                  </a:lnTo>
                  <a:lnTo>
                    <a:pt x="16129" y="44196"/>
                  </a:lnTo>
                  <a:lnTo>
                    <a:pt x="18287" y="43434"/>
                  </a:lnTo>
                  <a:lnTo>
                    <a:pt x="20955" y="42545"/>
                  </a:lnTo>
                  <a:lnTo>
                    <a:pt x="23875" y="41910"/>
                  </a:lnTo>
                  <a:lnTo>
                    <a:pt x="26924" y="41148"/>
                  </a:lnTo>
                  <a:lnTo>
                    <a:pt x="30225" y="40767"/>
                  </a:lnTo>
                  <a:lnTo>
                    <a:pt x="64370" y="40767"/>
                  </a:lnTo>
                  <a:lnTo>
                    <a:pt x="63373" y="39370"/>
                  </a:lnTo>
                  <a:lnTo>
                    <a:pt x="60833" y="37211"/>
                  </a:lnTo>
                  <a:lnTo>
                    <a:pt x="58166" y="35179"/>
                  </a:lnTo>
                  <a:lnTo>
                    <a:pt x="54864" y="33528"/>
                  </a:lnTo>
                  <a:lnTo>
                    <a:pt x="50673" y="32512"/>
                  </a:lnTo>
                  <a:lnTo>
                    <a:pt x="46482" y="31369"/>
                  </a:lnTo>
                  <a:lnTo>
                    <a:pt x="41402" y="30861"/>
                  </a:lnTo>
                  <a:close/>
                </a:path>
                <a:path w="267335" h="104775">
                  <a:moveTo>
                    <a:pt x="106934" y="103251"/>
                  </a:moveTo>
                  <a:lnTo>
                    <a:pt x="99441" y="103251"/>
                  </a:lnTo>
                  <a:lnTo>
                    <a:pt x="100330" y="103378"/>
                  </a:lnTo>
                  <a:lnTo>
                    <a:pt x="101600" y="103505"/>
                  </a:lnTo>
                  <a:lnTo>
                    <a:pt x="104648" y="103505"/>
                  </a:lnTo>
                  <a:lnTo>
                    <a:pt x="105918" y="103378"/>
                  </a:lnTo>
                  <a:lnTo>
                    <a:pt x="106934" y="103251"/>
                  </a:lnTo>
                  <a:close/>
                </a:path>
                <a:path w="267335" h="104775">
                  <a:moveTo>
                    <a:pt x="163195" y="103251"/>
                  </a:moveTo>
                  <a:lnTo>
                    <a:pt x="155702" y="103251"/>
                  </a:lnTo>
                  <a:lnTo>
                    <a:pt x="156718" y="103378"/>
                  </a:lnTo>
                  <a:lnTo>
                    <a:pt x="157987" y="103505"/>
                  </a:lnTo>
                  <a:lnTo>
                    <a:pt x="160909" y="103505"/>
                  </a:lnTo>
                  <a:lnTo>
                    <a:pt x="162179" y="103378"/>
                  </a:lnTo>
                  <a:lnTo>
                    <a:pt x="163195" y="103251"/>
                  </a:lnTo>
                  <a:close/>
                </a:path>
                <a:path w="267335" h="104775">
                  <a:moveTo>
                    <a:pt x="107442" y="32131"/>
                  </a:moveTo>
                  <a:lnTo>
                    <a:pt x="97409" y="32131"/>
                  </a:lnTo>
                  <a:lnTo>
                    <a:pt x="96393" y="32639"/>
                  </a:lnTo>
                  <a:lnTo>
                    <a:pt x="96012" y="32893"/>
                  </a:lnTo>
                  <a:lnTo>
                    <a:pt x="96012" y="102362"/>
                  </a:lnTo>
                  <a:lnTo>
                    <a:pt x="97028" y="102870"/>
                  </a:lnTo>
                  <a:lnTo>
                    <a:pt x="97662" y="102997"/>
                  </a:lnTo>
                  <a:lnTo>
                    <a:pt x="98425" y="103251"/>
                  </a:lnTo>
                  <a:lnTo>
                    <a:pt x="107823" y="103251"/>
                  </a:lnTo>
                  <a:lnTo>
                    <a:pt x="108585" y="102997"/>
                  </a:lnTo>
                  <a:lnTo>
                    <a:pt x="109220" y="102870"/>
                  </a:lnTo>
                  <a:lnTo>
                    <a:pt x="109728" y="102616"/>
                  </a:lnTo>
                  <a:lnTo>
                    <a:pt x="110109" y="102362"/>
                  </a:lnTo>
                  <a:lnTo>
                    <a:pt x="110617" y="101854"/>
                  </a:lnTo>
                  <a:lnTo>
                    <a:pt x="110744" y="54356"/>
                  </a:lnTo>
                  <a:lnTo>
                    <a:pt x="114935" y="50165"/>
                  </a:lnTo>
                  <a:lnTo>
                    <a:pt x="118872" y="46863"/>
                  </a:lnTo>
                  <a:lnTo>
                    <a:pt x="122682" y="44704"/>
                  </a:lnTo>
                  <a:lnTo>
                    <a:pt x="125692" y="43053"/>
                  </a:lnTo>
                  <a:lnTo>
                    <a:pt x="109220" y="43053"/>
                  </a:lnTo>
                  <a:lnTo>
                    <a:pt x="109220" y="33401"/>
                  </a:lnTo>
                  <a:lnTo>
                    <a:pt x="108712" y="32893"/>
                  </a:lnTo>
                  <a:lnTo>
                    <a:pt x="107950" y="32385"/>
                  </a:lnTo>
                  <a:lnTo>
                    <a:pt x="107442" y="32131"/>
                  </a:lnTo>
                  <a:close/>
                </a:path>
                <a:path w="267335" h="104775">
                  <a:moveTo>
                    <a:pt x="162585" y="41402"/>
                  </a:moveTo>
                  <a:lnTo>
                    <a:pt x="137160" y="41402"/>
                  </a:lnTo>
                  <a:lnTo>
                    <a:pt x="139700" y="41910"/>
                  </a:lnTo>
                  <a:lnTo>
                    <a:pt x="144272" y="43688"/>
                  </a:lnTo>
                  <a:lnTo>
                    <a:pt x="151892" y="101854"/>
                  </a:lnTo>
                  <a:lnTo>
                    <a:pt x="152400" y="102362"/>
                  </a:lnTo>
                  <a:lnTo>
                    <a:pt x="152781" y="102616"/>
                  </a:lnTo>
                  <a:lnTo>
                    <a:pt x="153416" y="102870"/>
                  </a:lnTo>
                  <a:lnTo>
                    <a:pt x="153924" y="102997"/>
                  </a:lnTo>
                  <a:lnTo>
                    <a:pt x="154686" y="103251"/>
                  </a:lnTo>
                  <a:lnTo>
                    <a:pt x="164084" y="103251"/>
                  </a:lnTo>
                  <a:lnTo>
                    <a:pt x="165481" y="102870"/>
                  </a:lnTo>
                  <a:lnTo>
                    <a:pt x="165989" y="102616"/>
                  </a:lnTo>
                  <a:lnTo>
                    <a:pt x="166370" y="102362"/>
                  </a:lnTo>
                  <a:lnTo>
                    <a:pt x="166878" y="101854"/>
                  </a:lnTo>
                  <a:lnTo>
                    <a:pt x="166862" y="54356"/>
                  </a:lnTo>
                  <a:lnTo>
                    <a:pt x="166497" y="51435"/>
                  </a:lnTo>
                  <a:lnTo>
                    <a:pt x="164543" y="44958"/>
                  </a:lnTo>
                  <a:lnTo>
                    <a:pt x="164465" y="44704"/>
                  </a:lnTo>
                  <a:lnTo>
                    <a:pt x="162814" y="41656"/>
                  </a:lnTo>
                  <a:lnTo>
                    <a:pt x="162585" y="41402"/>
                  </a:lnTo>
                  <a:close/>
                </a:path>
                <a:path w="267335" h="104775">
                  <a:moveTo>
                    <a:pt x="142875" y="30861"/>
                  </a:moveTo>
                  <a:lnTo>
                    <a:pt x="132587" y="30861"/>
                  </a:lnTo>
                  <a:lnTo>
                    <a:pt x="127889" y="31750"/>
                  </a:lnTo>
                  <a:lnTo>
                    <a:pt x="123190" y="33782"/>
                  </a:lnTo>
                  <a:lnTo>
                    <a:pt x="118618" y="35687"/>
                  </a:lnTo>
                  <a:lnTo>
                    <a:pt x="113919" y="38862"/>
                  </a:lnTo>
                  <a:lnTo>
                    <a:pt x="109220" y="43053"/>
                  </a:lnTo>
                  <a:lnTo>
                    <a:pt x="125692" y="43053"/>
                  </a:lnTo>
                  <a:lnTo>
                    <a:pt x="126619" y="42545"/>
                  </a:lnTo>
                  <a:lnTo>
                    <a:pt x="130429" y="41402"/>
                  </a:lnTo>
                  <a:lnTo>
                    <a:pt x="162585" y="41402"/>
                  </a:lnTo>
                  <a:lnTo>
                    <a:pt x="160528" y="39116"/>
                  </a:lnTo>
                  <a:lnTo>
                    <a:pt x="158115" y="36576"/>
                  </a:lnTo>
                  <a:lnTo>
                    <a:pt x="155067" y="34544"/>
                  </a:lnTo>
                  <a:lnTo>
                    <a:pt x="151257" y="33147"/>
                  </a:lnTo>
                  <a:lnTo>
                    <a:pt x="147880" y="31750"/>
                  </a:lnTo>
                  <a:lnTo>
                    <a:pt x="148357" y="31750"/>
                  </a:lnTo>
                  <a:lnTo>
                    <a:pt x="142875" y="30861"/>
                  </a:lnTo>
                  <a:close/>
                </a:path>
                <a:path w="267335" h="104775">
                  <a:moveTo>
                    <a:pt x="231521" y="30861"/>
                  </a:moveTo>
                  <a:lnTo>
                    <a:pt x="220853" y="30861"/>
                  </a:lnTo>
                  <a:lnTo>
                    <a:pt x="215646" y="31750"/>
                  </a:lnTo>
                  <a:lnTo>
                    <a:pt x="211200" y="33401"/>
                  </a:lnTo>
                  <a:lnTo>
                    <a:pt x="206756" y="35179"/>
                  </a:lnTo>
                  <a:lnTo>
                    <a:pt x="202946" y="37719"/>
                  </a:lnTo>
                  <a:lnTo>
                    <a:pt x="200137" y="40894"/>
                  </a:lnTo>
                  <a:lnTo>
                    <a:pt x="196977" y="44323"/>
                  </a:lnTo>
                  <a:lnTo>
                    <a:pt x="194691" y="48260"/>
                  </a:lnTo>
                  <a:lnTo>
                    <a:pt x="193167" y="52832"/>
                  </a:lnTo>
                  <a:lnTo>
                    <a:pt x="191643" y="57531"/>
                  </a:lnTo>
                  <a:lnTo>
                    <a:pt x="190881" y="62738"/>
                  </a:lnTo>
                  <a:lnTo>
                    <a:pt x="190949" y="73787"/>
                  </a:lnTo>
                  <a:lnTo>
                    <a:pt x="218567" y="104394"/>
                  </a:lnTo>
                  <a:lnTo>
                    <a:pt x="230250" y="104394"/>
                  </a:lnTo>
                  <a:lnTo>
                    <a:pt x="235331" y="103378"/>
                  </a:lnTo>
                  <a:lnTo>
                    <a:pt x="244729" y="99060"/>
                  </a:lnTo>
                  <a:lnTo>
                    <a:pt x="249300" y="96139"/>
                  </a:lnTo>
                  <a:lnTo>
                    <a:pt x="251819" y="93980"/>
                  </a:lnTo>
                  <a:lnTo>
                    <a:pt x="223266" y="93980"/>
                  </a:lnTo>
                  <a:lnTo>
                    <a:pt x="219964" y="93218"/>
                  </a:lnTo>
                  <a:lnTo>
                    <a:pt x="206629" y="70485"/>
                  </a:lnTo>
                  <a:lnTo>
                    <a:pt x="206629" y="64008"/>
                  </a:lnTo>
                  <a:lnTo>
                    <a:pt x="224028" y="41402"/>
                  </a:lnTo>
                  <a:lnTo>
                    <a:pt x="267131" y="41402"/>
                  </a:lnTo>
                  <a:lnTo>
                    <a:pt x="267131" y="40894"/>
                  </a:lnTo>
                  <a:lnTo>
                    <a:pt x="251968" y="40894"/>
                  </a:lnTo>
                  <a:lnTo>
                    <a:pt x="248031" y="37592"/>
                  </a:lnTo>
                  <a:lnTo>
                    <a:pt x="244170" y="35179"/>
                  </a:lnTo>
                  <a:lnTo>
                    <a:pt x="236256" y="31750"/>
                  </a:lnTo>
                  <a:lnTo>
                    <a:pt x="236706" y="31750"/>
                  </a:lnTo>
                  <a:lnTo>
                    <a:pt x="231521" y="30861"/>
                  </a:lnTo>
                  <a:close/>
                </a:path>
                <a:path w="267335" h="104775">
                  <a:moveTo>
                    <a:pt x="263779" y="103251"/>
                  </a:moveTo>
                  <a:lnTo>
                    <a:pt x="257429" y="103251"/>
                  </a:lnTo>
                  <a:lnTo>
                    <a:pt x="258191" y="103378"/>
                  </a:lnTo>
                  <a:lnTo>
                    <a:pt x="259334" y="103505"/>
                  </a:lnTo>
                  <a:lnTo>
                    <a:pt x="261874" y="103505"/>
                  </a:lnTo>
                  <a:lnTo>
                    <a:pt x="263779" y="103251"/>
                  </a:lnTo>
                  <a:close/>
                </a:path>
                <a:path w="267335" h="104775">
                  <a:moveTo>
                    <a:pt x="265811" y="102870"/>
                  </a:moveTo>
                  <a:lnTo>
                    <a:pt x="255270" y="102870"/>
                  </a:lnTo>
                  <a:lnTo>
                    <a:pt x="255778" y="102997"/>
                  </a:lnTo>
                  <a:lnTo>
                    <a:pt x="256540" y="103251"/>
                  </a:lnTo>
                  <a:lnTo>
                    <a:pt x="264668" y="103251"/>
                  </a:lnTo>
                  <a:lnTo>
                    <a:pt x="265303" y="102997"/>
                  </a:lnTo>
                  <a:lnTo>
                    <a:pt x="265811" y="102870"/>
                  </a:lnTo>
                  <a:close/>
                </a:path>
                <a:path w="267335" h="104775">
                  <a:moveTo>
                    <a:pt x="267196" y="92329"/>
                  </a:moveTo>
                  <a:lnTo>
                    <a:pt x="253746" y="92329"/>
                  </a:lnTo>
                  <a:lnTo>
                    <a:pt x="253873" y="101854"/>
                  </a:lnTo>
                  <a:lnTo>
                    <a:pt x="254000" y="102235"/>
                  </a:lnTo>
                  <a:lnTo>
                    <a:pt x="254254" y="102489"/>
                  </a:lnTo>
                  <a:lnTo>
                    <a:pt x="255015" y="102870"/>
                  </a:lnTo>
                  <a:lnTo>
                    <a:pt x="266128" y="102870"/>
                  </a:lnTo>
                  <a:lnTo>
                    <a:pt x="266700" y="102489"/>
                  </a:lnTo>
                  <a:lnTo>
                    <a:pt x="266954" y="102235"/>
                  </a:lnTo>
                  <a:lnTo>
                    <a:pt x="267081" y="101854"/>
                  </a:lnTo>
                  <a:lnTo>
                    <a:pt x="267196" y="92329"/>
                  </a:lnTo>
                  <a:close/>
                </a:path>
                <a:path w="267335" h="104775">
                  <a:moveTo>
                    <a:pt x="267131" y="41402"/>
                  </a:moveTo>
                  <a:lnTo>
                    <a:pt x="232156" y="41402"/>
                  </a:lnTo>
                  <a:lnTo>
                    <a:pt x="236093" y="42418"/>
                  </a:lnTo>
                  <a:lnTo>
                    <a:pt x="240030" y="44577"/>
                  </a:lnTo>
                  <a:lnTo>
                    <a:pt x="243840" y="46736"/>
                  </a:lnTo>
                  <a:lnTo>
                    <a:pt x="247777" y="49911"/>
                  </a:lnTo>
                  <a:lnTo>
                    <a:pt x="251968" y="53975"/>
                  </a:lnTo>
                  <a:lnTo>
                    <a:pt x="251968" y="80772"/>
                  </a:lnTo>
                  <a:lnTo>
                    <a:pt x="233172" y="93218"/>
                  </a:lnTo>
                  <a:lnTo>
                    <a:pt x="231267" y="93726"/>
                  </a:lnTo>
                  <a:lnTo>
                    <a:pt x="229362" y="93980"/>
                  </a:lnTo>
                  <a:lnTo>
                    <a:pt x="251819" y="93980"/>
                  </a:lnTo>
                  <a:lnTo>
                    <a:pt x="253746" y="92329"/>
                  </a:lnTo>
                  <a:lnTo>
                    <a:pt x="267196" y="92329"/>
                  </a:lnTo>
                  <a:lnTo>
                    <a:pt x="267131" y="41402"/>
                  </a:lnTo>
                  <a:close/>
                </a:path>
                <a:path w="267335" h="104775">
                  <a:moveTo>
                    <a:pt x="264540" y="0"/>
                  </a:moveTo>
                  <a:lnTo>
                    <a:pt x="254889" y="0"/>
                  </a:lnTo>
                  <a:lnTo>
                    <a:pt x="252857" y="381"/>
                  </a:lnTo>
                  <a:lnTo>
                    <a:pt x="252475" y="635"/>
                  </a:lnTo>
                  <a:lnTo>
                    <a:pt x="252222" y="1016"/>
                  </a:lnTo>
                  <a:lnTo>
                    <a:pt x="252095" y="1397"/>
                  </a:lnTo>
                  <a:lnTo>
                    <a:pt x="251968" y="40894"/>
                  </a:lnTo>
                  <a:lnTo>
                    <a:pt x="267131" y="40894"/>
                  </a:lnTo>
                  <a:lnTo>
                    <a:pt x="267081" y="1397"/>
                  </a:lnTo>
                  <a:lnTo>
                    <a:pt x="266573" y="635"/>
                  </a:lnTo>
                  <a:lnTo>
                    <a:pt x="266192" y="381"/>
                  </a:lnTo>
                  <a:lnTo>
                    <a:pt x="264540" y="0"/>
                  </a:lnTo>
                  <a:close/>
                </a:path>
              </a:pathLst>
            </a:custGeom>
            <a:solidFill>
              <a:srgbClr val="E4DCE6"/>
            </a:solidFill>
          </p:spPr>
          <p:txBody>
            <a:bodyPr wrap="square" lIns="0" tIns="0" rIns="0" bIns="0" rtlCol="0"/>
            <a:lstStyle/>
            <a:p>
              <a:endParaRPr/>
            </a:p>
          </p:txBody>
        </p:sp>
        <p:pic>
          <p:nvPicPr>
            <p:cNvPr id="80" name="object 80"/>
            <p:cNvPicPr/>
            <p:nvPr/>
          </p:nvPicPr>
          <p:blipFill>
            <a:blip r:embed="rId58" cstate="print"/>
            <a:stretch>
              <a:fillRect/>
            </a:stretch>
          </p:blipFill>
          <p:spPr>
            <a:xfrm>
              <a:off x="701890" y="6804914"/>
              <a:ext cx="749973" cy="130556"/>
            </a:xfrm>
            <a:prstGeom prst="rect">
              <a:avLst/>
            </a:prstGeom>
          </p:spPr>
        </p:pic>
      </p:grpSp>
      <p:grpSp>
        <p:nvGrpSpPr>
          <p:cNvPr id="81" name="object 81"/>
          <p:cNvGrpSpPr/>
          <p:nvPr/>
        </p:nvGrpSpPr>
        <p:grpSpPr>
          <a:xfrm>
            <a:off x="7391400" y="5150103"/>
            <a:ext cx="6705600" cy="1981200"/>
            <a:chOff x="7391400" y="5150103"/>
            <a:chExt cx="6705600" cy="1981200"/>
          </a:xfrm>
        </p:grpSpPr>
        <p:sp>
          <p:nvSpPr>
            <p:cNvPr id="82" name="object 82"/>
            <p:cNvSpPr/>
            <p:nvPr/>
          </p:nvSpPr>
          <p:spPr>
            <a:xfrm>
              <a:off x="7391400" y="5150103"/>
              <a:ext cx="6705600" cy="1981200"/>
            </a:xfrm>
            <a:custGeom>
              <a:avLst/>
              <a:gdLst/>
              <a:ahLst/>
              <a:cxnLst/>
              <a:rect l="l" t="t" r="r" b="b"/>
              <a:pathLst>
                <a:path w="6705600" h="1981200">
                  <a:moveTo>
                    <a:pt x="6641465" y="0"/>
                  </a:moveTo>
                  <a:lnTo>
                    <a:pt x="64134" y="0"/>
                  </a:lnTo>
                  <a:lnTo>
                    <a:pt x="39165" y="5038"/>
                  </a:lnTo>
                  <a:lnTo>
                    <a:pt x="18780" y="18780"/>
                  </a:lnTo>
                  <a:lnTo>
                    <a:pt x="5038" y="39165"/>
                  </a:lnTo>
                  <a:lnTo>
                    <a:pt x="0" y="64135"/>
                  </a:lnTo>
                  <a:lnTo>
                    <a:pt x="0" y="1917014"/>
                  </a:lnTo>
                  <a:lnTo>
                    <a:pt x="5038" y="1941996"/>
                  </a:lnTo>
                  <a:lnTo>
                    <a:pt x="18780" y="1962399"/>
                  </a:lnTo>
                  <a:lnTo>
                    <a:pt x="39165" y="1976155"/>
                  </a:lnTo>
                  <a:lnTo>
                    <a:pt x="64134" y="1981200"/>
                  </a:lnTo>
                  <a:lnTo>
                    <a:pt x="6641465" y="1981200"/>
                  </a:lnTo>
                  <a:lnTo>
                    <a:pt x="6666434" y="1976155"/>
                  </a:lnTo>
                  <a:lnTo>
                    <a:pt x="6686819" y="1962399"/>
                  </a:lnTo>
                  <a:lnTo>
                    <a:pt x="6700561" y="1941996"/>
                  </a:lnTo>
                  <a:lnTo>
                    <a:pt x="6705600" y="1917014"/>
                  </a:lnTo>
                  <a:lnTo>
                    <a:pt x="6705600" y="64135"/>
                  </a:lnTo>
                  <a:lnTo>
                    <a:pt x="6700561" y="39165"/>
                  </a:lnTo>
                  <a:lnTo>
                    <a:pt x="6686819" y="18780"/>
                  </a:lnTo>
                  <a:lnTo>
                    <a:pt x="6666434" y="5038"/>
                  </a:lnTo>
                  <a:lnTo>
                    <a:pt x="6641465" y="0"/>
                  </a:lnTo>
                  <a:close/>
                </a:path>
              </a:pathLst>
            </a:custGeom>
            <a:solidFill>
              <a:srgbClr val="282C5E"/>
            </a:solidFill>
          </p:spPr>
          <p:txBody>
            <a:bodyPr wrap="square" lIns="0" tIns="0" rIns="0" bIns="0" rtlCol="0"/>
            <a:lstStyle/>
            <a:p>
              <a:endParaRPr/>
            </a:p>
          </p:txBody>
        </p:sp>
        <p:sp>
          <p:nvSpPr>
            <p:cNvPr id="83" name="object 83"/>
            <p:cNvSpPr/>
            <p:nvPr/>
          </p:nvSpPr>
          <p:spPr>
            <a:xfrm>
              <a:off x="7543800" y="5302503"/>
              <a:ext cx="460375" cy="457200"/>
            </a:xfrm>
            <a:custGeom>
              <a:avLst/>
              <a:gdLst/>
              <a:ahLst/>
              <a:cxnLst/>
              <a:rect l="l" t="t" r="r" b="b"/>
              <a:pathLst>
                <a:path w="460375" h="457200">
                  <a:moveTo>
                    <a:pt x="231648" y="0"/>
                  </a:moveTo>
                  <a:lnTo>
                    <a:pt x="228600" y="0"/>
                  </a:lnTo>
                  <a:lnTo>
                    <a:pt x="182533" y="4644"/>
                  </a:lnTo>
                  <a:lnTo>
                    <a:pt x="139624" y="17966"/>
                  </a:lnTo>
                  <a:lnTo>
                    <a:pt x="100793" y="39045"/>
                  </a:lnTo>
                  <a:lnTo>
                    <a:pt x="66960" y="66960"/>
                  </a:lnTo>
                  <a:lnTo>
                    <a:pt x="39045" y="100793"/>
                  </a:lnTo>
                  <a:lnTo>
                    <a:pt x="17966" y="139624"/>
                  </a:lnTo>
                  <a:lnTo>
                    <a:pt x="4644" y="182533"/>
                  </a:lnTo>
                  <a:lnTo>
                    <a:pt x="0" y="228600"/>
                  </a:lnTo>
                  <a:lnTo>
                    <a:pt x="4644" y="274666"/>
                  </a:lnTo>
                  <a:lnTo>
                    <a:pt x="17966" y="317575"/>
                  </a:lnTo>
                  <a:lnTo>
                    <a:pt x="39045" y="356406"/>
                  </a:lnTo>
                  <a:lnTo>
                    <a:pt x="66960" y="390239"/>
                  </a:lnTo>
                  <a:lnTo>
                    <a:pt x="100793" y="418154"/>
                  </a:lnTo>
                  <a:lnTo>
                    <a:pt x="139624" y="439233"/>
                  </a:lnTo>
                  <a:lnTo>
                    <a:pt x="182533" y="452555"/>
                  </a:lnTo>
                  <a:lnTo>
                    <a:pt x="228600" y="457200"/>
                  </a:lnTo>
                  <a:lnTo>
                    <a:pt x="231648" y="457200"/>
                  </a:lnTo>
                  <a:lnTo>
                    <a:pt x="277714" y="452555"/>
                  </a:lnTo>
                  <a:lnTo>
                    <a:pt x="320623" y="439233"/>
                  </a:lnTo>
                  <a:lnTo>
                    <a:pt x="359454" y="418154"/>
                  </a:lnTo>
                  <a:lnTo>
                    <a:pt x="393287" y="390239"/>
                  </a:lnTo>
                  <a:lnTo>
                    <a:pt x="421202" y="356406"/>
                  </a:lnTo>
                  <a:lnTo>
                    <a:pt x="442281" y="317575"/>
                  </a:lnTo>
                  <a:lnTo>
                    <a:pt x="455603" y="274666"/>
                  </a:lnTo>
                  <a:lnTo>
                    <a:pt x="460248" y="228600"/>
                  </a:lnTo>
                  <a:lnTo>
                    <a:pt x="455603" y="182533"/>
                  </a:lnTo>
                  <a:lnTo>
                    <a:pt x="442281" y="139624"/>
                  </a:lnTo>
                  <a:lnTo>
                    <a:pt x="421202" y="100793"/>
                  </a:lnTo>
                  <a:lnTo>
                    <a:pt x="393287" y="66960"/>
                  </a:lnTo>
                  <a:lnTo>
                    <a:pt x="359454" y="39045"/>
                  </a:lnTo>
                  <a:lnTo>
                    <a:pt x="320623" y="17966"/>
                  </a:lnTo>
                  <a:lnTo>
                    <a:pt x="277714" y="4644"/>
                  </a:lnTo>
                  <a:lnTo>
                    <a:pt x="231648" y="0"/>
                  </a:lnTo>
                  <a:close/>
                </a:path>
              </a:pathLst>
            </a:custGeom>
            <a:solidFill>
              <a:srgbClr val="EDADF6"/>
            </a:solidFill>
          </p:spPr>
          <p:txBody>
            <a:bodyPr wrap="square" lIns="0" tIns="0" rIns="0" bIns="0" rtlCol="0"/>
            <a:lstStyle/>
            <a:p>
              <a:endParaRPr/>
            </a:p>
          </p:txBody>
        </p:sp>
        <p:pic>
          <p:nvPicPr>
            <p:cNvPr id="84" name="object 84"/>
            <p:cNvPicPr/>
            <p:nvPr/>
          </p:nvPicPr>
          <p:blipFill>
            <a:blip r:embed="rId4" cstate="print"/>
            <a:stretch>
              <a:fillRect/>
            </a:stretch>
          </p:blipFill>
          <p:spPr>
            <a:xfrm>
              <a:off x="7671815" y="5427471"/>
              <a:ext cx="204216" cy="207263"/>
            </a:xfrm>
            <a:prstGeom prst="rect">
              <a:avLst/>
            </a:prstGeom>
          </p:spPr>
        </p:pic>
        <p:pic>
          <p:nvPicPr>
            <p:cNvPr id="85" name="object 85"/>
            <p:cNvPicPr/>
            <p:nvPr/>
          </p:nvPicPr>
          <p:blipFill>
            <a:blip r:embed="rId59" cstate="print"/>
            <a:stretch>
              <a:fillRect/>
            </a:stretch>
          </p:blipFill>
          <p:spPr>
            <a:xfrm>
              <a:off x="7565126" y="5967983"/>
              <a:ext cx="448065" cy="131318"/>
            </a:xfrm>
            <a:prstGeom prst="rect">
              <a:avLst/>
            </a:prstGeom>
          </p:spPr>
        </p:pic>
        <p:sp>
          <p:nvSpPr>
            <p:cNvPr id="86" name="object 86"/>
            <p:cNvSpPr/>
            <p:nvPr/>
          </p:nvSpPr>
          <p:spPr>
            <a:xfrm>
              <a:off x="8030844" y="6044183"/>
              <a:ext cx="49530" cy="13335"/>
            </a:xfrm>
            <a:custGeom>
              <a:avLst/>
              <a:gdLst/>
              <a:ahLst/>
              <a:cxnLst/>
              <a:rect l="l" t="t" r="r" b="b"/>
              <a:pathLst>
                <a:path w="49529" h="13335">
                  <a:moveTo>
                    <a:pt x="46100" y="0"/>
                  </a:moveTo>
                  <a:lnTo>
                    <a:pt x="2412" y="0"/>
                  </a:lnTo>
                  <a:lnTo>
                    <a:pt x="1397" y="508"/>
                  </a:lnTo>
                  <a:lnTo>
                    <a:pt x="253" y="2413"/>
                  </a:lnTo>
                  <a:lnTo>
                    <a:pt x="0" y="4064"/>
                  </a:lnTo>
                  <a:lnTo>
                    <a:pt x="0" y="8763"/>
                  </a:lnTo>
                  <a:lnTo>
                    <a:pt x="253" y="10414"/>
                  </a:lnTo>
                  <a:lnTo>
                    <a:pt x="888" y="11303"/>
                  </a:lnTo>
                  <a:lnTo>
                    <a:pt x="1397" y="12319"/>
                  </a:lnTo>
                  <a:lnTo>
                    <a:pt x="2412" y="12827"/>
                  </a:lnTo>
                  <a:lnTo>
                    <a:pt x="46735" y="12827"/>
                  </a:lnTo>
                  <a:lnTo>
                    <a:pt x="47625" y="12319"/>
                  </a:lnTo>
                  <a:lnTo>
                    <a:pt x="48768" y="10414"/>
                  </a:lnTo>
                  <a:lnTo>
                    <a:pt x="49022" y="8763"/>
                  </a:lnTo>
                  <a:lnTo>
                    <a:pt x="49022" y="6350"/>
                  </a:lnTo>
                  <a:lnTo>
                    <a:pt x="49022" y="4191"/>
                  </a:lnTo>
                  <a:lnTo>
                    <a:pt x="48768" y="3429"/>
                  </a:lnTo>
                  <a:lnTo>
                    <a:pt x="48640" y="2540"/>
                  </a:lnTo>
                  <a:lnTo>
                    <a:pt x="48132" y="1397"/>
                  </a:lnTo>
                  <a:lnTo>
                    <a:pt x="47498" y="508"/>
                  </a:lnTo>
                  <a:lnTo>
                    <a:pt x="46989" y="381"/>
                  </a:lnTo>
                  <a:lnTo>
                    <a:pt x="46608" y="127"/>
                  </a:lnTo>
                  <a:lnTo>
                    <a:pt x="46100" y="0"/>
                  </a:lnTo>
                  <a:close/>
                </a:path>
              </a:pathLst>
            </a:custGeom>
            <a:solidFill>
              <a:srgbClr val="E4DCE6"/>
            </a:solidFill>
          </p:spPr>
          <p:txBody>
            <a:bodyPr wrap="square" lIns="0" tIns="0" rIns="0" bIns="0" rtlCol="0"/>
            <a:lstStyle/>
            <a:p>
              <a:endParaRPr/>
            </a:p>
          </p:txBody>
        </p:sp>
        <p:pic>
          <p:nvPicPr>
            <p:cNvPr id="87" name="object 87"/>
            <p:cNvPicPr/>
            <p:nvPr/>
          </p:nvPicPr>
          <p:blipFill>
            <a:blip r:embed="rId60" cstate="print"/>
            <a:stretch>
              <a:fillRect/>
            </a:stretch>
          </p:blipFill>
          <p:spPr>
            <a:xfrm>
              <a:off x="8107172" y="5977127"/>
              <a:ext cx="579247" cy="154051"/>
            </a:xfrm>
            <a:prstGeom prst="rect">
              <a:avLst/>
            </a:prstGeom>
          </p:spPr>
        </p:pic>
        <p:pic>
          <p:nvPicPr>
            <p:cNvPr id="88" name="object 88"/>
            <p:cNvPicPr/>
            <p:nvPr/>
          </p:nvPicPr>
          <p:blipFill>
            <a:blip r:embed="rId61" cstate="print"/>
            <a:stretch>
              <a:fillRect/>
            </a:stretch>
          </p:blipFill>
          <p:spPr>
            <a:xfrm>
              <a:off x="7554087" y="6317995"/>
              <a:ext cx="756691" cy="105537"/>
            </a:xfrm>
            <a:prstGeom prst="rect">
              <a:avLst/>
            </a:prstGeom>
          </p:spPr>
        </p:pic>
        <p:pic>
          <p:nvPicPr>
            <p:cNvPr id="89" name="object 89"/>
            <p:cNvPicPr/>
            <p:nvPr/>
          </p:nvPicPr>
          <p:blipFill>
            <a:blip r:embed="rId62" cstate="print"/>
            <a:stretch>
              <a:fillRect/>
            </a:stretch>
          </p:blipFill>
          <p:spPr>
            <a:xfrm>
              <a:off x="8366941" y="6323329"/>
              <a:ext cx="606116" cy="125730"/>
            </a:xfrm>
            <a:prstGeom prst="rect">
              <a:avLst/>
            </a:prstGeom>
          </p:spPr>
        </p:pic>
        <p:pic>
          <p:nvPicPr>
            <p:cNvPr id="90" name="object 90"/>
            <p:cNvPicPr/>
            <p:nvPr/>
          </p:nvPicPr>
          <p:blipFill>
            <a:blip r:embed="rId63" cstate="print"/>
            <a:stretch>
              <a:fillRect/>
            </a:stretch>
          </p:blipFill>
          <p:spPr>
            <a:xfrm>
              <a:off x="9049004" y="6325488"/>
              <a:ext cx="237236" cy="98043"/>
            </a:xfrm>
            <a:prstGeom prst="rect">
              <a:avLst/>
            </a:prstGeom>
          </p:spPr>
        </p:pic>
        <p:pic>
          <p:nvPicPr>
            <p:cNvPr id="91" name="object 91"/>
            <p:cNvPicPr/>
            <p:nvPr/>
          </p:nvPicPr>
          <p:blipFill>
            <a:blip r:embed="rId64" cstate="print"/>
            <a:stretch>
              <a:fillRect/>
            </a:stretch>
          </p:blipFill>
          <p:spPr>
            <a:xfrm>
              <a:off x="9356598" y="6333108"/>
              <a:ext cx="844042" cy="90424"/>
            </a:xfrm>
            <a:prstGeom prst="rect">
              <a:avLst/>
            </a:prstGeom>
          </p:spPr>
        </p:pic>
        <p:pic>
          <p:nvPicPr>
            <p:cNvPr id="92" name="object 92"/>
            <p:cNvPicPr/>
            <p:nvPr/>
          </p:nvPicPr>
          <p:blipFill>
            <a:blip r:embed="rId65" cstate="print"/>
            <a:stretch>
              <a:fillRect/>
            </a:stretch>
          </p:blipFill>
          <p:spPr>
            <a:xfrm>
              <a:off x="10273664" y="6318757"/>
              <a:ext cx="686815" cy="130302"/>
            </a:xfrm>
            <a:prstGeom prst="rect">
              <a:avLst/>
            </a:prstGeom>
          </p:spPr>
        </p:pic>
        <p:pic>
          <p:nvPicPr>
            <p:cNvPr id="93" name="object 93"/>
            <p:cNvPicPr/>
            <p:nvPr/>
          </p:nvPicPr>
          <p:blipFill>
            <a:blip r:embed="rId66" cstate="print"/>
            <a:stretch>
              <a:fillRect/>
            </a:stretch>
          </p:blipFill>
          <p:spPr>
            <a:xfrm>
              <a:off x="11032490" y="6318757"/>
              <a:ext cx="811783" cy="130302"/>
            </a:xfrm>
            <a:prstGeom prst="rect">
              <a:avLst/>
            </a:prstGeom>
          </p:spPr>
        </p:pic>
        <p:sp>
          <p:nvSpPr>
            <p:cNvPr id="94" name="object 94"/>
            <p:cNvSpPr/>
            <p:nvPr/>
          </p:nvSpPr>
          <p:spPr>
            <a:xfrm>
              <a:off x="11908409" y="6318757"/>
              <a:ext cx="295910" cy="104775"/>
            </a:xfrm>
            <a:custGeom>
              <a:avLst/>
              <a:gdLst/>
              <a:ahLst/>
              <a:cxnLst/>
              <a:rect l="l" t="t" r="r" b="b"/>
              <a:pathLst>
                <a:path w="295909" h="104775">
                  <a:moveTo>
                    <a:pt x="51689" y="17907"/>
                  </a:moveTo>
                  <a:lnTo>
                    <a:pt x="36068" y="17907"/>
                  </a:lnTo>
                  <a:lnTo>
                    <a:pt x="36195" y="102235"/>
                  </a:lnTo>
                  <a:lnTo>
                    <a:pt x="36702" y="102743"/>
                  </a:lnTo>
                  <a:lnTo>
                    <a:pt x="37084" y="102997"/>
                  </a:lnTo>
                  <a:lnTo>
                    <a:pt x="37719" y="103251"/>
                  </a:lnTo>
                  <a:lnTo>
                    <a:pt x="39814" y="103632"/>
                  </a:lnTo>
                  <a:lnTo>
                    <a:pt x="40132" y="103632"/>
                  </a:lnTo>
                  <a:lnTo>
                    <a:pt x="41148" y="103759"/>
                  </a:lnTo>
                  <a:lnTo>
                    <a:pt x="46736" y="103759"/>
                  </a:lnTo>
                  <a:lnTo>
                    <a:pt x="50461" y="103251"/>
                  </a:lnTo>
                  <a:lnTo>
                    <a:pt x="50038" y="103251"/>
                  </a:lnTo>
                  <a:lnTo>
                    <a:pt x="50673" y="102997"/>
                  </a:lnTo>
                  <a:lnTo>
                    <a:pt x="51054" y="102743"/>
                  </a:lnTo>
                  <a:lnTo>
                    <a:pt x="51562" y="102235"/>
                  </a:lnTo>
                  <a:lnTo>
                    <a:pt x="51689" y="17907"/>
                  </a:lnTo>
                  <a:close/>
                </a:path>
                <a:path w="295909" h="104775">
                  <a:moveTo>
                    <a:pt x="85343" y="7112"/>
                  </a:moveTo>
                  <a:lnTo>
                    <a:pt x="2540" y="7112"/>
                  </a:lnTo>
                  <a:lnTo>
                    <a:pt x="1777" y="7366"/>
                  </a:lnTo>
                  <a:lnTo>
                    <a:pt x="1016" y="7874"/>
                  </a:lnTo>
                  <a:lnTo>
                    <a:pt x="762" y="8382"/>
                  </a:lnTo>
                  <a:lnTo>
                    <a:pt x="508" y="8763"/>
                  </a:lnTo>
                  <a:lnTo>
                    <a:pt x="381" y="9398"/>
                  </a:lnTo>
                  <a:lnTo>
                    <a:pt x="254" y="10160"/>
                  </a:lnTo>
                  <a:lnTo>
                    <a:pt x="0" y="10795"/>
                  </a:lnTo>
                  <a:lnTo>
                    <a:pt x="0" y="14351"/>
                  </a:lnTo>
                  <a:lnTo>
                    <a:pt x="254" y="14986"/>
                  </a:lnTo>
                  <a:lnTo>
                    <a:pt x="381" y="15748"/>
                  </a:lnTo>
                  <a:lnTo>
                    <a:pt x="508" y="16256"/>
                  </a:lnTo>
                  <a:lnTo>
                    <a:pt x="762" y="16764"/>
                  </a:lnTo>
                  <a:lnTo>
                    <a:pt x="1016" y="17145"/>
                  </a:lnTo>
                  <a:lnTo>
                    <a:pt x="2159" y="17907"/>
                  </a:lnTo>
                  <a:lnTo>
                    <a:pt x="85725" y="17907"/>
                  </a:lnTo>
                  <a:lnTo>
                    <a:pt x="87641" y="14986"/>
                  </a:lnTo>
                  <a:lnTo>
                    <a:pt x="87630" y="10160"/>
                  </a:lnTo>
                  <a:lnTo>
                    <a:pt x="87491" y="9398"/>
                  </a:lnTo>
                  <a:lnTo>
                    <a:pt x="87375" y="8763"/>
                  </a:lnTo>
                  <a:lnTo>
                    <a:pt x="87122" y="8382"/>
                  </a:lnTo>
                  <a:lnTo>
                    <a:pt x="86741" y="7874"/>
                  </a:lnTo>
                  <a:lnTo>
                    <a:pt x="86487" y="7620"/>
                  </a:lnTo>
                  <a:lnTo>
                    <a:pt x="86106" y="7366"/>
                  </a:lnTo>
                  <a:lnTo>
                    <a:pt x="85343" y="7112"/>
                  </a:lnTo>
                  <a:close/>
                </a:path>
                <a:path w="295909" h="104775">
                  <a:moveTo>
                    <a:pt x="113538" y="103632"/>
                  </a:moveTo>
                  <a:lnTo>
                    <a:pt x="106172" y="103632"/>
                  </a:lnTo>
                  <a:lnTo>
                    <a:pt x="107188" y="103759"/>
                  </a:lnTo>
                  <a:lnTo>
                    <a:pt x="112649" y="103759"/>
                  </a:lnTo>
                  <a:lnTo>
                    <a:pt x="113538" y="103632"/>
                  </a:lnTo>
                  <a:close/>
                </a:path>
                <a:path w="295909" h="104775">
                  <a:moveTo>
                    <a:pt x="168910" y="103632"/>
                  </a:moveTo>
                  <a:lnTo>
                    <a:pt x="161544" y="103632"/>
                  </a:lnTo>
                  <a:lnTo>
                    <a:pt x="162560" y="103759"/>
                  </a:lnTo>
                  <a:lnTo>
                    <a:pt x="168021" y="103759"/>
                  </a:lnTo>
                  <a:lnTo>
                    <a:pt x="168910" y="103632"/>
                  </a:lnTo>
                  <a:close/>
                </a:path>
                <a:path w="295909" h="104775">
                  <a:moveTo>
                    <a:pt x="114554" y="0"/>
                  </a:moveTo>
                  <a:lnTo>
                    <a:pt x="105283" y="0"/>
                  </a:lnTo>
                  <a:lnTo>
                    <a:pt x="103886" y="254"/>
                  </a:lnTo>
                  <a:lnTo>
                    <a:pt x="103377" y="508"/>
                  </a:lnTo>
                  <a:lnTo>
                    <a:pt x="102997" y="762"/>
                  </a:lnTo>
                  <a:lnTo>
                    <a:pt x="102743" y="1016"/>
                  </a:lnTo>
                  <a:lnTo>
                    <a:pt x="102489" y="1397"/>
                  </a:lnTo>
                  <a:lnTo>
                    <a:pt x="102489" y="102235"/>
                  </a:lnTo>
                  <a:lnTo>
                    <a:pt x="102997" y="102743"/>
                  </a:lnTo>
                  <a:lnTo>
                    <a:pt x="103377" y="102997"/>
                  </a:lnTo>
                  <a:lnTo>
                    <a:pt x="103886" y="103251"/>
                  </a:lnTo>
                  <a:lnTo>
                    <a:pt x="104521" y="103378"/>
                  </a:lnTo>
                  <a:lnTo>
                    <a:pt x="105283" y="103632"/>
                  </a:lnTo>
                  <a:lnTo>
                    <a:pt x="114554" y="103632"/>
                  </a:lnTo>
                  <a:lnTo>
                    <a:pt x="115316" y="103378"/>
                  </a:lnTo>
                  <a:lnTo>
                    <a:pt x="115824" y="103251"/>
                  </a:lnTo>
                  <a:lnTo>
                    <a:pt x="116840" y="102743"/>
                  </a:lnTo>
                  <a:lnTo>
                    <a:pt x="116967" y="102489"/>
                  </a:lnTo>
                  <a:lnTo>
                    <a:pt x="117221" y="102235"/>
                  </a:lnTo>
                  <a:lnTo>
                    <a:pt x="117348" y="54737"/>
                  </a:lnTo>
                  <a:lnTo>
                    <a:pt x="135015" y="42291"/>
                  </a:lnTo>
                  <a:lnTo>
                    <a:pt x="117348" y="42291"/>
                  </a:lnTo>
                  <a:lnTo>
                    <a:pt x="117313" y="31242"/>
                  </a:lnTo>
                  <a:lnTo>
                    <a:pt x="117221" y="1397"/>
                  </a:lnTo>
                  <a:lnTo>
                    <a:pt x="116967" y="1016"/>
                  </a:lnTo>
                  <a:lnTo>
                    <a:pt x="116840" y="762"/>
                  </a:lnTo>
                  <a:lnTo>
                    <a:pt x="115824" y="254"/>
                  </a:lnTo>
                  <a:lnTo>
                    <a:pt x="116077" y="254"/>
                  </a:lnTo>
                  <a:lnTo>
                    <a:pt x="114554" y="0"/>
                  </a:lnTo>
                  <a:close/>
                </a:path>
                <a:path w="295909" h="104775">
                  <a:moveTo>
                    <a:pt x="168427" y="41783"/>
                  </a:moveTo>
                  <a:lnTo>
                    <a:pt x="143383" y="41783"/>
                  </a:lnTo>
                  <a:lnTo>
                    <a:pt x="145923" y="42291"/>
                  </a:lnTo>
                  <a:lnTo>
                    <a:pt x="148082" y="43180"/>
                  </a:lnTo>
                  <a:lnTo>
                    <a:pt x="157861" y="102235"/>
                  </a:lnTo>
                  <a:lnTo>
                    <a:pt x="158369" y="102743"/>
                  </a:lnTo>
                  <a:lnTo>
                    <a:pt x="158750" y="102997"/>
                  </a:lnTo>
                  <a:lnTo>
                    <a:pt x="159385" y="103251"/>
                  </a:lnTo>
                  <a:lnTo>
                    <a:pt x="159893" y="103378"/>
                  </a:lnTo>
                  <a:lnTo>
                    <a:pt x="160655" y="103632"/>
                  </a:lnTo>
                  <a:lnTo>
                    <a:pt x="169925" y="103632"/>
                  </a:lnTo>
                  <a:lnTo>
                    <a:pt x="170688" y="103378"/>
                  </a:lnTo>
                  <a:lnTo>
                    <a:pt x="171196" y="103251"/>
                  </a:lnTo>
                  <a:lnTo>
                    <a:pt x="171831" y="102997"/>
                  </a:lnTo>
                  <a:lnTo>
                    <a:pt x="172212" y="102743"/>
                  </a:lnTo>
                  <a:lnTo>
                    <a:pt x="172466" y="102489"/>
                  </a:lnTo>
                  <a:lnTo>
                    <a:pt x="172577" y="54737"/>
                  </a:lnTo>
                  <a:lnTo>
                    <a:pt x="172212" y="51816"/>
                  </a:lnTo>
                  <a:lnTo>
                    <a:pt x="171421" y="48768"/>
                  </a:lnTo>
                  <a:lnTo>
                    <a:pt x="171323" y="48387"/>
                  </a:lnTo>
                  <a:lnTo>
                    <a:pt x="170385" y="45339"/>
                  </a:lnTo>
                  <a:lnTo>
                    <a:pt x="170307" y="45085"/>
                  </a:lnTo>
                  <a:lnTo>
                    <a:pt x="168656" y="42037"/>
                  </a:lnTo>
                  <a:lnTo>
                    <a:pt x="168427" y="41783"/>
                  </a:lnTo>
                  <a:close/>
                </a:path>
                <a:path w="295909" h="104775">
                  <a:moveTo>
                    <a:pt x="148971" y="31242"/>
                  </a:moveTo>
                  <a:lnTo>
                    <a:pt x="139065" y="31242"/>
                  </a:lnTo>
                  <a:lnTo>
                    <a:pt x="134747" y="32131"/>
                  </a:lnTo>
                  <a:lnTo>
                    <a:pt x="130429" y="33909"/>
                  </a:lnTo>
                  <a:lnTo>
                    <a:pt x="125984" y="35687"/>
                  </a:lnTo>
                  <a:lnTo>
                    <a:pt x="121666" y="38481"/>
                  </a:lnTo>
                  <a:lnTo>
                    <a:pt x="117199" y="42291"/>
                  </a:lnTo>
                  <a:lnTo>
                    <a:pt x="135015" y="42291"/>
                  </a:lnTo>
                  <a:lnTo>
                    <a:pt x="136651" y="41783"/>
                  </a:lnTo>
                  <a:lnTo>
                    <a:pt x="168427" y="41783"/>
                  </a:lnTo>
                  <a:lnTo>
                    <a:pt x="164084" y="36957"/>
                  </a:lnTo>
                  <a:lnTo>
                    <a:pt x="161036" y="34925"/>
                  </a:lnTo>
                  <a:lnTo>
                    <a:pt x="157225" y="33528"/>
                  </a:lnTo>
                  <a:lnTo>
                    <a:pt x="153849" y="32131"/>
                  </a:lnTo>
                  <a:lnTo>
                    <a:pt x="154304" y="32131"/>
                  </a:lnTo>
                  <a:lnTo>
                    <a:pt x="148971" y="31242"/>
                  </a:lnTo>
                  <a:close/>
                </a:path>
                <a:path w="295909" h="104775">
                  <a:moveTo>
                    <a:pt x="211074" y="103632"/>
                  </a:moveTo>
                  <a:lnTo>
                    <a:pt x="203708" y="103632"/>
                  </a:lnTo>
                  <a:lnTo>
                    <a:pt x="204724" y="103759"/>
                  </a:lnTo>
                  <a:lnTo>
                    <a:pt x="210185" y="103759"/>
                  </a:lnTo>
                  <a:lnTo>
                    <a:pt x="211074" y="103632"/>
                  </a:lnTo>
                  <a:close/>
                </a:path>
                <a:path w="295909" h="104775">
                  <a:moveTo>
                    <a:pt x="213868" y="33020"/>
                  </a:moveTo>
                  <a:lnTo>
                    <a:pt x="200914" y="33020"/>
                  </a:lnTo>
                  <a:lnTo>
                    <a:pt x="200533" y="33274"/>
                  </a:lnTo>
                  <a:lnTo>
                    <a:pt x="200279" y="33528"/>
                  </a:lnTo>
                  <a:lnTo>
                    <a:pt x="200025" y="33909"/>
                  </a:lnTo>
                  <a:lnTo>
                    <a:pt x="200025" y="102235"/>
                  </a:lnTo>
                  <a:lnTo>
                    <a:pt x="200533" y="102743"/>
                  </a:lnTo>
                  <a:lnTo>
                    <a:pt x="200914" y="102997"/>
                  </a:lnTo>
                  <a:lnTo>
                    <a:pt x="201422" y="103251"/>
                  </a:lnTo>
                  <a:lnTo>
                    <a:pt x="202057" y="103378"/>
                  </a:lnTo>
                  <a:lnTo>
                    <a:pt x="202819" y="103632"/>
                  </a:lnTo>
                  <a:lnTo>
                    <a:pt x="212090" y="103632"/>
                  </a:lnTo>
                  <a:lnTo>
                    <a:pt x="212851" y="103378"/>
                  </a:lnTo>
                  <a:lnTo>
                    <a:pt x="213360" y="103251"/>
                  </a:lnTo>
                  <a:lnTo>
                    <a:pt x="214375" y="102743"/>
                  </a:lnTo>
                  <a:lnTo>
                    <a:pt x="214502" y="102489"/>
                  </a:lnTo>
                  <a:lnTo>
                    <a:pt x="214757" y="102235"/>
                  </a:lnTo>
                  <a:lnTo>
                    <a:pt x="214757" y="33909"/>
                  </a:lnTo>
                  <a:lnTo>
                    <a:pt x="214502" y="33528"/>
                  </a:lnTo>
                  <a:lnTo>
                    <a:pt x="214375" y="33274"/>
                  </a:lnTo>
                  <a:lnTo>
                    <a:pt x="213868" y="33020"/>
                  </a:lnTo>
                  <a:close/>
                </a:path>
                <a:path w="295909" h="104775">
                  <a:moveTo>
                    <a:pt x="212090" y="32512"/>
                  </a:moveTo>
                  <a:lnTo>
                    <a:pt x="202819" y="32512"/>
                  </a:lnTo>
                  <a:lnTo>
                    <a:pt x="202057" y="32639"/>
                  </a:lnTo>
                  <a:lnTo>
                    <a:pt x="201104" y="33020"/>
                  </a:lnTo>
                  <a:lnTo>
                    <a:pt x="213614" y="33020"/>
                  </a:lnTo>
                  <a:lnTo>
                    <a:pt x="212851" y="32639"/>
                  </a:lnTo>
                  <a:lnTo>
                    <a:pt x="212090" y="32512"/>
                  </a:lnTo>
                  <a:close/>
                </a:path>
                <a:path w="295909" h="104775">
                  <a:moveTo>
                    <a:pt x="210947" y="4572"/>
                  </a:moveTo>
                  <a:lnTo>
                    <a:pt x="203962" y="4572"/>
                  </a:lnTo>
                  <a:lnTo>
                    <a:pt x="201422" y="5207"/>
                  </a:lnTo>
                  <a:lnTo>
                    <a:pt x="200151" y="6223"/>
                  </a:lnTo>
                  <a:lnTo>
                    <a:pt x="198755" y="7239"/>
                  </a:lnTo>
                  <a:lnTo>
                    <a:pt x="198120" y="9144"/>
                  </a:lnTo>
                  <a:lnTo>
                    <a:pt x="198120" y="14859"/>
                  </a:lnTo>
                  <a:lnTo>
                    <a:pt x="198755" y="16764"/>
                  </a:lnTo>
                  <a:lnTo>
                    <a:pt x="200025" y="17780"/>
                  </a:lnTo>
                  <a:lnTo>
                    <a:pt x="201422" y="18796"/>
                  </a:lnTo>
                  <a:lnTo>
                    <a:pt x="203835" y="19304"/>
                  </a:lnTo>
                  <a:lnTo>
                    <a:pt x="210820" y="19304"/>
                  </a:lnTo>
                  <a:lnTo>
                    <a:pt x="213360" y="18796"/>
                  </a:lnTo>
                  <a:lnTo>
                    <a:pt x="214630" y="17780"/>
                  </a:lnTo>
                  <a:lnTo>
                    <a:pt x="216026" y="16764"/>
                  </a:lnTo>
                  <a:lnTo>
                    <a:pt x="216662" y="14859"/>
                  </a:lnTo>
                  <a:lnTo>
                    <a:pt x="216662" y="9144"/>
                  </a:lnTo>
                  <a:lnTo>
                    <a:pt x="216066" y="7239"/>
                  </a:lnTo>
                  <a:lnTo>
                    <a:pt x="216026" y="7112"/>
                  </a:lnTo>
                  <a:lnTo>
                    <a:pt x="214915" y="6223"/>
                  </a:lnTo>
                  <a:lnTo>
                    <a:pt x="213534" y="5207"/>
                  </a:lnTo>
                  <a:lnTo>
                    <a:pt x="213963" y="5207"/>
                  </a:lnTo>
                  <a:lnTo>
                    <a:pt x="210947" y="4572"/>
                  </a:lnTo>
                  <a:close/>
                </a:path>
                <a:path w="295909" h="104775">
                  <a:moveTo>
                    <a:pt x="240792" y="88519"/>
                  </a:moveTo>
                  <a:lnTo>
                    <a:pt x="239775" y="88519"/>
                  </a:lnTo>
                  <a:lnTo>
                    <a:pt x="238633" y="88900"/>
                  </a:lnTo>
                  <a:lnTo>
                    <a:pt x="238823" y="88900"/>
                  </a:lnTo>
                  <a:lnTo>
                    <a:pt x="238633" y="89027"/>
                  </a:lnTo>
                  <a:lnTo>
                    <a:pt x="238379" y="89281"/>
                  </a:lnTo>
                  <a:lnTo>
                    <a:pt x="238251" y="89662"/>
                  </a:lnTo>
                  <a:lnTo>
                    <a:pt x="238167" y="89789"/>
                  </a:lnTo>
                  <a:lnTo>
                    <a:pt x="258550" y="104775"/>
                  </a:lnTo>
                  <a:lnTo>
                    <a:pt x="268097" y="104775"/>
                  </a:lnTo>
                  <a:lnTo>
                    <a:pt x="272415" y="104267"/>
                  </a:lnTo>
                  <a:lnTo>
                    <a:pt x="280289" y="102489"/>
                  </a:lnTo>
                  <a:lnTo>
                    <a:pt x="283718" y="101092"/>
                  </a:lnTo>
                  <a:lnTo>
                    <a:pt x="286512" y="99187"/>
                  </a:lnTo>
                  <a:lnTo>
                    <a:pt x="289433" y="97409"/>
                  </a:lnTo>
                  <a:lnTo>
                    <a:pt x="291592" y="95123"/>
                  </a:lnTo>
                  <a:lnTo>
                    <a:pt x="261196" y="95123"/>
                  </a:lnTo>
                  <a:lnTo>
                    <a:pt x="258275" y="94742"/>
                  </a:lnTo>
                  <a:lnTo>
                    <a:pt x="257835" y="94742"/>
                  </a:lnTo>
                  <a:lnTo>
                    <a:pt x="254635" y="93980"/>
                  </a:lnTo>
                  <a:lnTo>
                    <a:pt x="252095" y="93345"/>
                  </a:lnTo>
                  <a:lnTo>
                    <a:pt x="249809" y="92583"/>
                  </a:lnTo>
                  <a:lnTo>
                    <a:pt x="247904" y="91821"/>
                  </a:lnTo>
                  <a:lnTo>
                    <a:pt x="245999" y="90932"/>
                  </a:lnTo>
                  <a:lnTo>
                    <a:pt x="244348" y="90297"/>
                  </a:lnTo>
                  <a:lnTo>
                    <a:pt x="243289" y="89662"/>
                  </a:lnTo>
                  <a:lnTo>
                    <a:pt x="241808" y="88900"/>
                  </a:lnTo>
                  <a:lnTo>
                    <a:pt x="240792" y="88519"/>
                  </a:lnTo>
                  <a:close/>
                </a:path>
                <a:path w="295909" h="104775">
                  <a:moveTo>
                    <a:pt x="273685" y="31369"/>
                  </a:moveTo>
                  <a:lnTo>
                    <a:pt x="263334" y="31369"/>
                  </a:lnTo>
                  <a:lnTo>
                    <a:pt x="260096" y="31750"/>
                  </a:lnTo>
                  <a:lnTo>
                    <a:pt x="256413" y="32893"/>
                  </a:lnTo>
                  <a:lnTo>
                    <a:pt x="252602" y="33909"/>
                  </a:lnTo>
                  <a:lnTo>
                    <a:pt x="240404" y="45720"/>
                  </a:lnTo>
                  <a:lnTo>
                    <a:pt x="240284" y="45974"/>
                  </a:lnTo>
                  <a:lnTo>
                    <a:pt x="239649" y="48387"/>
                  </a:lnTo>
                  <a:lnTo>
                    <a:pt x="239649" y="54102"/>
                  </a:lnTo>
                  <a:lnTo>
                    <a:pt x="240157" y="56642"/>
                  </a:lnTo>
                  <a:lnTo>
                    <a:pt x="241426" y="58674"/>
                  </a:lnTo>
                  <a:lnTo>
                    <a:pt x="242570" y="60833"/>
                  </a:lnTo>
                  <a:lnTo>
                    <a:pt x="260223" y="70993"/>
                  </a:lnTo>
                  <a:lnTo>
                    <a:pt x="262763" y="71882"/>
                  </a:lnTo>
                  <a:lnTo>
                    <a:pt x="265175" y="72644"/>
                  </a:lnTo>
                  <a:lnTo>
                    <a:pt x="267716" y="73406"/>
                  </a:lnTo>
                  <a:lnTo>
                    <a:pt x="270129" y="74168"/>
                  </a:lnTo>
                  <a:lnTo>
                    <a:pt x="280670" y="82423"/>
                  </a:lnTo>
                  <a:lnTo>
                    <a:pt x="280670" y="86106"/>
                  </a:lnTo>
                  <a:lnTo>
                    <a:pt x="274229" y="93345"/>
                  </a:lnTo>
                  <a:lnTo>
                    <a:pt x="274091" y="93345"/>
                  </a:lnTo>
                  <a:lnTo>
                    <a:pt x="272313" y="93980"/>
                  </a:lnTo>
                  <a:lnTo>
                    <a:pt x="272129" y="93980"/>
                  </a:lnTo>
                  <a:lnTo>
                    <a:pt x="270510" y="94361"/>
                  </a:lnTo>
                  <a:lnTo>
                    <a:pt x="268477" y="94742"/>
                  </a:lnTo>
                  <a:lnTo>
                    <a:pt x="265049" y="95123"/>
                  </a:lnTo>
                  <a:lnTo>
                    <a:pt x="291592" y="95123"/>
                  </a:lnTo>
                  <a:lnTo>
                    <a:pt x="294640" y="89789"/>
                  </a:lnTo>
                  <a:lnTo>
                    <a:pt x="295401" y="86741"/>
                  </a:lnTo>
                  <a:lnTo>
                    <a:pt x="295401" y="80391"/>
                  </a:lnTo>
                  <a:lnTo>
                    <a:pt x="294947" y="78232"/>
                  </a:lnTo>
                  <a:lnTo>
                    <a:pt x="294894" y="77978"/>
                  </a:lnTo>
                  <a:lnTo>
                    <a:pt x="293624" y="75819"/>
                  </a:lnTo>
                  <a:lnTo>
                    <a:pt x="292481" y="73787"/>
                  </a:lnTo>
                  <a:lnTo>
                    <a:pt x="290957" y="72009"/>
                  </a:lnTo>
                  <a:lnTo>
                    <a:pt x="288925" y="70485"/>
                  </a:lnTo>
                  <a:lnTo>
                    <a:pt x="287020" y="68961"/>
                  </a:lnTo>
                  <a:lnTo>
                    <a:pt x="284861" y="67691"/>
                  </a:lnTo>
                  <a:lnTo>
                    <a:pt x="280098" y="65786"/>
                  </a:lnTo>
                  <a:lnTo>
                    <a:pt x="272161" y="62992"/>
                  </a:lnTo>
                  <a:lnTo>
                    <a:pt x="267081" y="61468"/>
                  </a:lnTo>
                  <a:lnTo>
                    <a:pt x="264668" y="60579"/>
                  </a:lnTo>
                  <a:lnTo>
                    <a:pt x="262382" y="59690"/>
                  </a:lnTo>
                  <a:lnTo>
                    <a:pt x="260476" y="58674"/>
                  </a:lnTo>
                  <a:lnTo>
                    <a:pt x="258572" y="57785"/>
                  </a:lnTo>
                  <a:lnTo>
                    <a:pt x="256921" y="56642"/>
                  </a:lnTo>
                  <a:lnTo>
                    <a:pt x="255777" y="55245"/>
                  </a:lnTo>
                  <a:lnTo>
                    <a:pt x="254635" y="54102"/>
                  </a:lnTo>
                  <a:lnTo>
                    <a:pt x="254508" y="53975"/>
                  </a:lnTo>
                  <a:lnTo>
                    <a:pt x="254000" y="52324"/>
                  </a:lnTo>
                  <a:lnTo>
                    <a:pt x="254000" y="49022"/>
                  </a:lnTo>
                  <a:lnTo>
                    <a:pt x="254127" y="48387"/>
                  </a:lnTo>
                  <a:lnTo>
                    <a:pt x="254254" y="47752"/>
                  </a:lnTo>
                  <a:lnTo>
                    <a:pt x="254889" y="46482"/>
                  </a:lnTo>
                  <a:lnTo>
                    <a:pt x="255665" y="45085"/>
                  </a:lnTo>
                  <a:lnTo>
                    <a:pt x="256079" y="44704"/>
                  </a:lnTo>
                  <a:lnTo>
                    <a:pt x="256301" y="44450"/>
                  </a:lnTo>
                  <a:lnTo>
                    <a:pt x="257138" y="43815"/>
                  </a:lnTo>
                  <a:lnTo>
                    <a:pt x="258952" y="42545"/>
                  </a:lnTo>
                  <a:lnTo>
                    <a:pt x="260273" y="42037"/>
                  </a:lnTo>
                  <a:lnTo>
                    <a:pt x="260127" y="42037"/>
                  </a:lnTo>
                  <a:lnTo>
                    <a:pt x="264414" y="40894"/>
                  </a:lnTo>
                  <a:lnTo>
                    <a:pt x="291020" y="40894"/>
                  </a:lnTo>
                  <a:lnTo>
                    <a:pt x="290957" y="37973"/>
                  </a:lnTo>
                  <a:lnTo>
                    <a:pt x="290702" y="37211"/>
                  </a:lnTo>
                  <a:lnTo>
                    <a:pt x="290575" y="36957"/>
                  </a:lnTo>
                  <a:lnTo>
                    <a:pt x="290449" y="36576"/>
                  </a:lnTo>
                  <a:lnTo>
                    <a:pt x="289814" y="35941"/>
                  </a:lnTo>
                  <a:lnTo>
                    <a:pt x="288544" y="35179"/>
                  </a:lnTo>
                  <a:lnTo>
                    <a:pt x="287527" y="34671"/>
                  </a:lnTo>
                  <a:lnTo>
                    <a:pt x="286258" y="34163"/>
                  </a:lnTo>
                  <a:lnTo>
                    <a:pt x="285115" y="33655"/>
                  </a:lnTo>
                  <a:lnTo>
                    <a:pt x="283591" y="33147"/>
                  </a:lnTo>
                  <a:lnTo>
                    <a:pt x="282405" y="32893"/>
                  </a:lnTo>
                  <a:lnTo>
                    <a:pt x="282257" y="32893"/>
                  </a:lnTo>
                  <a:lnTo>
                    <a:pt x="280035" y="32258"/>
                  </a:lnTo>
                  <a:lnTo>
                    <a:pt x="278130" y="31877"/>
                  </a:lnTo>
                  <a:lnTo>
                    <a:pt x="273685" y="31369"/>
                  </a:lnTo>
                  <a:close/>
                </a:path>
                <a:path w="295909" h="104775">
                  <a:moveTo>
                    <a:pt x="291020" y="40894"/>
                  </a:moveTo>
                  <a:lnTo>
                    <a:pt x="273303" y="40894"/>
                  </a:lnTo>
                  <a:lnTo>
                    <a:pt x="275843" y="41148"/>
                  </a:lnTo>
                  <a:lnTo>
                    <a:pt x="275113" y="41148"/>
                  </a:lnTo>
                  <a:lnTo>
                    <a:pt x="279019" y="42037"/>
                  </a:lnTo>
                  <a:lnTo>
                    <a:pt x="280924" y="42672"/>
                  </a:lnTo>
                  <a:lnTo>
                    <a:pt x="285496" y="44450"/>
                  </a:lnTo>
                  <a:lnTo>
                    <a:pt x="286512" y="45085"/>
                  </a:lnTo>
                  <a:lnTo>
                    <a:pt x="287908" y="45720"/>
                  </a:lnTo>
                  <a:lnTo>
                    <a:pt x="288671" y="45974"/>
                  </a:lnTo>
                  <a:lnTo>
                    <a:pt x="289052" y="45974"/>
                  </a:lnTo>
                  <a:lnTo>
                    <a:pt x="289560" y="45720"/>
                  </a:lnTo>
                  <a:lnTo>
                    <a:pt x="290025" y="45720"/>
                  </a:lnTo>
                  <a:lnTo>
                    <a:pt x="290702" y="44704"/>
                  </a:lnTo>
                  <a:lnTo>
                    <a:pt x="290787" y="44450"/>
                  </a:lnTo>
                  <a:lnTo>
                    <a:pt x="291084" y="43815"/>
                  </a:lnTo>
                  <a:lnTo>
                    <a:pt x="291020" y="40894"/>
                  </a:lnTo>
                  <a:close/>
                </a:path>
              </a:pathLst>
            </a:custGeom>
            <a:solidFill>
              <a:srgbClr val="E4DCE6"/>
            </a:solidFill>
          </p:spPr>
          <p:txBody>
            <a:bodyPr wrap="square" lIns="0" tIns="0" rIns="0" bIns="0" rtlCol="0"/>
            <a:lstStyle/>
            <a:p>
              <a:endParaRPr/>
            </a:p>
          </p:txBody>
        </p:sp>
        <p:pic>
          <p:nvPicPr>
            <p:cNvPr id="95" name="object 95"/>
            <p:cNvPicPr/>
            <p:nvPr/>
          </p:nvPicPr>
          <p:blipFill>
            <a:blip r:embed="rId67" cstate="print"/>
            <a:stretch>
              <a:fillRect/>
            </a:stretch>
          </p:blipFill>
          <p:spPr>
            <a:xfrm>
              <a:off x="12271502" y="6318757"/>
              <a:ext cx="464820" cy="130302"/>
            </a:xfrm>
            <a:prstGeom prst="rect">
              <a:avLst/>
            </a:prstGeom>
          </p:spPr>
        </p:pic>
        <p:pic>
          <p:nvPicPr>
            <p:cNvPr id="96" name="object 96"/>
            <p:cNvPicPr/>
            <p:nvPr/>
          </p:nvPicPr>
          <p:blipFill>
            <a:blip r:embed="rId68" cstate="print"/>
            <a:stretch>
              <a:fillRect/>
            </a:stretch>
          </p:blipFill>
          <p:spPr>
            <a:xfrm>
              <a:off x="12800329" y="6318757"/>
              <a:ext cx="729996" cy="130556"/>
            </a:xfrm>
            <a:prstGeom prst="rect">
              <a:avLst/>
            </a:prstGeom>
          </p:spPr>
        </p:pic>
        <p:pic>
          <p:nvPicPr>
            <p:cNvPr id="97" name="object 97"/>
            <p:cNvPicPr/>
            <p:nvPr/>
          </p:nvPicPr>
          <p:blipFill>
            <a:blip r:embed="rId69" cstate="print"/>
            <a:stretch>
              <a:fillRect/>
            </a:stretch>
          </p:blipFill>
          <p:spPr>
            <a:xfrm>
              <a:off x="7559547" y="6563994"/>
              <a:ext cx="507746" cy="104902"/>
            </a:xfrm>
            <a:prstGeom prst="rect">
              <a:avLst/>
            </a:prstGeom>
          </p:spPr>
        </p:pic>
        <p:pic>
          <p:nvPicPr>
            <p:cNvPr id="98" name="object 98"/>
            <p:cNvPicPr/>
            <p:nvPr/>
          </p:nvPicPr>
          <p:blipFill>
            <a:blip r:embed="rId70" cstate="print"/>
            <a:stretch>
              <a:fillRect/>
            </a:stretch>
          </p:blipFill>
          <p:spPr>
            <a:xfrm>
              <a:off x="8132952" y="6563994"/>
              <a:ext cx="154813" cy="104902"/>
            </a:xfrm>
            <a:prstGeom prst="rect">
              <a:avLst/>
            </a:prstGeom>
          </p:spPr>
        </p:pic>
        <p:pic>
          <p:nvPicPr>
            <p:cNvPr id="99" name="object 99"/>
            <p:cNvPicPr/>
            <p:nvPr/>
          </p:nvPicPr>
          <p:blipFill>
            <a:blip r:embed="rId71" cstate="print"/>
            <a:stretch>
              <a:fillRect/>
            </a:stretch>
          </p:blipFill>
          <p:spPr>
            <a:xfrm>
              <a:off x="8362992" y="6564502"/>
              <a:ext cx="784817" cy="129921"/>
            </a:xfrm>
            <a:prstGeom prst="rect">
              <a:avLst/>
            </a:prstGeom>
          </p:spPr>
        </p:pic>
        <p:sp>
          <p:nvSpPr>
            <p:cNvPr id="100" name="object 100"/>
            <p:cNvSpPr/>
            <p:nvPr/>
          </p:nvSpPr>
          <p:spPr>
            <a:xfrm>
              <a:off x="9217279" y="6568693"/>
              <a:ext cx="280670" cy="100330"/>
            </a:xfrm>
            <a:custGeom>
              <a:avLst/>
              <a:gdLst/>
              <a:ahLst/>
              <a:cxnLst/>
              <a:rect l="l" t="t" r="r" b="b"/>
              <a:pathLst>
                <a:path w="280670" h="100329">
                  <a:moveTo>
                    <a:pt x="13207" y="99059"/>
                  </a:moveTo>
                  <a:lnTo>
                    <a:pt x="5715" y="99059"/>
                  </a:lnTo>
                  <a:lnTo>
                    <a:pt x="6603" y="99186"/>
                  </a:lnTo>
                  <a:lnTo>
                    <a:pt x="7874" y="99313"/>
                  </a:lnTo>
                  <a:lnTo>
                    <a:pt x="10922" y="99313"/>
                  </a:lnTo>
                  <a:lnTo>
                    <a:pt x="12192" y="99186"/>
                  </a:lnTo>
                  <a:lnTo>
                    <a:pt x="13207" y="99059"/>
                  </a:lnTo>
                  <a:close/>
                </a:path>
                <a:path w="280670" h="100329">
                  <a:moveTo>
                    <a:pt x="14097" y="27939"/>
                  </a:moveTo>
                  <a:lnTo>
                    <a:pt x="4699" y="27939"/>
                  </a:lnTo>
                  <a:lnTo>
                    <a:pt x="3937" y="28066"/>
                  </a:lnTo>
                  <a:lnTo>
                    <a:pt x="3301" y="28320"/>
                  </a:lnTo>
                  <a:lnTo>
                    <a:pt x="2794" y="28447"/>
                  </a:lnTo>
                  <a:lnTo>
                    <a:pt x="2286" y="28701"/>
                  </a:lnTo>
                  <a:lnTo>
                    <a:pt x="2159" y="28955"/>
                  </a:lnTo>
                  <a:lnTo>
                    <a:pt x="1904" y="29336"/>
                  </a:lnTo>
                  <a:lnTo>
                    <a:pt x="1904" y="97662"/>
                  </a:lnTo>
                  <a:lnTo>
                    <a:pt x="2159" y="97916"/>
                  </a:lnTo>
                  <a:lnTo>
                    <a:pt x="2286" y="98170"/>
                  </a:lnTo>
                  <a:lnTo>
                    <a:pt x="3301" y="98678"/>
                  </a:lnTo>
                  <a:lnTo>
                    <a:pt x="3937" y="98805"/>
                  </a:lnTo>
                  <a:lnTo>
                    <a:pt x="4699" y="99059"/>
                  </a:lnTo>
                  <a:lnTo>
                    <a:pt x="14097" y="99059"/>
                  </a:lnTo>
                  <a:lnTo>
                    <a:pt x="14859" y="98805"/>
                  </a:lnTo>
                  <a:lnTo>
                    <a:pt x="15494" y="98678"/>
                  </a:lnTo>
                  <a:lnTo>
                    <a:pt x="16001" y="98424"/>
                  </a:lnTo>
                  <a:lnTo>
                    <a:pt x="16382" y="98170"/>
                  </a:lnTo>
                  <a:lnTo>
                    <a:pt x="16891" y="97662"/>
                  </a:lnTo>
                  <a:lnTo>
                    <a:pt x="16891" y="29336"/>
                  </a:lnTo>
                  <a:lnTo>
                    <a:pt x="16637" y="28955"/>
                  </a:lnTo>
                  <a:lnTo>
                    <a:pt x="16382" y="28701"/>
                  </a:lnTo>
                  <a:lnTo>
                    <a:pt x="16001" y="28447"/>
                  </a:lnTo>
                  <a:lnTo>
                    <a:pt x="15494" y="28320"/>
                  </a:lnTo>
                  <a:lnTo>
                    <a:pt x="14859" y="28066"/>
                  </a:lnTo>
                  <a:lnTo>
                    <a:pt x="14097" y="27939"/>
                  </a:lnTo>
                  <a:close/>
                </a:path>
                <a:path w="280670" h="100329">
                  <a:moveTo>
                    <a:pt x="13080" y="0"/>
                  </a:moveTo>
                  <a:lnTo>
                    <a:pt x="5842" y="0"/>
                  </a:lnTo>
                  <a:lnTo>
                    <a:pt x="3301" y="634"/>
                  </a:lnTo>
                  <a:lnTo>
                    <a:pt x="2031" y="1650"/>
                  </a:lnTo>
                  <a:lnTo>
                    <a:pt x="635" y="2666"/>
                  </a:lnTo>
                  <a:lnTo>
                    <a:pt x="0" y="4571"/>
                  </a:lnTo>
                  <a:lnTo>
                    <a:pt x="0" y="10286"/>
                  </a:lnTo>
                  <a:lnTo>
                    <a:pt x="635" y="12191"/>
                  </a:lnTo>
                  <a:lnTo>
                    <a:pt x="1904" y="13207"/>
                  </a:lnTo>
                  <a:lnTo>
                    <a:pt x="3301" y="14223"/>
                  </a:lnTo>
                  <a:lnTo>
                    <a:pt x="5715" y="14731"/>
                  </a:lnTo>
                  <a:lnTo>
                    <a:pt x="12953" y="14731"/>
                  </a:lnTo>
                  <a:lnTo>
                    <a:pt x="15367" y="14223"/>
                  </a:lnTo>
                  <a:lnTo>
                    <a:pt x="18161" y="12191"/>
                  </a:lnTo>
                  <a:lnTo>
                    <a:pt x="18796" y="10286"/>
                  </a:lnTo>
                  <a:lnTo>
                    <a:pt x="18796" y="4571"/>
                  </a:lnTo>
                  <a:lnTo>
                    <a:pt x="18200" y="2666"/>
                  </a:lnTo>
                  <a:lnTo>
                    <a:pt x="18161" y="2539"/>
                  </a:lnTo>
                  <a:lnTo>
                    <a:pt x="16938" y="1650"/>
                  </a:lnTo>
                  <a:lnTo>
                    <a:pt x="15494" y="507"/>
                  </a:lnTo>
                  <a:lnTo>
                    <a:pt x="13080" y="0"/>
                  </a:lnTo>
                  <a:close/>
                </a:path>
                <a:path w="280670" h="100329">
                  <a:moveTo>
                    <a:pt x="55879" y="99059"/>
                  </a:moveTo>
                  <a:lnTo>
                    <a:pt x="48387" y="99059"/>
                  </a:lnTo>
                  <a:lnTo>
                    <a:pt x="49275" y="99186"/>
                  </a:lnTo>
                  <a:lnTo>
                    <a:pt x="50546" y="99313"/>
                  </a:lnTo>
                  <a:lnTo>
                    <a:pt x="53594" y="99313"/>
                  </a:lnTo>
                  <a:lnTo>
                    <a:pt x="54864" y="99186"/>
                  </a:lnTo>
                  <a:lnTo>
                    <a:pt x="55879" y="99059"/>
                  </a:lnTo>
                  <a:close/>
                </a:path>
                <a:path w="280670" h="100329">
                  <a:moveTo>
                    <a:pt x="112141" y="99059"/>
                  </a:moveTo>
                  <a:lnTo>
                    <a:pt x="104648" y="99059"/>
                  </a:lnTo>
                  <a:lnTo>
                    <a:pt x="105664" y="99186"/>
                  </a:lnTo>
                  <a:lnTo>
                    <a:pt x="106934" y="99313"/>
                  </a:lnTo>
                  <a:lnTo>
                    <a:pt x="109854" y="99313"/>
                  </a:lnTo>
                  <a:lnTo>
                    <a:pt x="111125" y="99186"/>
                  </a:lnTo>
                  <a:lnTo>
                    <a:pt x="112141" y="99059"/>
                  </a:lnTo>
                  <a:close/>
                </a:path>
                <a:path w="280670" h="100329">
                  <a:moveTo>
                    <a:pt x="56388" y="27939"/>
                  </a:moveTo>
                  <a:lnTo>
                    <a:pt x="46354" y="27939"/>
                  </a:lnTo>
                  <a:lnTo>
                    <a:pt x="45339" y="28447"/>
                  </a:lnTo>
                  <a:lnTo>
                    <a:pt x="44957" y="28701"/>
                  </a:lnTo>
                  <a:lnTo>
                    <a:pt x="44957" y="98170"/>
                  </a:lnTo>
                  <a:lnTo>
                    <a:pt x="45974" y="98678"/>
                  </a:lnTo>
                  <a:lnTo>
                    <a:pt x="46609" y="98805"/>
                  </a:lnTo>
                  <a:lnTo>
                    <a:pt x="47371" y="99059"/>
                  </a:lnTo>
                  <a:lnTo>
                    <a:pt x="56769" y="99059"/>
                  </a:lnTo>
                  <a:lnTo>
                    <a:pt x="57530" y="98805"/>
                  </a:lnTo>
                  <a:lnTo>
                    <a:pt x="58166" y="98678"/>
                  </a:lnTo>
                  <a:lnTo>
                    <a:pt x="58674" y="98424"/>
                  </a:lnTo>
                  <a:lnTo>
                    <a:pt x="59054" y="98170"/>
                  </a:lnTo>
                  <a:lnTo>
                    <a:pt x="59563" y="97662"/>
                  </a:lnTo>
                  <a:lnTo>
                    <a:pt x="59690" y="50164"/>
                  </a:lnTo>
                  <a:lnTo>
                    <a:pt x="63880" y="45973"/>
                  </a:lnTo>
                  <a:lnTo>
                    <a:pt x="67818" y="42671"/>
                  </a:lnTo>
                  <a:lnTo>
                    <a:pt x="71627" y="40512"/>
                  </a:lnTo>
                  <a:lnTo>
                    <a:pt x="74638" y="38861"/>
                  </a:lnTo>
                  <a:lnTo>
                    <a:pt x="58166" y="38861"/>
                  </a:lnTo>
                  <a:lnTo>
                    <a:pt x="58166" y="29209"/>
                  </a:lnTo>
                  <a:lnTo>
                    <a:pt x="57657" y="28701"/>
                  </a:lnTo>
                  <a:lnTo>
                    <a:pt x="56896" y="28193"/>
                  </a:lnTo>
                  <a:lnTo>
                    <a:pt x="56388" y="27939"/>
                  </a:lnTo>
                  <a:close/>
                </a:path>
                <a:path w="280670" h="100329">
                  <a:moveTo>
                    <a:pt x="111531" y="37210"/>
                  </a:moveTo>
                  <a:lnTo>
                    <a:pt x="86105" y="37210"/>
                  </a:lnTo>
                  <a:lnTo>
                    <a:pt x="88646" y="37718"/>
                  </a:lnTo>
                  <a:lnTo>
                    <a:pt x="93218" y="39496"/>
                  </a:lnTo>
                  <a:lnTo>
                    <a:pt x="100838" y="97662"/>
                  </a:lnTo>
                  <a:lnTo>
                    <a:pt x="101346" y="98170"/>
                  </a:lnTo>
                  <a:lnTo>
                    <a:pt x="101726" y="98424"/>
                  </a:lnTo>
                  <a:lnTo>
                    <a:pt x="102362" y="98678"/>
                  </a:lnTo>
                  <a:lnTo>
                    <a:pt x="102870" y="98805"/>
                  </a:lnTo>
                  <a:lnTo>
                    <a:pt x="103631" y="99059"/>
                  </a:lnTo>
                  <a:lnTo>
                    <a:pt x="113029" y="99059"/>
                  </a:lnTo>
                  <a:lnTo>
                    <a:pt x="114426" y="98678"/>
                  </a:lnTo>
                  <a:lnTo>
                    <a:pt x="114935" y="98424"/>
                  </a:lnTo>
                  <a:lnTo>
                    <a:pt x="115316" y="98170"/>
                  </a:lnTo>
                  <a:lnTo>
                    <a:pt x="115824" y="97662"/>
                  </a:lnTo>
                  <a:lnTo>
                    <a:pt x="115808" y="50164"/>
                  </a:lnTo>
                  <a:lnTo>
                    <a:pt x="115443" y="47243"/>
                  </a:lnTo>
                  <a:lnTo>
                    <a:pt x="113489" y="40766"/>
                  </a:lnTo>
                  <a:lnTo>
                    <a:pt x="113411" y="40512"/>
                  </a:lnTo>
                  <a:lnTo>
                    <a:pt x="111760" y="37464"/>
                  </a:lnTo>
                  <a:lnTo>
                    <a:pt x="111531" y="37210"/>
                  </a:lnTo>
                  <a:close/>
                </a:path>
                <a:path w="280670" h="100329">
                  <a:moveTo>
                    <a:pt x="91821" y="26669"/>
                  </a:moveTo>
                  <a:lnTo>
                    <a:pt x="81534" y="26669"/>
                  </a:lnTo>
                  <a:lnTo>
                    <a:pt x="76835" y="27558"/>
                  </a:lnTo>
                  <a:lnTo>
                    <a:pt x="72136" y="29590"/>
                  </a:lnTo>
                  <a:lnTo>
                    <a:pt x="67564" y="31495"/>
                  </a:lnTo>
                  <a:lnTo>
                    <a:pt x="62865" y="34670"/>
                  </a:lnTo>
                  <a:lnTo>
                    <a:pt x="58166" y="38861"/>
                  </a:lnTo>
                  <a:lnTo>
                    <a:pt x="74638" y="38861"/>
                  </a:lnTo>
                  <a:lnTo>
                    <a:pt x="75565" y="38353"/>
                  </a:lnTo>
                  <a:lnTo>
                    <a:pt x="79375" y="37210"/>
                  </a:lnTo>
                  <a:lnTo>
                    <a:pt x="111531" y="37210"/>
                  </a:lnTo>
                  <a:lnTo>
                    <a:pt x="109474" y="34924"/>
                  </a:lnTo>
                  <a:lnTo>
                    <a:pt x="107061" y="32384"/>
                  </a:lnTo>
                  <a:lnTo>
                    <a:pt x="104013" y="30352"/>
                  </a:lnTo>
                  <a:lnTo>
                    <a:pt x="100202" y="28955"/>
                  </a:lnTo>
                  <a:lnTo>
                    <a:pt x="96826" y="27558"/>
                  </a:lnTo>
                  <a:lnTo>
                    <a:pt x="97303" y="27558"/>
                  </a:lnTo>
                  <a:lnTo>
                    <a:pt x="91821" y="26669"/>
                  </a:lnTo>
                  <a:close/>
                </a:path>
                <a:path w="280670" h="100329">
                  <a:moveTo>
                    <a:pt x="160781" y="38226"/>
                  </a:moveTo>
                  <a:lnTo>
                    <a:pt x="145542" y="38226"/>
                  </a:lnTo>
                  <a:lnTo>
                    <a:pt x="145542" y="81279"/>
                  </a:lnTo>
                  <a:lnTo>
                    <a:pt x="151256" y="94487"/>
                  </a:lnTo>
                  <a:lnTo>
                    <a:pt x="153035" y="96265"/>
                  </a:lnTo>
                  <a:lnTo>
                    <a:pt x="165607" y="100075"/>
                  </a:lnTo>
                  <a:lnTo>
                    <a:pt x="171323" y="100075"/>
                  </a:lnTo>
                  <a:lnTo>
                    <a:pt x="185039" y="94614"/>
                  </a:lnTo>
                  <a:lnTo>
                    <a:pt x="184988" y="89534"/>
                  </a:lnTo>
                  <a:lnTo>
                    <a:pt x="168148" y="89534"/>
                  </a:lnTo>
                  <a:lnTo>
                    <a:pt x="165100" y="88391"/>
                  </a:lnTo>
                  <a:lnTo>
                    <a:pt x="163322" y="86105"/>
                  </a:lnTo>
                  <a:lnTo>
                    <a:pt x="161671" y="83692"/>
                  </a:lnTo>
                  <a:lnTo>
                    <a:pt x="160781" y="80263"/>
                  </a:lnTo>
                  <a:lnTo>
                    <a:pt x="160781" y="38226"/>
                  </a:lnTo>
                  <a:close/>
                </a:path>
                <a:path w="280670" h="100329">
                  <a:moveTo>
                    <a:pt x="182625" y="87502"/>
                  </a:moveTo>
                  <a:lnTo>
                    <a:pt x="182308" y="87502"/>
                  </a:lnTo>
                  <a:lnTo>
                    <a:pt x="181355" y="87883"/>
                  </a:lnTo>
                  <a:lnTo>
                    <a:pt x="180848" y="88010"/>
                  </a:lnTo>
                  <a:lnTo>
                    <a:pt x="180086" y="88264"/>
                  </a:lnTo>
                  <a:lnTo>
                    <a:pt x="178307" y="88772"/>
                  </a:lnTo>
                  <a:lnTo>
                    <a:pt x="176275" y="89280"/>
                  </a:lnTo>
                  <a:lnTo>
                    <a:pt x="173990" y="89534"/>
                  </a:lnTo>
                  <a:lnTo>
                    <a:pt x="184988" y="89534"/>
                  </a:lnTo>
                  <a:lnTo>
                    <a:pt x="184912" y="89153"/>
                  </a:lnTo>
                  <a:lnTo>
                    <a:pt x="184785" y="88772"/>
                  </a:lnTo>
                  <a:lnTo>
                    <a:pt x="184530" y="88391"/>
                  </a:lnTo>
                  <a:lnTo>
                    <a:pt x="184403" y="88010"/>
                  </a:lnTo>
                  <a:lnTo>
                    <a:pt x="184276" y="87756"/>
                  </a:lnTo>
                  <a:lnTo>
                    <a:pt x="181356" y="87756"/>
                  </a:lnTo>
                  <a:lnTo>
                    <a:pt x="182625" y="87502"/>
                  </a:lnTo>
                  <a:close/>
                </a:path>
                <a:path w="280670" h="100329">
                  <a:moveTo>
                    <a:pt x="183642" y="87502"/>
                  </a:moveTo>
                  <a:lnTo>
                    <a:pt x="182625" y="87502"/>
                  </a:lnTo>
                  <a:lnTo>
                    <a:pt x="181356" y="87756"/>
                  </a:lnTo>
                  <a:lnTo>
                    <a:pt x="184150" y="87756"/>
                  </a:lnTo>
                  <a:lnTo>
                    <a:pt x="183642" y="87502"/>
                  </a:lnTo>
                  <a:close/>
                </a:path>
                <a:path w="280670" h="100329">
                  <a:moveTo>
                    <a:pt x="183006" y="28066"/>
                  </a:moveTo>
                  <a:lnTo>
                    <a:pt x="133096" y="28066"/>
                  </a:lnTo>
                  <a:lnTo>
                    <a:pt x="132715" y="28320"/>
                  </a:lnTo>
                  <a:lnTo>
                    <a:pt x="132334" y="28447"/>
                  </a:lnTo>
                  <a:lnTo>
                    <a:pt x="131952" y="28828"/>
                  </a:lnTo>
                  <a:lnTo>
                    <a:pt x="131825" y="29209"/>
                  </a:lnTo>
                  <a:lnTo>
                    <a:pt x="131572" y="29590"/>
                  </a:lnTo>
                  <a:lnTo>
                    <a:pt x="131318" y="30098"/>
                  </a:lnTo>
                  <a:lnTo>
                    <a:pt x="131191" y="36194"/>
                  </a:lnTo>
                  <a:lnTo>
                    <a:pt x="131825" y="37083"/>
                  </a:lnTo>
                  <a:lnTo>
                    <a:pt x="132334" y="37845"/>
                  </a:lnTo>
                  <a:lnTo>
                    <a:pt x="133096" y="38226"/>
                  </a:lnTo>
                  <a:lnTo>
                    <a:pt x="183006" y="38226"/>
                  </a:lnTo>
                  <a:lnTo>
                    <a:pt x="183769" y="37845"/>
                  </a:lnTo>
                  <a:lnTo>
                    <a:pt x="184403" y="37083"/>
                  </a:lnTo>
                  <a:lnTo>
                    <a:pt x="184912" y="36194"/>
                  </a:lnTo>
                  <a:lnTo>
                    <a:pt x="184912" y="30098"/>
                  </a:lnTo>
                  <a:lnTo>
                    <a:pt x="184657" y="29590"/>
                  </a:lnTo>
                  <a:lnTo>
                    <a:pt x="184150" y="28828"/>
                  </a:lnTo>
                  <a:lnTo>
                    <a:pt x="183769" y="28447"/>
                  </a:lnTo>
                  <a:lnTo>
                    <a:pt x="183388" y="28320"/>
                  </a:lnTo>
                  <a:lnTo>
                    <a:pt x="183006" y="28066"/>
                  </a:lnTo>
                  <a:close/>
                </a:path>
                <a:path w="280670" h="100329">
                  <a:moveTo>
                    <a:pt x="157988" y="10032"/>
                  </a:moveTo>
                  <a:lnTo>
                    <a:pt x="148463" y="10032"/>
                  </a:lnTo>
                  <a:lnTo>
                    <a:pt x="147700" y="10159"/>
                  </a:lnTo>
                  <a:lnTo>
                    <a:pt x="147066" y="10413"/>
                  </a:lnTo>
                  <a:lnTo>
                    <a:pt x="146557" y="10540"/>
                  </a:lnTo>
                  <a:lnTo>
                    <a:pt x="146176" y="10794"/>
                  </a:lnTo>
                  <a:lnTo>
                    <a:pt x="145923" y="11175"/>
                  </a:lnTo>
                  <a:lnTo>
                    <a:pt x="145669" y="11429"/>
                  </a:lnTo>
                  <a:lnTo>
                    <a:pt x="145542" y="28066"/>
                  </a:lnTo>
                  <a:lnTo>
                    <a:pt x="160781" y="28066"/>
                  </a:lnTo>
                  <a:lnTo>
                    <a:pt x="160654" y="11429"/>
                  </a:lnTo>
                  <a:lnTo>
                    <a:pt x="160400" y="11175"/>
                  </a:lnTo>
                  <a:lnTo>
                    <a:pt x="160274" y="10794"/>
                  </a:lnTo>
                  <a:lnTo>
                    <a:pt x="159766" y="10540"/>
                  </a:lnTo>
                  <a:lnTo>
                    <a:pt x="159257" y="10413"/>
                  </a:lnTo>
                  <a:lnTo>
                    <a:pt x="158750" y="10159"/>
                  </a:lnTo>
                  <a:lnTo>
                    <a:pt x="157988" y="10032"/>
                  </a:lnTo>
                  <a:close/>
                </a:path>
                <a:path w="280670" h="100329">
                  <a:moveTo>
                    <a:pt x="246379" y="26669"/>
                  </a:moveTo>
                  <a:lnTo>
                    <a:pt x="232410" y="26669"/>
                  </a:lnTo>
                  <a:lnTo>
                    <a:pt x="226187" y="27558"/>
                  </a:lnTo>
                  <a:lnTo>
                    <a:pt x="220979" y="29336"/>
                  </a:lnTo>
                  <a:lnTo>
                    <a:pt x="215646" y="31241"/>
                  </a:lnTo>
                  <a:lnTo>
                    <a:pt x="211200" y="33781"/>
                  </a:lnTo>
                  <a:lnTo>
                    <a:pt x="207772" y="37083"/>
                  </a:lnTo>
                  <a:lnTo>
                    <a:pt x="204216" y="40385"/>
                  </a:lnTo>
                  <a:lnTo>
                    <a:pt x="201632" y="44322"/>
                  </a:lnTo>
                  <a:lnTo>
                    <a:pt x="201549" y="44449"/>
                  </a:lnTo>
                  <a:lnTo>
                    <a:pt x="197993" y="53593"/>
                  </a:lnTo>
                  <a:lnTo>
                    <a:pt x="197103" y="58546"/>
                  </a:lnTo>
                  <a:lnTo>
                    <a:pt x="197215" y="70357"/>
                  </a:lnTo>
                  <a:lnTo>
                    <a:pt x="224917" y="99440"/>
                  </a:lnTo>
                  <a:lnTo>
                    <a:pt x="230886" y="100202"/>
                  </a:lnTo>
                  <a:lnTo>
                    <a:pt x="244728" y="100202"/>
                  </a:lnTo>
                  <a:lnTo>
                    <a:pt x="250063" y="99440"/>
                  </a:lnTo>
                  <a:lnTo>
                    <a:pt x="250596" y="99440"/>
                  </a:lnTo>
                  <a:lnTo>
                    <a:pt x="256286" y="97408"/>
                  </a:lnTo>
                  <a:lnTo>
                    <a:pt x="261620" y="95630"/>
                  </a:lnTo>
                  <a:lnTo>
                    <a:pt x="266065" y="92963"/>
                  </a:lnTo>
                  <a:lnTo>
                    <a:pt x="269230" y="89915"/>
                  </a:lnTo>
                  <a:lnTo>
                    <a:pt x="233679" y="89915"/>
                  </a:lnTo>
                  <a:lnTo>
                    <a:pt x="229489" y="89153"/>
                  </a:lnTo>
                  <a:lnTo>
                    <a:pt x="226187" y="87756"/>
                  </a:lnTo>
                  <a:lnTo>
                    <a:pt x="223012" y="86359"/>
                  </a:lnTo>
                  <a:lnTo>
                    <a:pt x="220345" y="84454"/>
                  </a:lnTo>
                  <a:lnTo>
                    <a:pt x="218440" y="82041"/>
                  </a:lnTo>
                  <a:lnTo>
                    <a:pt x="216407" y="79628"/>
                  </a:lnTo>
                  <a:lnTo>
                    <a:pt x="215011" y="76834"/>
                  </a:lnTo>
                  <a:lnTo>
                    <a:pt x="214249" y="73532"/>
                  </a:lnTo>
                  <a:lnTo>
                    <a:pt x="213360" y="70357"/>
                  </a:lnTo>
                  <a:lnTo>
                    <a:pt x="213120" y="68198"/>
                  </a:lnTo>
                  <a:lnTo>
                    <a:pt x="213105" y="58546"/>
                  </a:lnTo>
                  <a:lnTo>
                    <a:pt x="213305" y="57149"/>
                  </a:lnTo>
                  <a:lnTo>
                    <a:pt x="213396" y="56514"/>
                  </a:lnTo>
                  <a:lnTo>
                    <a:pt x="213487" y="55879"/>
                  </a:lnTo>
                  <a:lnTo>
                    <a:pt x="214502" y="52704"/>
                  </a:lnTo>
                  <a:lnTo>
                    <a:pt x="215519" y="49402"/>
                  </a:lnTo>
                  <a:lnTo>
                    <a:pt x="217043" y="46608"/>
                  </a:lnTo>
                  <a:lnTo>
                    <a:pt x="219082" y="44449"/>
                  </a:lnTo>
                  <a:lnTo>
                    <a:pt x="221234" y="41909"/>
                  </a:lnTo>
                  <a:lnTo>
                    <a:pt x="223900" y="40131"/>
                  </a:lnTo>
                  <a:lnTo>
                    <a:pt x="230504" y="37591"/>
                  </a:lnTo>
                  <a:lnTo>
                    <a:pt x="234315" y="36829"/>
                  </a:lnTo>
                  <a:lnTo>
                    <a:pt x="270683" y="36829"/>
                  </a:lnTo>
                  <a:lnTo>
                    <a:pt x="266700" y="33146"/>
                  </a:lnTo>
                  <a:lnTo>
                    <a:pt x="262381" y="30733"/>
                  </a:lnTo>
                  <a:lnTo>
                    <a:pt x="252729" y="27558"/>
                  </a:lnTo>
                  <a:lnTo>
                    <a:pt x="253343" y="27558"/>
                  </a:lnTo>
                  <a:lnTo>
                    <a:pt x="246379" y="26669"/>
                  </a:lnTo>
                  <a:close/>
                </a:path>
                <a:path w="280670" h="100329">
                  <a:moveTo>
                    <a:pt x="270683" y="36829"/>
                  </a:moveTo>
                  <a:lnTo>
                    <a:pt x="243840" y="36829"/>
                  </a:lnTo>
                  <a:lnTo>
                    <a:pt x="247903" y="37591"/>
                  </a:lnTo>
                  <a:lnTo>
                    <a:pt x="254507" y="40385"/>
                  </a:lnTo>
                  <a:lnTo>
                    <a:pt x="257048" y="42290"/>
                  </a:lnTo>
                  <a:lnTo>
                    <a:pt x="260985" y="47243"/>
                  </a:lnTo>
                  <a:lnTo>
                    <a:pt x="262381" y="50037"/>
                  </a:lnTo>
                  <a:lnTo>
                    <a:pt x="263022" y="52704"/>
                  </a:lnTo>
                  <a:lnTo>
                    <a:pt x="264032" y="56514"/>
                  </a:lnTo>
                  <a:lnTo>
                    <a:pt x="264258" y="58546"/>
                  </a:lnTo>
                  <a:lnTo>
                    <a:pt x="264305" y="68198"/>
                  </a:lnTo>
                  <a:lnTo>
                    <a:pt x="264087" y="69722"/>
                  </a:lnTo>
                  <a:lnTo>
                    <a:pt x="250190" y="87883"/>
                  </a:lnTo>
                  <a:lnTo>
                    <a:pt x="246888" y="89280"/>
                  </a:lnTo>
                  <a:lnTo>
                    <a:pt x="242950" y="89915"/>
                  </a:lnTo>
                  <a:lnTo>
                    <a:pt x="269230" y="89915"/>
                  </a:lnTo>
                  <a:lnTo>
                    <a:pt x="273050" y="86359"/>
                  </a:lnTo>
                  <a:lnTo>
                    <a:pt x="275630" y="82549"/>
                  </a:lnTo>
                  <a:lnTo>
                    <a:pt x="275717" y="82422"/>
                  </a:lnTo>
                  <a:lnTo>
                    <a:pt x="277495" y="77723"/>
                  </a:lnTo>
                  <a:lnTo>
                    <a:pt x="279273" y="73151"/>
                  </a:lnTo>
                  <a:lnTo>
                    <a:pt x="280162" y="68198"/>
                  </a:lnTo>
                  <a:lnTo>
                    <a:pt x="280066" y="56514"/>
                  </a:lnTo>
                  <a:lnTo>
                    <a:pt x="279628" y="53593"/>
                  </a:lnTo>
                  <a:lnTo>
                    <a:pt x="279571" y="53212"/>
                  </a:lnTo>
                  <a:lnTo>
                    <a:pt x="279495" y="52704"/>
                  </a:lnTo>
                  <a:lnTo>
                    <a:pt x="279400" y="52069"/>
                  </a:lnTo>
                  <a:lnTo>
                    <a:pt x="277622" y="47624"/>
                  </a:lnTo>
                  <a:lnTo>
                    <a:pt x="275971" y="43179"/>
                  </a:lnTo>
                  <a:lnTo>
                    <a:pt x="273430" y="39369"/>
                  </a:lnTo>
                  <a:lnTo>
                    <a:pt x="270683" y="36829"/>
                  </a:lnTo>
                  <a:close/>
                </a:path>
              </a:pathLst>
            </a:custGeom>
            <a:solidFill>
              <a:srgbClr val="E4DCE6"/>
            </a:solidFill>
          </p:spPr>
          <p:txBody>
            <a:bodyPr wrap="square" lIns="0" tIns="0" rIns="0" bIns="0" rtlCol="0"/>
            <a:lstStyle/>
            <a:p>
              <a:endParaRPr/>
            </a:p>
          </p:txBody>
        </p:sp>
        <p:pic>
          <p:nvPicPr>
            <p:cNvPr id="101" name="object 101"/>
            <p:cNvPicPr/>
            <p:nvPr/>
          </p:nvPicPr>
          <p:blipFill>
            <a:blip r:embed="rId72" cstate="print"/>
            <a:stretch>
              <a:fillRect/>
            </a:stretch>
          </p:blipFill>
          <p:spPr>
            <a:xfrm>
              <a:off x="9563989" y="6595363"/>
              <a:ext cx="166877" cy="73533"/>
            </a:xfrm>
            <a:prstGeom prst="rect">
              <a:avLst/>
            </a:prstGeom>
          </p:spPr>
        </p:pic>
        <p:pic>
          <p:nvPicPr>
            <p:cNvPr id="102" name="object 102"/>
            <p:cNvPicPr/>
            <p:nvPr/>
          </p:nvPicPr>
          <p:blipFill>
            <a:blip r:embed="rId73" cstate="print"/>
            <a:stretch>
              <a:fillRect/>
            </a:stretch>
          </p:blipFill>
          <p:spPr>
            <a:xfrm>
              <a:off x="9806939" y="6563994"/>
              <a:ext cx="893826" cy="125095"/>
            </a:xfrm>
            <a:prstGeom prst="rect">
              <a:avLst/>
            </a:prstGeom>
          </p:spPr>
        </p:pic>
        <p:pic>
          <p:nvPicPr>
            <p:cNvPr id="103" name="object 103"/>
            <p:cNvPicPr/>
            <p:nvPr/>
          </p:nvPicPr>
          <p:blipFill>
            <a:blip r:embed="rId74" cstate="print"/>
            <a:stretch>
              <a:fillRect/>
            </a:stretch>
          </p:blipFill>
          <p:spPr>
            <a:xfrm>
              <a:off x="10767695" y="6563994"/>
              <a:ext cx="1303824" cy="130683"/>
            </a:xfrm>
            <a:prstGeom prst="rect">
              <a:avLst/>
            </a:prstGeom>
          </p:spPr>
        </p:pic>
        <p:pic>
          <p:nvPicPr>
            <p:cNvPr id="104" name="object 104"/>
            <p:cNvPicPr/>
            <p:nvPr/>
          </p:nvPicPr>
          <p:blipFill>
            <a:blip r:embed="rId75" cstate="print"/>
            <a:stretch>
              <a:fillRect/>
            </a:stretch>
          </p:blipFill>
          <p:spPr>
            <a:xfrm>
              <a:off x="12684886" y="6563486"/>
              <a:ext cx="553339" cy="125603"/>
            </a:xfrm>
            <a:prstGeom prst="rect">
              <a:avLst/>
            </a:prstGeom>
          </p:spPr>
        </p:pic>
        <p:pic>
          <p:nvPicPr>
            <p:cNvPr id="105" name="object 105"/>
            <p:cNvPicPr/>
            <p:nvPr/>
          </p:nvPicPr>
          <p:blipFill>
            <a:blip r:embed="rId76" cstate="print"/>
            <a:stretch>
              <a:fillRect/>
            </a:stretch>
          </p:blipFill>
          <p:spPr>
            <a:xfrm>
              <a:off x="12135611" y="6595363"/>
              <a:ext cx="487299" cy="73533"/>
            </a:xfrm>
            <a:prstGeom prst="rect">
              <a:avLst/>
            </a:prstGeom>
          </p:spPr>
        </p:pic>
        <p:pic>
          <p:nvPicPr>
            <p:cNvPr id="106" name="object 106"/>
            <p:cNvPicPr/>
            <p:nvPr/>
          </p:nvPicPr>
          <p:blipFill>
            <a:blip r:embed="rId77" cstate="print"/>
            <a:stretch>
              <a:fillRect/>
            </a:stretch>
          </p:blipFill>
          <p:spPr>
            <a:xfrm>
              <a:off x="7559547" y="6809485"/>
              <a:ext cx="770381" cy="125983"/>
            </a:xfrm>
            <a:prstGeom prst="rect">
              <a:avLst/>
            </a:prstGeom>
          </p:spPr>
        </p:pic>
        <p:pic>
          <p:nvPicPr>
            <p:cNvPr id="107" name="object 107"/>
            <p:cNvPicPr/>
            <p:nvPr/>
          </p:nvPicPr>
          <p:blipFill>
            <a:blip r:embed="rId78" cstate="print"/>
            <a:stretch>
              <a:fillRect/>
            </a:stretch>
          </p:blipFill>
          <p:spPr>
            <a:xfrm>
              <a:off x="8401811" y="6836155"/>
              <a:ext cx="315391" cy="73532"/>
            </a:xfrm>
            <a:prstGeom prst="rect">
              <a:avLst/>
            </a:prstGeom>
          </p:spPr>
        </p:pic>
        <p:pic>
          <p:nvPicPr>
            <p:cNvPr id="108" name="object 108"/>
            <p:cNvPicPr/>
            <p:nvPr/>
          </p:nvPicPr>
          <p:blipFill>
            <a:blip r:embed="rId79" cstate="print"/>
            <a:stretch>
              <a:fillRect/>
            </a:stretch>
          </p:blipFill>
          <p:spPr>
            <a:xfrm>
              <a:off x="8777350" y="6804659"/>
              <a:ext cx="824610" cy="105028"/>
            </a:xfrm>
            <a:prstGeom prst="rect">
              <a:avLst/>
            </a:prstGeom>
          </p:spPr>
        </p:pic>
        <p:pic>
          <p:nvPicPr>
            <p:cNvPr id="109" name="object 109"/>
            <p:cNvPicPr/>
            <p:nvPr/>
          </p:nvPicPr>
          <p:blipFill>
            <a:blip r:embed="rId80" cstate="print"/>
            <a:stretch>
              <a:fillRect/>
            </a:stretch>
          </p:blipFill>
          <p:spPr>
            <a:xfrm>
              <a:off x="9665842" y="6804278"/>
              <a:ext cx="354493" cy="105409"/>
            </a:xfrm>
            <a:prstGeom prst="rect">
              <a:avLst/>
            </a:prstGeom>
          </p:spPr>
        </p:pic>
        <p:pic>
          <p:nvPicPr>
            <p:cNvPr id="110" name="object 110"/>
            <p:cNvPicPr/>
            <p:nvPr/>
          </p:nvPicPr>
          <p:blipFill>
            <a:blip r:embed="rId81" cstate="print"/>
            <a:stretch>
              <a:fillRect/>
            </a:stretch>
          </p:blipFill>
          <p:spPr>
            <a:xfrm>
              <a:off x="10095483" y="6804659"/>
              <a:ext cx="714501" cy="105028"/>
            </a:xfrm>
            <a:prstGeom prst="rect">
              <a:avLst/>
            </a:prstGeom>
          </p:spPr>
        </p:pic>
      </p:grpSp>
      <p:sp>
        <p:nvSpPr>
          <p:cNvPr id="114" name="TextBox 113">
            <a:extLst>
              <a:ext uri="{FF2B5EF4-FFF2-40B4-BE49-F238E27FC236}">
                <a16:creationId xmlns:a16="http://schemas.microsoft.com/office/drawing/2014/main" id="{AD891713-FDCC-4DB8-A135-6226C8FF15A6}"/>
              </a:ext>
            </a:extLst>
          </p:cNvPr>
          <p:cNvSpPr txBox="1"/>
          <p:nvPr/>
        </p:nvSpPr>
        <p:spPr>
          <a:xfrm>
            <a:off x="527544" y="1890168"/>
            <a:ext cx="7315200" cy="335989"/>
          </a:xfrm>
          <a:prstGeom prst="rect">
            <a:avLst/>
          </a:prstGeom>
          <a:noFill/>
        </p:spPr>
        <p:txBody>
          <a:bodyPr wrap="square">
            <a:spAutoFit/>
          </a:bodyPr>
          <a:lstStyle/>
          <a:p>
            <a:pPr marL="0" indent="0" algn="l">
              <a:lnSpc>
                <a:spcPts val="1850"/>
              </a:lnSpc>
              <a:buNone/>
            </a:pPr>
            <a:r>
              <a:rPr lang="en-US" sz="1800" b="1" dirty="0">
                <a:solidFill>
                  <a:srgbClr val="EEAEF6"/>
                </a:solidFill>
                <a:latin typeface="Bricolage Grotesque Extra Bold" pitchFamily="34" charset="0"/>
                <a:ea typeface="Bricolage Grotesque Extra Bold" pitchFamily="34" charset="-122"/>
                <a:cs typeface="Bricolage Grotesque Extra Bold" pitchFamily="34" charset="-120"/>
              </a:rPr>
              <a:t>Protecting Our Users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72375" y="-1"/>
            <a:ext cx="5760592" cy="8229600"/>
          </a:xfrm>
          <a:prstGeom prst="rect">
            <a:avLst/>
          </a:prstGeom>
        </p:spPr>
      </p:pic>
      <p:sp>
        <p:nvSpPr>
          <p:cNvPr id="38" name="TextBox 37">
            <a:extLst>
              <a:ext uri="{FF2B5EF4-FFF2-40B4-BE49-F238E27FC236}">
                <a16:creationId xmlns:a16="http://schemas.microsoft.com/office/drawing/2014/main" id="{EC76C8CB-1320-4BEA-8EF3-ADD698AE09AF}"/>
              </a:ext>
            </a:extLst>
          </p:cNvPr>
          <p:cNvSpPr txBox="1"/>
          <p:nvPr/>
        </p:nvSpPr>
        <p:spPr>
          <a:xfrm>
            <a:off x="6051607" y="899887"/>
            <a:ext cx="7315200" cy="474745"/>
          </a:xfrm>
          <a:prstGeom prst="rect">
            <a:avLst/>
          </a:prstGeom>
          <a:noFill/>
        </p:spPr>
        <p:txBody>
          <a:bodyPr wrap="square">
            <a:spAutoFit/>
          </a:bodyPr>
          <a:lstStyle/>
          <a:p>
            <a:pPr marL="0" indent="0" algn="l">
              <a:lnSpc>
                <a:spcPts val="3150"/>
              </a:lnSpc>
              <a:buNone/>
            </a:pPr>
            <a:r>
              <a:rPr lang="en-US" sz="2500" b="1" dirty="0">
                <a:solidFill>
                  <a:srgbClr val="EEAEF6"/>
                </a:solidFill>
                <a:latin typeface="Bricolage Grotesque Extra Bold" pitchFamily="34" charset="0"/>
                <a:ea typeface="Bricolage Grotesque Extra Bold" pitchFamily="34" charset="-122"/>
                <a:cs typeface="Bricolage Grotesque Extra Bold" pitchFamily="34" charset="-120"/>
              </a:rPr>
              <a:t>Phase 2: Reinforcing Security &amp; Authentication</a:t>
            </a:r>
            <a:endParaRPr lang="en-US" sz="2500" dirty="0"/>
          </a:p>
        </p:txBody>
      </p:sp>
      <p:sp>
        <p:nvSpPr>
          <p:cNvPr id="40" name="TextBox 39">
            <a:extLst>
              <a:ext uri="{FF2B5EF4-FFF2-40B4-BE49-F238E27FC236}">
                <a16:creationId xmlns:a16="http://schemas.microsoft.com/office/drawing/2014/main" id="{45F7B118-69CE-4828-91B5-37195F4B0EB1}"/>
              </a:ext>
            </a:extLst>
          </p:cNvPr>
          <p:cNvSpPr txBox="1"/>
          <p:nvPr/>
        </p:nvSpPr>
        <p:spPr>
          <a:xfrm>
            <a:off x="6056471" y="1513316"/>
            <a:ext cx="7315200" cy="580159"/>
          </a:xfrm>
          <a:prstGeom prst="rect">
            <a:avLst/>
          </a:prstGeom>
          <a:noFill/>
        </p:spPr>
        <p:txBody>
          <a:bodyPr wrap="square">
            <a:spAutoFit/>
          </a:bodyPr>
          <a:lstStyle/>
          <a:p>
            <a:pPr marL="0" indent="0" algn="l">
              <a:lnSpc>
                <a:spcPts val="2000"/>
              </a:lnSpc>
              <a:buNone/>
            </a:pPr>
            <a:r>
              <a:rPr lang="en-US" sz="1250" dirty="0">
                <a:solidFill>
                  <a:srgbClr val="E5DCE6"/>
                </a:solidFill>
                <a:latin typeface="Montserrat" pitchFamily="34" charset="0"/>
                <a:ea typeface="Montserrat" pitchFamily="34" charset="-122"/>
                <a:cs typeface="Montserrat" pitchFamily="34" charset="-120"/>
              </a:rPr>
              <a:t>In this critical phase, we didn't just build a demo; we engineered a secure application designed to protect user data and maintain integrity.</a:t>
            </a:r>
            <a:endParaRPr lang="en-US" sz="1250" dirty="0"/>
          </a:p>
        </p:txBody>
      </p:sp>
      <p:sp>
        <p:nvSpPr>
          <p:cNvPr id="45" name="TextBox 44">
            <a:extLst>
              <a:ext uri="{FF2B5EF4-FFF2-40B4-BE49-F238E27FC236}">
                <a16:creationId xmlns:a16="http://schemas.microsoft.com/office/drawing/2014/main" id="{E39DD0C2-4B15-49A0-8AA4-6BDC82FEAC5B}"/>
              </a:ext>
            </a:extLst>
          </p:cNvPr>
          <p:cNvSpPr txBox="1"/>
          <p:nvPr/>
        </p:nvSpPr>
        <p:spPr>
          <a:xfrm>
            <a:off x="6152283" y="2580138"/>
            <a:ext cx="7315200" cy="348813"/>
          </a:xfrm>
          <a:prstGeom prst="rect">
            <a:avLst/>
          </a:prstGeom>
          <a:noFill/>
        </p:spPr>
        <p:txBody>
          <a:bodyPr wrap="square">
            <a:spAutoFit/>
          </a:bodyPr>
          <a:lstStyle/>
          <a:p>
            <a:pPr marL="0" indent="0" algn="l">
              <a:lnSpc>
                <a:spcPts val="195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Flask-Login</a:t>
            </a:r>
            <a:endParaRPr lang="en-US" sz="1800" dirty="0"/>
          </a:p>
        </p:txBody>
      </p:sp>
      <p:sp>
        <p:nvSpPr>
          <p:cNvPr id="47" name="TextBox 46">
            <a:extLst>
              <a:ext uri="{FF2B5EF4-FFF2-40B4-BE49-F238E27FC236}">
                <a16:creationId xmlns:a16="http://schemas.microsoft.com/office/drawing/2014/main" id="{5AC37697-FCAA-4FB6-9716-7CD19FA146DF}"/>
              </a:ext>
            </a:extLst>
          </p:cNvPr>
          <p:cNvSpPr txBox="1"/>
          <p:nvPr/>
        </p:nvSpPr>
        <p:spPr>
          <a:xfrm>
            <a:off x="6152283" y="2966402"/>
            <a:ext cx="7315200" cy="580159"/>
          </a:xfrm>
          <a:prstGeom prst="rect">
            <a:avLst/>
          </a:prstGeom>
          <a:noFill/>
        </p:spPr>
        <p:txBody>
          <a:bodyPr wrap="square">
            <a:spAutoFit/>
          </a:bodyPr>
          <a:lstStyle/>
          <a:p>
            <a:pPr marL="0" indent="0" algn="l">
              <a:lnSpc>
                <a:spcPts val="2000"/>
              </a:lnSpc>
              <a:buNone/>
            </a:pPr>
            <a:r>
              <a:rPr lang="en-US" sz="1250" dirty="0">
                <a:solidFill>
                  <a:srgbClr val="E5DCE6"/>
                </a:solidFill>
                <a:latin typeface="Montserrat" pitchFamily="34" charset="0"/>
                <a:ea typeface="Montserrat" pitchFamily="34" charset="-122"/>
                <a:cs typeface="Montserrat" pitchFamily="34" charset="-120"/>
              </a:rPr>
              <a:t>Manages user sessions, ensuring only authenticated users can access features, preventing unauthorized entry.</a:t>
            </a:r>
            <a:endParaRPr lang="en-US" sz="1250" dirty="0"/>
          </a:p>
        </p:txBody>
      </p:sp>
      <p:sp>
        <p:nvSpPr>
          <p:cNvPr id="60" name="TextBox 59">
            <a:extLst>
              <a:ext uri="{FF2B5EF4-FFF2-40B4-BE49-F238E27FC236}">
                <a16:creationId xmlns:a16="http://schemas.microsoft.com/office/drawing/2014/main" id="{0EEEDC08-7446-4AC5-B4BD-2CAA86000128}"/>
              </a:ext>
            </a:extLst>
          </p:cNvPr>
          <p:cNvSpPr txBox="1"/>
          <p:nvPr/>
        </p:nvSpPr>
        <p:spPr>
          <a:xfrm>
            <a:off x="6152283" y="3860298"/>
            <a:ext cx="7334654" cy="348813"/>
          </a:xfrm>
          <a:prstGeom prst="rect">
            <a:avLst/>
          </a:prstGeom>
          <a:noFill/>
        </p:spPr>
        <p:txBody>
          <a:bodyPr wrap="square">
            <a:spAutoFit/>
          </a:bodyPr>
          <a:lstStyle/>
          <a:p>
            <a:pPr marL="0" indent="0" algn="l">
              <a:lnSpc>
                <a:spcPts val="1950"/>
              </a:lnSpc>
              <a:buNone/>
            </a:pPr>
            <a:r>
              <a:rPr lang="en-US" sz="1800" b="1">
                <a:solidFill>
                  <a:srgbClr val="E5DCE6"/>
                </a:solidFill>
                <a:latin typeface="Bricolage Grotesque Extra Bold" pitchFamily="34" charset="0"/>
                <a:ea typeface="Bricolage Grotesque Extra Bold" pitchFamily="34" charset="-122"/>
                <a:cs typeface="Bricolage Grotesque Extra Bold" pitchFamily="34" charset="-120"/>
              </a:rPr>
              <a:t>@login_required Decorator</a:t>
            </a:r>
            <a:endParaRPr lang="en-US" sz="1800" dirty="0"/>
          </a:p>
        </p:txBody>
      </p:sp>
      <p:sp>
        <p:nvSpPr>
          <p:cNvPr id="62" name="TextBox 61">
            <a:extLst>
              <a:ext uri="{FF2B5EF4-FFF2-40B4-BE49-F238E27FC236}">
                <a16:creationId xmlns:a16="http://schemas.microsoft.com/office/drawing/2014/main" id="{E438E71A-DC6E-467E-99E9-7CE642F8FABC}"/>
              </a:ext>
            </a:extLst>
          </p:cNvPr>
          <p:cNvSpPr txBox="1"/>
          <p:nvPr/>
        </p:nvSpPr>
        <p:spPr>
          <a:xfrm>
            <a:off x="6182074" y="4209111"/>
            <a:ext cx="7334654" cy="580159"/>
          </a:xfrm>
          <a:prstGeom prst="rect">
            <a:avLst/>
          </a:prstGeom>
          <a:noFill/>
        </p:spPr>
        <p:txBody>
          <a:bodyPr wrap="square">
            <a:spAutoFit/>
          </a:bodyPr>
          <a:lstStyle/>
          <a:p>
            <a:pPr marL="0" indent="0" algn="l">
              <a:lnSpc>
                <a:spcPts val="2000"/>
              </a:lnSpc>
              <a:buNone/>
            </a:pPr>
            <a:r>
              <a:rPr lang="en-US" sz="1250" dirty="0">
                <a:solidFill>
                  <a:srgbClr val="E5DCE6"/>
                </a:solidFill>
                <a:latin typeface="Montserrat" pitchFamily="34" charset="0"/>
                <a:ea typeface="Montserrat" pitchFamily="34" charset="-122"/>
                <a:cs typeface="Montserrat" pitchFamily="34" charset="-120"/>
              </a:rPr>
              <a:t>Acts as a 'lock' on sensitive pages, automatically redirecting unauthenticated users to the login page for enhanced security.</a:t>
            </a:r>
            <a:endParaRPr lang="en-US" sz="1250" dirty="0"/>
          </a:p>
        </p:txBody>
      </p:sp>
      <p:sp>
        <p:nvSpPr>
          <p:cNvPr id="67" name="TextBox 66">
            <a:extLst>
              <a:ext uri="{FF2B5EF4-FFF2-40B4-BE49-F238E27FC236}">
                <a16:creationId xmlns:a16="http://schemas.microsoft.com/office/drawing/2014/main" id="{4BE7BB09-71B9-4C34-A682-798AE0E36B60}"/>
              </a:ext>
            </a:extLst>
          </p:cNvPr>
          <p:cNvSpPr txBox="1"/>
          <p:nvPr/>
        </p:nvSpPr>
        <p:spPr>
          <a:xfrm>
            <a:off x="6143162" y="5235095"/>
            <a:ext cx="7373566" cy="348813"/>
          </a:xfrm>
          <a:prstGeom prst="rect">
            <a:avLst/>
          </a:prstGeom>
          <a:noFill/>
        </p:spPr>
        <p:txBody>
          <a:bodyPr wrap="square">
            <a:spAutoFit/>
          </a:bodyPr>
          <a:lstStyle/>
          <a:p>
            <a:pPr marL="0" indent="0" algn="l">
              <a:lnSpc>
                <a:spcPts val="195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Flask-</a:t>
            </a:r>
            <a:r>
              <a:rPr lang="en-US" sz="1800" b="1" dirty="0" err="1">
                <a:solidFill>
                  <a:srgbClr val="E5DCE6"/>
                </a:solidFill>
                <a:latin typeface="Bricolage Grotesque Extra Bold" pitchFamily="34" charset="0"/>
                <a:ea typeface="Bricolage Grotesque Extra Bold" pitchFamily="34" charset="-122"/>
                <a:cs typeface="Bricolage Grotesque Extra Bold" pitchFamily="34" charset="-120"/>
              </a:rPr>
              <a:t>SQLAlchemy</a:t>
            </a:r>
            <a:endParaRPr lang="en-US" sz="1800" dirty="0"/>
          </a:p>
        </p:txBody>
      </p:sp>
      <p:sp>
        <p:nvSpPr>
          <p:cNvPr id="69" name="TextBox 68">
            <a:extLst>
              <a:ext uri="{FF2B5EF4-FFF2-40B4-BE49-F238E27FC236}">
                <a16:creationId xmlns:a16="http://schemas.microsoft.com/office/drawing/2014/main" id="{34944E8D-4B9E-4D17-B889-029CCF38B8B3}"/>
              </a:ext>
            </a:extLst>
          </p:cNvPr>
          <p:cNvSpPr txBox="1"/>
          <p:nvPr/>
        </p:nvSpPr>
        <p:spPr>
          <a:xfrm>
            <a:off x="6182074" y="5661146"/>
            <a:ext cx="7548664" cy="323678"/>
          </a:xfrm>
          <a:prstGeom prst="rect">
            <a:avLst/>
          </a:prstGeom>
          <a:noFill/>
        </p:spPr>
        <p:txBody>
          <a:bodyPr wrap="square">
            <a:spAutoFit/>
          </a:bodyPr>
          <a:lstStyle/>
          <a:p>
            <a:pPr marL="0" indent="0" algn="l">
              <a:lnSpc>
                <a:spcPts val="2000"/>
              </a:lnSpc>
              <a:buNone/>
            </a:pPr>
            <a:r>
              <a:rPr lang="en-US" sz="1250" dirty="0">
                <a:solidFill>
                  <a:srgbClr val="E5DCE6"/>
                </a:solidFill>
                <a:latin typeface="Montserrat" pitchFamily="34" charset="0"/>
                <a:ea typeface="Montserrat" pitchFamily="34" charset="-122"/>
                <a:cs typeface="Montserrat" pitchFamily="34" charset="-120"/>
              </a:rPr>
              <a:t>Manages our SQLite database (</a:t>
            </a:r>
            <a:r>
              <a:rPr lang="en-US" sz="1250" dirty="0" err="1">
                <a:solidFill>
                  <a:srgbClr val="E5DCE6"/>
                </a:solidFill>
                <a:latin typeface="Montserrat" pitchFamily="34" charset="0"/>
                <a:ea typeface="Montserrat" pitchFamily="34" charset="-122"/>
                <a:cs typeface="Montserrat" pitchFamily="34" charset="-120"/>
              </a:rPr>
              <a:t>site.db</a:t>
            </a:r>
            <a:r>
              <a:rPr lang="en-US" sz="1250" dirty="0">
                <a:solidFill>
                  <a:srgbClr val="E5DCE6"/>
                </a:solidFill>
                <a:latin typeface="Montserrat" pitchFamily="34" charset="0"/>
                <a:ea typeface="Montserrat" pitchFamily="34" charset="-122"/>
                <a:cs typeface="Montserrat" pitchFamily="34" charset="-120"/>
              </a:rPr>
              <a:t>), securely storing all user accounts and related data.</a:t>
            </a:r>
            <a:endParaRPr lang="en-US" sz="1250" dirty="0"/>
          </a:p>
        </p:txBody>
      </p:sp>
      <p:sp>
        <p:nvSpPr>
          <p:cNvPr id="90" name="TextBox 89">
            <a:extLst>
              <a:ext uri="{FF2B5EF4-FFF2-40B4-BE49-F238E27FC236}">
                <a16:creationId xmlns:a16="http://schemas.microsoft.com/office/drawing/2014/main" id="{A64D9270-7797-4031-A898-52DC0C9FEC97}"/>
              </a:ext>
            </a:extLst>
          </p:cNvPr>
          <p:cNvSpPr txBox="1"/>
          <p:nvPr/>
        </p:nvSpPr>
        <p:spPr>
          <a:xfrm>
            <a:off x="6183087" y="6261079"/>
            <a:ext cx="7451386" cy="348813"/>
          </a:xfrm>
          <a:prstGeom prst="rect">
            <a:avLst/>
          </a:prstGeom>
          <a:noFill/>
        </p:spPr>
        <p:txBody>
          <a:bodyPr wrap="square">
            <a:spAutoFit/>
          </a:bodyPr>
          <a:lstStyle/>
          <a:p>
            <a:pPr marL="0" indent="0" algn="l">
              <a:lnSpc>
                <a:spcPts val="195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Flask-</a:t>
            </a:r>
            <a:r>
              <a:rPr lang="en-US" sz="1800" b="1" dirty="0" err="1">
                <a:solidFill>
                  <a:srgbClr val="E5DCE6"/>
                </a:solidFill>
                <a:latin typeface="Bricolage Grotesque Extra Bold" pitchFamily="34" charset="0"/>
                <a:ea typeface="Bricolage Grotesque Extra Bold" pitchFamily="34" charset="-122"/>
                <a:cs typeface="Bricolage Grotesque Extra Bold" pitchFamily="34" charset="-120"/>
              </a:rPr>
              <a:t>Bcrypt</a:t>
            </a:r>
            <a:endParaRPr lang="en-US" sz="1800" dirty="0"/>
          </a:p>
        </p:txBody>
      </p:sp>
      <p:sp>
        <p:nvSpPr>
          <p:cNvPr id="92" name="TextBox 91">
            <a:extLst>
              <a:ext uri="{FF2B5EF4-FFF2-40B4-BE49-F238E27FC236}">
                <a16:creationId xmlns:a16="http://schemas.microsoft.com/office/drawing/2014/main" id="{39593508-2D95-4109-9F51-E2A9128F6649}"/>
              </a:ext>
            </a:extLst>
          </p:cNvPr>
          <p:cNvSpPr txBox="1"/>
          <p:nvPr/>
        </p:nvSpPr>
        <p:spPr>
          <a:xfrm>
            <a:off x="6152283" y="6700549"/>
            <a:ext cx="7451386" cy="580159"/>
          </a:xfrm>
          <a:prstGeom prst="rect">
            <a:avLst/>
          </a:prstGeom>
          <a:noFill/>
        </p:spPr>
        <p:txBody>
          <a:bodyPr wrap="square">
            <a:spAutoFit/>
          </a:bodyPr>
          <a:lstStyle/>
          <a:p>
            <a:pPr marL="0" indent="0" algn="l">
              <a:lnSpc>
                <a:spcPts val="2000"/>
              </a:lnSpc>
              <a:buNone/>
            </a:pPr>
            <a:r>
              <a:rPr lang="en-US" sz="1250" dirty="0">
                <a:solidFill>
                  <a:srgbClr val="E5DCE6"/>
                </a:solidFill>
                <a:latin typeface="Montserrat" pitchFamily="34" charset="0"/>
                <a:ea typeface="Montserrat" pitchFamily="34" charset="-122"/>
                <a:cs typeface="Montserrat" pitchFamily="34" charset="-120"/>
              </a:rPr>
              <a:t>Crucial for security, this library hashes passwords into an unreadable, secure format, ensuring plain-text passwords are never stored.</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689600" y="466421"/>
            <a:ext cx="6771638" cy="1357665"/>
          </a:xfrm>
          <a:prstGeom prst="rect">
            <a:avLst/>
          </a:prstGeom>
        </p:spPr>
        <p:txBody>
          <a:bodyPr vert="horz" wrap="square" lIns="0" tIns="252144" rIns="0" bIns="0" rtlCol="0">
            <a:spAutoFit/>
          </a:bodyPr>
          <a:lstStyle/>
          <a:p>
            <a:pPr marL="0" indent="0" algn="l">
              <a:lnSpc>
                <a:spcPts val="4350"/>
              </a:lnSpc>
              <a:buNone/>
            </a:pPr>
            <a:r>
              <a:rPr lang="en-US" sz="3500" b="1">
                <a:solidFill>
                  <a:srgbClr val="EEAEF6"/>
                </a:solidFill>
                <a:latin typeface="Bricolage Grotesque Extra Bold" pitchFamily="34" charset="0"/>
                <a:ea typeface="Bricolage Grotesque Extra Bold" pitchFamily="34" charset="-122"/>
                <a:cs typeface="Bricolage Grotesque Extra Bold" pitchFamily="34" charset="-120"/>
              </a:rPr>
              <a:t>Phase 2: The User-Centric "Face" (Frontend)</a:t>
            </a:r>
            <a:endParaRPr lang="en-US" sz="3500" dirty="0"/>
          </a:p>
        </p:txBody>
      </p:sp>
      <p:grpSp>
        <p:nvGrpSpPr>
          <p:cNvPr id="65" name="object 65"/>
          <p:cNvGrpSpPr/>
          <p:nvPr/>
        </p:nvGrpSpPr>
        <p:grpSpPr>
          <a:xfrm>
            <a:off x="5800765" y="5762943"/>
            <a:ext cx="7896859" cy="1947404"/>
            <a:chOff x="6109970" y="5657722"/>
            <a:chExt cx="7896859" cy="2022475"/>
          </a:xfrm>
        </p:grpSpPr>
        <p:sp>
          <p:nvSpPr>
            <p:cNvPr id="66" name="object 66"/>
            <p:cNvSpPr/>
            <p:nvPr/>
          </p:nvSpPr>
          <p:spPr>
            <a:xfrm>
              <a:off x="6109970" y="5657722"/>
              <a:ext cx="7896859" cy="2022475"/>
            </a:xfrm>
            <a:custGeom>
              <a:avLst/>
              <a:gdLst/>
              <a:ahLst/>
              <a:cxnLst/>
              <a:rect l="l" t="t" r="r" b="b"/>
              <a:pathLst>
                <a:path w="7896859" h="2022475">
                  <a:moveTo>
                    <a:pt x="7822057" y="0"/>
                  </a:moveTo>
                  <a:lnTo>
                    <a:pt x="74802" y="0"/>
                  </a:lnTo>
                  <a:lnTo>
                    <a:pt x="45702" y="5883"/>
                  </a:lnTo>
                  <a:lnTo>
                    <a:pt x="21923" y="21923"/>
                  </a:lnTo>
                  <a:lnTo>
                    <a:pt x="5883" y="45702"/>
                  </a:lnTo>
                  <a:lnTo>
                    <a:pt x="0" y="74802"/>
                  </a:lnTo>
                  <a:lnTo>
                    <a:pt x="0" y="1947494"/>
                  </a:lnTo>
                  <a:lnTo>
                    <a:pt x="5883" y="1976609"/>
                  </a:lnTo>
                  <a:lnTo>
                    <a:pt x="21923" y="2000381"/>
                  </a:lnTo>
                  <a:lnTo>
                    <a:pt x="45702" y="2016408"/>
                  </a:lnTo>
                  <a:lnTo>
                    <a:pt x="74802" y="2022284"/>
                  </a:lnTo>
                  <a:lnTo>
                    <a:pt x="7822057" y="2022284"/>
                  </a:lnTo>
                  <a:lnTo>
                    <a:pt x="7851157" y="2016408"/>
                  </a:lnTo>
                  <a:lnTo>
                    <a:pt x="7874936" y="2000381"/>
                  </a:lnTo>
                  <a:lnTo>
                    <a:pt x="7890976" y="1976609"/>
                  </a:lnTo>
                  <a:lnTo>
                    <a:pt x="7896860" y="1947494"/>
                  </a:lnTo>
                  <a:lnTo>
                    <a:pt x="7896860" y="74802"/>
                  </a:lnTo>
                  <a:lnTo>
                    <a:pt x="7890976" y="45702"/>
                  </a:lnTo>
                  <a:lnTo>
                    <a:pt x="7874936" y="21923"/>
                  </a:lnTo>
                  <a:lnTo>
                    <a:pt x="7851157" y="5883"/>
                  </a:lnTo>
                  <a:lnTo>
                    <a:pt x="7822057" y="0"/>
                  </a:lnTo>
                  <a:close/>
                </a:path>
              </a:pathLst>
            </a:custGeom>
            <a:solidFill>
              <a:srgbClr val="282C5E"/>
            </a:solidFill>
          </p:spPr>
          <p:txBody>
            <a:bodyPr wrap="square" lIns="0" tIns="0" rIns="0" bIns="0" rtlCol="0"/>
            <a:lstStyle/>
            <a:p>
              <a:endParaRPr dirty="0"/>
            </a:p>
          </p:txBody>
        </p:sp>
        <p:sp>
          <p:nvSpPr>
            <p:cNvPr id="67" name="object 67"/>
            <p:cNvSpPr/>
            <p:nvPr/>
          </p:nvSpPr>
          <p:spPr>
            <a:xfrm>
              <a:off x="6288278" y="5834506"/>
              <a:ext cx="535305" cy="535305"/>
            </a:xfrm>
            <a:custGeom>
              <a:avLst/>
              <a:gdLst/>
              <a:ahLst/>
              <a:cxnLst/>
              <a:rect l="l" t="t" r="r" b="b"/>
              <a:pathLst>
                <a:path w="535304" h="535304">
                  <a:moveTo>
                    <a:pt x="267462" y="0"/>
                  </a:moveTo>
                  <a:lnTo>
                    <a:pt x="219389" y="4309"/>
                  </a:lnTo>
                  <a:lnTo>
                    <a:pt x="174141" y="16734"/>
                  </a:lnTo>
                  <a:lnTo>
                    <a:pt x="132475" y="36519"/>
                  </a:lnTo>
                  <a:lnTo>
                    <a:pt x="95145" y="62908"/>
                  </a:lnTo>
                  <a:lnTo>
                    <a:pt x="62908" y="95145"/>
                  </a:lnTo>
                  <a:lnTo>
                    <a:pt x="36519" y="132475"/>
                  </a:lnTo>
                  <a:lnTo>
                    <a:pt x="16734" y="174141"/>
                  </a:lnTo>
                  <a:lnTo>
                    <a:pt x="4309" y="219389"/>
                  </a:lnTo>
                  <a:lnTo>
                    <a:pt x="0" y="267462"/>
                  </a:lnTo>
                  <a:lnTo>
                    <a:pt x="4309" y="315534"/>
                  </a:lnTo>
                  <a:lnTo>
                    <a:pt x="16734" y="360782"/>
                  </a:lnTo>
                  <a:lnTo>
                    <a:pt x="36519" y="402448"/>
                  </a:lnTo>
                  <a:lnTo>
                    <a:pt x="62908" y="439778"/>
                  </a:lnTo>
                  <a:lnTo>
                    <a:pt x="95145" y="472015"/>
                  </a:lnTo>
                  <a:lnTo>
                    <a:pt x="132475" y="498404"/>
                  </a:lnTo>
                  <a:lnTo>
                    <a:pt x="174141" y="518189"/>
                  </a:lnTo>
                  <a:lnTo>
                    <a:pt x="219389" y="530614"/>
                  </a:lnTo>
                  <a:lnTo>
                    <a:pt x="267462" y="534924"/>
                  </a:lnTo>
                  <a:lnTo>
                    <a:pt x="315534" y="530614"/>
                  </a:lnTo>
                  <a:lnTo>
                    <a:pt x="360782" y="518189"/>
                  </a:lnTo>
                  <a:lnTo>
                    <a:pt x="402448" y="498404"/>
                  </a:lnTo>
                  <a:lnTo>
                    <a:pt x="439778" y="472015"/>
                  </a:lnTo>
                  <a:lnTo>
                    <a:pt x="472015" y="439778"/>
                  </a:lnTo>
                  <a:lnTo>
                    <a:pt x="498404" y="402448"/>
                  </a:lnTo>
                  <a:lnTo>
                    <a:pt x="518189" y="360782"/>
                  </a:lnTo>
                  <a:lnTo>
                    <a:pt x="530614" y="315534"/>
                  </a:lnTo>
                  <a:lnTo>
                    <a:pt x="534924" y="267462"/>
                  </a:lnTo>
                  <a:lnTo>
                    <a:pt x="530614" y="219389"/>
                  </a:lnTo>
                  <a:lnTo>
                    <a:pt x="518189" y="174141"/>
                  </a:lnTo>
                  <a:lnTo>
                    <a:pt x="498404" y="132475"/>
                  </a:lnTo>
                  <a:lnTo>
                    <a:pt x="472015" y="95145"/>
                  </a:lnTo>
                  <a:lnTo>
                    <a:pt x="439778" y="62908"/>
                  </a:lnTo>
                  <a:lnTo>
                    <a:pt x="402448" y="36519"/>
                  </a:lnTo>
                  <a:lnTo>
                    <a:pt x="360782" y="16734"/>
                  </a:lnTo>
                  <a:lnTo>
                    <a:pt x="315534" y="4309"/>
                  </a:lnTo>
                  <a:lnTo>
                    <a:pt x="267462" y="0"/>
                  </a:lnTo>
                  <a:close/>
                </a:path>
              </a:pathLst>
            </a:custGeom>
            <a:solidFill>
              <a:srgbClr val="EDADF6"/>
            </a:solidFill>
          </p:spPr>
          <p:txBody>
            <a:bodyPr wrap="square" lIns="0" tIns="0" rIns="0" bIns="0" rtlCol="0"/>
            <a:lstStyle/>
            <a:p>
              <a:endParaRPr/>
            </a:p>
          </p:txBody>
        </p:sp>
      </p:grpSp>
      <p:pic>
        <p:nvPicPr>
          <p:cNvPr id="90" name="object 90"/>
          <p:cNvPicPr/>
          <p:nvPr/>
        </p:nvPicPr>
        <p:blipFill>
          <a:blip r:embed="rId2" cstate="print"/>
          <a:stretch>
            <a:fillRect/>
          </a:stretch>
        </p:blipFill>
        <p:spPr>
          <a:xfrm>
            <a:off x="0" y="305467"/>
            <a:ext cx="5760719" cy="7924129"/>
          </a:xfrm>
          <a:prstGeom prst="rect">
            <a:avLst/>
          </a:prstGeom>
        </p:spPr>
      </p:pic>
      <p:sp>
        <p:nvSpPr>
          <p:cNvPr id="102" name="TextBox 101">
            <a:extLst>
              <a:ext uri="{FF2B5EF4-FFF2-40B4-BE49-F238E27FC236}">
                <a16:creationId xmlns:a16="http://schemas.microsoft.com/office/drawing/2014/main" id="{DEA4F247-D69D-44C9-8EE3-316D270A4B36}"/>
              </a:ext>
            </a:extLst>
          </p:cNvPr>
          <p:cNvSpPr txBox="1"/>
          <p:nvPr/>
        </p:nvSpPr>
        <p:spPr>
          <a:xfrm>
            <a:off x="5689600" y="1848039"/>
            <a:ext cx="7315200" cy="642227"/>
          </a:xfrm>
          <a:prstGeom prst="rect">
            <a:avLst/>
          </a:prstGeom>
          <a:noFill/>
        </p:spPr>
        <p:txBody>
          <a:bodyPr wrap="square">
            <a:spAutoFit/>
          </a:bodyPr>
          <a:lstStyle/>
          <a:p>
            <a:pPr marL="0" indent="0" algn="l">
              <a:lnSpc>
                <a:spcPts val="2200"/>
              </a:lnSpc>
              <a:buNone/>
            </a:pPr>
            <a:r>
              <a:rPr lang="en-US" sz="1800" dirty="0">
                <a:solidFill>
                  <a:srgbClr val="E5DCE6"/>
                </a:solidFill>
                <a:latin typeface="Montserrat" pitchFamily="34" charset="0"/>
                <a:ea typeface="Montserrat" pitchFamily="34" charset="-122"/>
                <a:cs typeface="Montserrat" pitchFamily="34" charset="-120"/>
              </a:rPr>
              <a:t>Our frontend focuses on delivering a seamless and professional user experience across all devices.</a:t>
            </a:r>
            <a:endParaRPr lang="en-US" sz="1800" dirty="0"/>
          </a:p>
        </p:txBody>
      </p:sp>
      <p:sp>
        <p:nvSpPr>
          <p:cNvPr id="103" name="Shape 6">
            <a:extLst>
              <a:ext uri="{FF2B5EF4-FFF2-40B4-BE49-F238E27FC236}">
                <a16:creationId xmlns:a16="http://schemas.microsoft.com/office/drawing/2014/main" id="{0B22742E-A661-413E-8F17-99D177F8FE5B}"/>
              </a:ext>
            </a:extLst>
          </p:cNvPr>
          <p:cNvSpPr/>
          <p:nvPr/>
        </p:nvSpPr>
        <p:spPr>
          <a:xfrm>
            <a:off x="9917793" y="2630337"/>
            <a:ext cx="3859411" cy="2878336"/>
          </a:xfrm>
          <a:prstGeom prst="roundRect">
            <a:avLst>
              <a:gd name="adj" fmla="val 2600"/>
            </a:avLst>
          </a:prstGeom>
          <a:solidFill>
            <a:srgbClr val="282D5E"/>
          </a:solidFill>
          <a:ln/>
        </p:spPr>
      </p:sp>
      <p:sp>
        <p:nvSpPr>
          <p:cNvPr id="104" name="Shape 7">
            <a:extLst>
              <a:ext uri="{FF2B5EF4-FFF2-40B4-BE49-F238E27FC236}">
                <a16:creationId xmlns:a16="http://schemas.microsoft.com/office/drawing/2014/main" id="{58087394-6A89-4EAD-86B2-582374736926}"/>
              </a:ext>
            </a:extLst>
          </p:cNvPr>
          <p:cNvSpPr/>
          <p:nvPr/>
        </p:nvSpPr>
        <p:spPr>
          <a:xfrm>
            <a:off x="10069973" y="2900188"/>
            <a:ext cx="534353" cy="534352"/>
          </a:xfrm>
          <a:prstGeom prst="roundRect">
            <a:avLst>
              <a:gd name="adj" fmla="val 17110604"/>
            </a:avLst>
          </a:prstGeom>
          <a:solidFill>
            <a:srgbClr val="EEAEF6"/>
          </a:solidFill>
          <a:ln/>
        </p:spPr>
      </p:sp>
      <p:pic>
        <p:nvPicPr>
          <p:cNvPr id="106" name="Picture 105">
            <a:extLst>
              <a:ext uri="{FF2B5EF4-FFF2-40B4-BE49-F238E27FC236}">
                <a16:creationId xmlns:a16="http://schemas.microsoft.com/office/drawing/2014/main" id="{857DA685-450F-41DA-881D-CE759FC39798}"/>
              </a:ext>
            </a:extLst>
          </p:cNvPr>
          <p:cNvPicPr>
            <a:picLocks noChangeAspect="1"/>
          </p:cNvPicPr>
          <p:nvPr/>
        </p:nvPicPr>
        <p:blipFill>
          <a:blip r:embed="rId3"/>
          <a:stretch>
            <a:fillRect/>
          </a:stretch>
        </p:blipFill>
        <p:spPr>
          <a:xfrm>
            <a:off x="10194426" y="3043539"/>
            <a:ext cx="247650" cy="247650"/>
          </a:xfrm>
          <a:prstGeom prst="rect">
            <a:avLst/>
          </a:prstGeom>
        </p:spPr>
      </p:pic>
      <p:sp>
        <p:nvSpPr>
          <p:cNvPr id="110" name="TextBox 109">
            <a:extLst>
              <a:ext uri="{FF2B5EF4-FFF2-40B4-BE49-F238E27FC236}">
                <a16:creationId xmlns:a16="http://schemas.microsoft.com/office/drawing/2014/main" id="{9D21269A-8293-495F-8F4B-E926BF587B56}"/>
              </a:ext>
            </a:extLst>
          </p:cNvPr>
          <p:cNvSpPr txBox="1"/>
          <p:nvPr/>
        </p:nvSpPr>
        <p:spPr>
          <a:xfrm>
            <a:off x="10069076" y="3524455"/>
            <a:ext cx="7315200" cy="357662"/>
          </a:xfrm>
          <a:prstGeom prst="rect">
            <a:avLst/>
          </a:prstGeom>
          <a:noFill/>
        </p:spPr>
        <p:txBody>
          <a:bodyPr wrap="square">
            <a:spAutoFit/>
          </a:bodyPr>
          <a:lstStyle/>
          <a:p>
            <a:pPr marL="0" indent="0" algn="l">
              <a:lnSpc>
                <a:spcPts val="215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Jinja2 Templating</a:t>
            </a:r>
            <a:endParaRPr lang="en-US" sz="1800" dirty="0"/>
          </a:p>
        </p:txBody>
      </p:sp>
      <p:sp>
        <p:nvSpPr>
          <p:cNvPr id="112" name="TextBox 111">
            <a:extLst>
              <a:ext uri="{FF2B5EF4-FFF2-40B4-BE49-F238E27FC236}">
                <a16:creationId xmlns:a16="http://schemas.microsoft.com/office/drawing/2014/main" id="{363E7F04-E85F-4C58-9A55-3783916A2FBA}"/>
              </a:ext>
            </a:extLst>
          </p:cNvPr>
          <p:cNvSpPr txBox="1"/>
          <p:nvPr/>
        </p:nvSpPr>
        <p:spPr>
          <a:xfrm>
            <a:off x="10036835" y="3884326"/>
            <a:ext cx="3859411" cy="1476110"/>
          </a:xfrm>
          <a:prstGeom prst="rect">
            <a:avLst/>
          </a:prstGeom>
          <a:noFill/>
        </p:spPr>
        <p:txBody>
          <a:bodyPr wrap="square">
            <a:spAutoFit/>
          </a:bodyPr>
          <a:lstStyle/>
          <a:p>
            <a:pPr marL="0" indent="0" algn="l">
              <a:lnSpc>
                <a:spcPts val="2200"/>
              </a:lnSpc>
              <a:buNone/>
            </a:pPr>
            <a:r>
              <a:rPr lang="en-US" sz="1400" dirty="0">
                <a:solidFill>
                  <a:srgbClr val="E5DCE6"/>
                </a:solidFill>
                <a:latin typeface="Montserrat" pitchFamily="34" charset="0"/>
                <a:ea typeface="Montserrat" pitchFamily="34" charset="-122"/>
                <a:cs typeface="Montserrat" pitchFamily="34" charset="-120"/>
              </a:rPr>
              <a:t>Utilized a </a:t>
            </a:r>
            <a:r>
              <a:rPr lang="en-US" sz="1400" dirty="0">
                <a:solidFill>
                  <a:srgbClr val="E5DCE6"/>
                </a:solidFill>
                <a:highlight>
                  <a:srgbClr val="161B4C"/>
                </a:highlight>
                <a:latin typeface="Consolas" pitchFamily="34" charset="0"/>
                <a:ea typeface="Consolas" pitchFamily="34" charset="-122"/>
                <a:cs typeface="Consolas" pitchFamily="34" charset="-120"/>
              </a:rPr>
              <a:t>base.html</a:t>
            </a:r>
            <a:r>
              <a:rPr lang="en-US" sz="1400" dirty="0">
                <a:solidFill>
                  <a:srgbClr val="E5DCE6"/>
                </a:solidFill>
                <a:latin typeface="Montserrat" pitchFamily="34" charset="0"/>
                <a:ea typeface="Montserrat" pitchFamily="34" charset="-122"/>
                <a:cs typeface="Montserrat" pitchFamily="34" charset="-120"/>
              </a:rPr>
              <a:t> for consistent navigation. All other pages, such as </a:t>
            </a:r>
            <a:r>
              <a:rPr lang="en-US" sz="1400" dirty="0">
                <a:solidFill>
                  <a:srgbClr val="E5DCE6"/>
                </a:solidFill>
                <a:highlight>
                  <a:srgbClr val="161B4C"/>
                </a:highlight>
                <a:latin typeface="Consolas" pitchFamily="34" charset="0"/>
                <a:ea typeface="Consolas" pitchFamily="34" charset="-122"/>
                <a:cs typeface="Consolas" pitchFamily="34" charset="-120"/>
              </a:rPr>
              <a:t>login.html</a:t>
            </a:r>
            <a:r>
              <a:rPr lang="en-US" sz="1400" dirty="0">
                <a:solidFill>
                  <a:srgbClr val="E5DCE6"/>
                </a:solidFill>
                <a:latin typeface="Montserrat" pitchFamily="34" charset="0"/>
                <a:ea typeface="Montserrat" pitchFamily="34" charset="-122"/>
                <a:cs typeface="Montserrat" pitchFamily="34" charset="-120"/>
              </a:rPr>
              <a:t> and </a:t>
            </a:r>
            <a:r>
              <a:rPr lang="en-US" sz="1400" dirty="0">
                <a:solidFill>
                  <a:srgbClr val="E5DCE6"/>
                </a:solidFill>
                <a:highlight>
                  <a:srgbClr val="161B4C"/>
                </a:highlight>
                <a:latin typeface="Consolas" pitchFamily="34" charset="0"/>
                <a:ea typeface="Consolas" pitchFamily="34" charset="-122"/>
                <a:cs typeface="Consolas" pitchFamily="34" charset="-120"/>
              </a:rPr>
              <a:t>detector.html</a:t>
            </a:r>
            <a:r>
              <a:rPr lang="en-US" sz="1400" dirty="0">
                <a:solidFill>
                  <a:srgbClr val="E5DCE6"/>
                </a:solidFill>
                <a:latin typeface="Montserrat" pitchFamily="34" charset="0"/>
                <a:ea typeface="Montserrat" pitchFamily="34" charset="-122"/>
                <a:cs typeface="Montserrat" pitchFamily="34" charset="-120"/>
              </a:rPr>
              <a:t>, extend this base, ensuring a uniform look and feel throughout the application.</a:t>
            </a:r>
            <a:endParaRPr lang="en-US" sz="1400" dirty="0"/>
          </a:p>
        </p:txBody>
      </p:sp>
      <p:sp>
        <p:nvSpPr>
          <p:cNvPr id="113" name="Shape 2">
            <a:extLst>
              <a:ext uri="{FF2B5EF4-FFF2-40B4-BE49-F238E27FC236}">
                <a16:creationId xmlns:a16="http://schemas.microsoft.com/office/drawing/2014/main" id="{757AF0E5-D393-42C4-8B49-1BD4C915AA0C}"/>
              </a:ext>
            </a:extLst>
          </p:cNvPr>
          <p:cNvSpPr/>
          <p:nvPr/>
        </p:nvSpPr>
        <p:spPr>
          <a:xfrm>
            <a:off x="5910267" y="2610841"/>
            <a:ext cx="3859411" cy="2878336"/>
          </a:xfrm>
          <a:prstGeom prst="roundRect">
            <a:avLst>
              <a:gd name="adj" fmla="val 2600"/>
            </a:avLst>
          </a:prstGeom>
          <a:solidFill>
            <a:srgbClr val="282D5E"/>
          </a:solidFill>
          <a:ln/>
        </p:spPr>
      </p:sp>
      <p:sp>
        <p:nvSpPr>
          <p:cNvPr id="114" name="Shape 3">
            <a:extLst>
              <a:ext uri="{FF2B5EF4-FFF2-40B4-BE49-F238E27FC236}">
                <a16:creationId xmlns:a16="http://schemas.microsoft.com/office/drawing/2014/main" id="{B1387FCE-7F2E-40A9-96FA-31FAE3163E71}"/>
              </a:ext>
            </a:extLst>
          </p:cNvPr>
          <p:cNvSpPr/>
          <p:nvPr/>
        </p:nvSpPr>
        <p:spPr>
          <a:xfrm>
            <a:off x="6168112" y="2982943"/>
            <a:ext cx="534353" cy="534352"/>
          </a:xfrm>
          <a:prstGeom prst="roundRect">
            <a:avLst>
              <a:gd name="adj" fmla="val 17110604"/>
            </a:avLst>
          </a:prstGeom>
          <a:solidFill>
            <a:srgbClr val="EEAEF6"/>
          </a:solidFill>
          <a:ln/>
        </p:spPr>
      </p:sp>
      <p:pic>
        <p:nvPicPr>
          <p:cNvPr id="120" name="Picture 119">
            <a:extLst>
              <a:ext uri="{FF2B5EF4-FFF2-40B4-BE49-F238E27FC236}">
                <a16:creationId xmlns:a16="http://schemas.microsoft.com/office/drawing/2014/main" id="{3F205234-42E5-4EA4-BEA4-40C8F678BF5E}"/>
              </a:ext>
            </a:extLst>
          </p:cNvPr>
          <p:cNvPicPr>
            <a:picLocks noChangeAspect="1"/>
          </p:cNvPicPr>
          <p:nvPr/>
        </p:nvPicPr>
        <p:blipFill>
          <a:blip r:embed="rId4"/>
          <a:stretch>
            <a:fillRect/>
          </a:stretch>
        </p:blipFill>
        <p:spPr>
          <a:xfrm>
            <a:off x="6316227" y="3115307"/>
            <a:ext cx="238125" cy="247650"/>
          </a:xfrm>
          <a:prstGeom prst="rect">
            <a:avLst/>
          </a:prstGeom>
        </p:spPr>
      </p:pic>
      <p:sp>
        <p:nvSpPr>
          <p:cNvPr id="122" name="TextBox 121">
            <a:extLst>
              <a:ext uri="{FF2B5EF4-FFF2-40B4-BE49-F238E27FC236}">
                <a16:creationId xmlns:a16="http://schemas.microsoft.com/office/drawing/2014/main" id="{15361B90-9B81-4261-8C21-27764905F505}"/>
              </a:ext>
            </a:extLst>
          </p:cNvPr>
          <p:cNvSpPr txBox="1"/>
          <p:nvPr/>
        </p:nvSpPr>
        <p:spPr>
          <a:xfrm>
            <a:off x="6025151" y="3987998"/>
            <a:ext cx="3479355" cy="1189300"/>
          </a:xfrm>
          <a:prstGeom prst="rect">
            <a:avLst/>
          </a:prstGeom>
          <a:noFill/>
        </p:spPr>
        <p:txBody>
          <a:bodyPr wrap="square">
            <a:spAutoFit/>
          </a:bodyPr>
          <a:lstStyle/>
          <a:p>
            <a:pPr marL="0" indent="0" algn="l">
              <a:lnSpc>
                <a:spcPts val="2200"/>
              </a:lnSpc>
              <a:buNone/>
            </a:pPr>
            <a:r>
              <a:rPr lang="en-US" sz="1250" dirty="0">
                <a:solidFill>
                  <a:srgbClr val="E5DCE6"/>
                </a:solidFill>
                <a:latin typeface="Montserrat" pitchFamily="34" charset="0"/>
                <a:ea typeface="Montserrat" pitchFamily="34" charset="-122"/>
                <a:cs typeface="Montserrat" pitchFamily="34" charset="-120"/>
              </a:rPr>
              <a:t>Leveraged for its robust framework, ensuring a professional, clean, and highly responsive design that adapts to both mobile and desktop views.</a:t>
            </a:r>
            <a:endParaRPr lang="en-US" sz="1250" dirty="0"/>
          </a:p>
        </p:txBody>
      </p:sp>
      <p:sp>
        <p:nvSpPr>
          <p:cNvPr id="124" name="TextBox 123">
            <a:extLst>
              <a:ext uri="{FF2B5EF4-FFF2-40B4-BE49-F238E27FC236}">
                <a16:creationId xmlns:a16="http://schemas.microsoft.com/office/drawing/2014/main" id="{9F56D49B-1DF0-4FC9-8D9B-F92F6BA014E1}"/>
              </a:ext>
            </a:extLst>
          </p:cNvPr>
          <p:cNvSpPr txBox="1"/>
          <p:nvPr/>
        </p:nvSpPr>
        <p:spPr>
          <a:xfrm>
            <a:off x="5975740" y="3688958"/>
            <a:ext cx="8693150" cy="369332"/>
          </a:xfrm>
          <a:prstGeom prst="rect">
            <a:avLst/>
          </a:prstGeom>
          <a:noFill/>
        </p:spPr>
        <p:txBody>
          <a:bodyPr wrap="square">
            <a:spAutoFit/>
          </a:bodyPr>
          <a:lstStyle/>
          <a:p>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Bootstrap</a:t>
            </a:r>
            <a:endParaRPr lang="en-US" dirty="0"/>
          </a:p>
        </p:txBody>
      </p:sp>
      <p:pic>
        <p:nvPicPr>
          <p:cNvPr id="125" name="Image 3" descr="preencoded.png">
            <a:extLst>
              <a:ext uri="{FF2B5EF4-FFF2-40B4-BE49-F238E27FC236}">
                <a16:creationId xmlns:a16="http://schemas.microsoft.com/office/drawing/2014/main" id="{9DDDF40C-1CBC-4A3A-B6C6-56AA89CFB1F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19139" y="6070880"/>
            <a:ext cx="240506" cy="240506"/>
          </a:xfrm>
          <a:prstGeom prst="rect">
            <a:avLst/>
          </a:prstGeom>
        </p:spPr>
      </p:pic>
      <p:sp>
        <p:nvSpPr>
          <p:cNvPr id="127" name="TextBox 126">
            <a:extLst>
              <a:ext uri="{FF2B5EF4-FFF2-40B4-BE49-F238E27FC236}">
                <a16:creationId xmlns:a16="http://schemas.microsoft.com/office/drawing/2014/main" id="{F09DE3A5-0B7A-44E1-959F-54C19F928625}"/>
              </a:ext>
            </a:extLst>
          </p:cNvPr>
          <p:cNvSpPr txBox="1"/>
          <p:nvPr/>
        </p:nvSpPr>
        <p:spPr>
          <a:xfrm>
            <a:off x="5987321" y="6502427"/>
            <a:ext cx="8693150" cy="357662"/>
          </a:xfrm>
          <a:prstGeom prst="rect">
            <a:avLst/>
          </a:prstGeom>
          <a:noFill/>
        </p:spPr>
        <p:txBody>
          <a:bodyPr wrap="square">
            <a:spAutoFit/>
          </a:bodyPr>
          <a:lstStyle/>
          <a:p>
            <a:pPr marL="0" indent="0" algn="l">
              <a:lnSpc>
                <a:spcPts val="215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Dynamic JavaScript</a:t>
            </a:r>
            <a:endParaRPr lang="en-US" sz="1800" dirty="0"/>
          </a:p>
        </p:txBody>
      </p:sp>
      <p:sp>
        <p:nvSpPr>
          <p:cNvPr id="129" name="TextBox 128">
            <a:extLst>
              <a:ext uri="{FF2B5EF4-FFF2-40B4-BE49-F238E27FC236}">
                <a16:creationId xmlns:a16="http://schemas.microsoft.com/office/drawing/2014/main" id="{944E6798-15CB-40A7-A45F-A650D36E3E60}"/>
              </a:ext>
            </a:extLst>
          </p:cNvPr>
          <p:cNvSpPr txBox="1"/>
          <p:nvPr/>
        </p:nvSpPr>
        <p:spPr>
          <a:xfrm>
            <a:off x="5973437" y="6763098"/>
            <a:ext cx="7361563" cy="625043"/>
          </a:xfrm>
          <a:prstGeom prst="rect">
            <a:avLst/>
          </a:prstGeom>
          <a:noFill/>
        </p:spPr>
        <p:txBody>
          <a:bodyPr wrap="square">
            <a:spAutoFit/>
          </a:bodyPr>
          <a:lstStyle/>
          <a:p>
            <a:pPr marL="0" indent="0" algn="l">
              <a:lnSpc>
                <a:spcPts val="2200"/>
              </a:lnSpc>
              <a:buNone/>
            </a:pPr>
            <a:r>
              <a:rPr lang="en-US" sz="1250" dirty="0">
                <a:solidFill>
                  <a:srgbClr val="E5DCE6"/>
                </a:solidFill>
                <a:latin typeface="Montserrat" pitchFamily="34" charset="0"/>
                <a:ea typeface="Montserrat" pitchFamily="34" charset="-122"/>
                <a:cs typeface="Montserrat" pitchFamily="34" charset="-120"/>
              </a:rPr>
              <a:t>Implemented on the detector page to facilitate asynchronous image uploads and result display, providing instant feedback without page reloads.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66062" y="703833"/>
            <a:ext cx="8835137" cy="682879"/>
          </a:xfrm>
          <a:prstGeom prst="rect">
            <a:avLst/>
          </a:prstGeom>
        </p:spPr>
        <p:txBody>
          <a:bodyPr vert="horz" wrap="square" lIns="0" tIns="13335" rIns="0" bIns="0" rtlCol="0">
            <a:spAutoFit/>
          </a:bodyPr>
          <a:lstStyle/>
          <a:p>
            <a:pPr marL="12700">
              <a:lnSpc>
                <a:spcPct val="100000"/>
              </a:lnSpc>
              <a:spcBef>
                <a:spcPts val="105"/>
              </a:spcBef>
            </a:pPr>
            <a:r>
              <a:rPr sz="4350" b="1" dirty="0">
                <a:latin typeface="Bricolage Grotesque Extra BoldBricolage Grotesque Extra Bold"/>
              </a:rPr>
              <a:t>UI</a:t>
            </a:r>
            <a:r>
              <a:rPr sz="4350" b="1" spc="-65" dirty="0">
                <a:latin typeface="Bricolage Grotesque Extra BoldBricolage Grotesque Extra Bold"/>
              </a:rPr>
              <a:t> </a:t>
            </a:r>
            <a:r>
              <a:rPr sz="4350" b="1" dirty="0">
                <a:latin typeface="Bricolage Grotesque Extra BoldBricolage Grotesque Extra Bold"/>
              </a:rPr>
              <a:t>Showcase:</a:t>
            </a:r>
            <a:r>
              <a:rPr sz="4350" b="1" spc="-50" dirty="0">
                <a:latin typeface="Bricolage Grotesque Extra BoldBricolage Grotesque Extra Bold"/>
              </a:rPr>
              <a:t> </a:t>
            </a:r>
            <a:r>
              <a:rPr sz="4350" b="1" dirty="0">
                <a:latin typeface="Bricolage Grotesque Extra BoldBricolage Grotesque Extra Bold"/>
              </a:rPr>
              <a:t>Secure</a:t>
            </a:r>
            <a:r>
              <a:rPr sz="4350" b="1" spc="-50" dirty="0">
                <a:latin typeface="Bricolage Grotesque Extra BoldBricolage Grotesque Extra Bold"/>
              </a:rPr>
              <a:t> </a:t>
            </a:r>
            <a:r>
              <a:rPr sz="4350" b="1" dirty="0">
                <a:latin typeface="Bricolage Grotesque Extra BoldBricolage Grotesque Extra Bold"/>
              </a:rPr>
              <a:t>Login</a:t>
            </a:r>
            <a:r>
              <a:rPr sz="4350" b="1" spc="-55" dirty="0">
                <a:latin typeface="Bricolage Grotesque Extra BoldBricolage Grotesque Extra Bold"/>
              </a:rPr>
              <a:t> </a:t>
            </a:r>
            <a:r>
              <a:rPr sz="4350" b="1" dirty="0">
                <a:latin typeface="Bricolage Grotesque Extra BoldBricolage Grotesque Extra Bold"/>
              </a:rPr>
              <a:t>&amp;</a:t>
            </a:r>
            <a:r>
              <a:rPr sz="4350" b="1" spc="-65" dirty="0">
                <a:latin typeface="Bricolage Grotesque Extra BoldBricolage Grotesque Extra Bold"/>
              </a:rPr>
              <a:t> </a:t>
            </a:r>
            <a:r>
              <a:rPr sz="4350" b="1" spc="-10" dirty="0">
                <a:latin typeface="Bricolage Grotesque Extra BoldBricolage Grotesque Extra Bold"/>
              </a:rPr>
              <a:t>Profile</a:t>
            </a:r>
            <a:endParaRPr sz="4350" b="1" dirty="0">
              <a:latin typeface="Bricolage Grotesque Extra BoldBricolage Grotesque Extra Bold"/>
            </a:endParaRPr>
          </a:p>
        </p:txBody>
      </p:sp>
      <p:sp>
        <p:nvSpPr>
          <p:cNvPr id="4" name="object 4"/>
          <p:cNvSpPr txBox="1"/>
          <p:nvPr/>
        </p:nvSpPr>
        <p:spPr>
          <a:xfrm>
            <a:off x="772159" y="1505762"/>
            <a:ext cx="12740005" cy="704552"/>
          </a:xfrm>
          <a:prstGeom prst="rect">
            <a:avLst/>
          </a:prstGeom>
        </p:spPr>
        <p:txBody>
          <a:bodyPr vert="horz" wrap="square" lIns="0" tIns="12700" rIns="0" bIns="0" rtlCol="0">
            <a:spAutoFit/>
          </a:bodyPr>
          <a:lstStyle/>
          <a:p>
            <a:pPr marL="18415" marR="5080" indent="-6350">
              <a:lnSpc>
                <a:spcPct val="135400"/>
              </a:lnSpc>
              <a:spcBef>
                <a:spcPts val="100"/>
              </a:spcBef>
            </a:pPr>
            <a:r>
              <a:rPr lang="en-US" sz="1750" dirty="0">
                <a:solidFill>
                  <a:srgbClr val="E4DCE6"/>
                </a:solidFill>
                <a:latin typeface="Montserrat" panose="00000500000000000000" pitchFamily="2" charset="0"/>
                <a:cs typeface="Calibri"/>
              </a:rPr>
              <a:t>The</a:t>
            </a:r>
            <a:r>
              <a:rPr lang="en-US" sz="1750" spc="-30" dirty="0">
                <a:solidFill>
                  <a:srgbClr val="E4DCE6"/>
                </a:solidFill>
                <a:latin typeface="Montserrat" panose="00000500000000000000" pitchFamily="2" charset="0"/>
                <a:cs typeface="Calibri"/>
              </a:rPr>
              <a:t> </a:t>
            </a:r>
            <a:r>
              <a:rPr lang="en-US" sz="1750" spc="-10" dirty="0">
                <a:solidFill>
                  <a:srgbClr val="E4DCE6"/>
                </a:solidFill>
                <a:latin typeface="Montserrat" panose="00000500000000000000" pitchFamily="2" charset="0"/>
                <a:cs typeface="Calibri"/>
              </a:rPr>
              <a:t>application</a:t>
            </a:r>
            <a:r>
              <a:rPr lang="en-US" sz="1750" spc="-50"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is</a:t>
            </a:r>
            <a:r>
              <a:rPr lang="en-US" sz="1750" spc="-30" dirty="0">
                <a:solidFill>
                  <a:srgbClr val="E4DCE6"/>
                </a:solidFill>
                <a:latin typeface="Montserrat" panose="00000500000000000000" pitchFamily="2" charset="0"/>
                <a:cs typeface="Calibri"/>
              </a:rPr>
              <a:t> </a:t>
            </a:r>
            <a:r>
              <a:rPr lang="en-US" sz="1750" spc="-10" dirty="0">
                <a:solidFill>
                  <a:srgbClr val="E4DCE6"/>
                </a:solidFill>
                <a:latin typeface="Montserrat" panose="00000500000000000000" pitchFamily="2" charset="0"/>
                <a:cs typeface="Calibri"/>
              </a:rPr>
              <a:t>fortified</a:t>
            </a:r>
            <a:r>
              <a:rPr lang="en-US" sz="1750" spc="-35"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with</a:t>
            </a:r>
            <a:r>
              <a:rPr lang="en-US" sz="1750" spc="-35"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a</a:t>
            </a:r>
            <a:r>
              <a:rPr lang="en-US" sz="1750" spc="-45" dirty="0">
                <a:solidFill>
                  <a:srgbClr val="E4DCE6"/>
                </a:solidFill>
                <a:latin typeface="Montserrat" panose="00000500000000000000" pitchFamily="2" charset="0"/>
                <a:cs typeface="Calibri"/>
              </a:rPr>
              <a:t> </a:t>
            </a:r>
            <a:r>
              <a:rPr lang="en-US" sz="1750" spc="-10" dirty="0">
                <a:solidFill>
                  <a:srgbClr val="E4DCE6"/>
                </a:solidFill>
                <a:latin typeface="Montserrat" panose="00000500000000000000" pitchFamily="2" charset="0"/>
                <a:cs typeface="Calibri"/>
              </a:rPr>
              <a:t>comprehensive</a:t>
            </a:r>
            <a:r>
              <a:rPr lang="en-US" sz="1750" spc="-35" dirty="0">
                <a:solidFill>
                  <a:srgbClr val="E4DCE6"/>
                </a:solidFill>
                <a:latin typeface="Montserrat" panose="00000500000000000000" pitchFamily="2" charset="0"/>
                <a:cs typeface="Calibri"/>
              </a:rPr>
              <a:t> </a:t>
            </a:r>
            <a:r>
              <a:rPr lang="en-US" sz="1750" spc="-10" dirty="0">
                <a:solidFill>
                  <a:srgbClr val="E4DCE6"/>
                </a:solidFill>
                <a:latin typeface="Montserrat" panose="00000500000000000000" pitchFamily="2" charset="0"/>
                <a:cs typeface="Calibri"/>
              </a:rPr>
              <a:t>authentication</a:t>
            </a:r>
            <a:r>
              <a:rPr lang="en-US" sz="1750" spc="-35" dirty="0">
                <a:solidFill>
                  <a:srgbClr val="E4DCE6"/>
                </a:solidFill>
                <a:latin typeface="Montserrat" panose="00000500000000000000" pitchFamily="2" charset="0"/>
                <a:cs typeface="Calibri"/>
              </a:rPr>
              <a:t> </a:t>
            </a:r>
            <a:r>
              <a:rPr lang="en-US" sz="1750" spc="-20" dirty="0">
                <a:solidFill>
                  <a:srgbClr val="E4DCE6"/>
                </a:solidFill>
                <a:latin typeface="Montserrat" panose="00000500000000000000" pitchFamily="2" charset="0"/>
                <a:cs typeface="Calibri"/>
              </a:rPr>
              <a:t>system,</a:t>
            </a:r>
            <a:r>
              <a:rPr lang="en-US" sz="1750" spc="-40" dirty="0">
                <a:solidFill>
                  <a:srgbClr val="E4DCE6"/>
                </a:solidFill>
                <a:latin typeface="Montserrat" panose="00000500000000000000" pitchFamily="2" charset="0"/>
                <a:cs typeface="Calibri"/>
              </a:rPr>
              <a:t> </a:t>
            </a:r>
            <a:r>
              <a:rPr lang="en-US" sz="1750" spc="-10" dirty="0">
                <a:solidFill>
                  <a:srgbClr val="E4DCE6"/>
                </a:solidFill>
                <a:latin typeface="Montserrat" panose="00000500000000000000" pitchFamily="2" charset="0"/>
                <a:cs typeface="Calibri"/>
              </a:rPr>
              <a:t>demanding</a:t>
            </a:r>
            <a:r>
              <a:rPr lang="en-US" sz="1750" spc="-45"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user</a:t>
            </a:r>
            <a:r>
              <a:rPr lang="en-US" sz="1750" spc="-30" dirty="0">
                <a:solidFill>
                  <a:srgbClr val="E4DCE6"/>
                </a:solidFill>
                <a:latin typeface="Montserrat" panose="00000500000000000000" pitchFamily="2" charset="0"/>
                <a:cs typeface="Calibri"/>
              </a:rPr>
              <a:t> </a:t>
            </a:r>
            <a:r>
              <a:rPr lang="en-US" sz="1750" spc="-10" dirty="0">
                <a:solidFill>
                  <a:srgbClr val="E4DCE6"/>
                </a:solidFill>
                <a:latin typeface="Montserrat" panose="00000500000000000000" pitchFamily="2" charset="0"/>
                <a:cs typeface="Calibri"/>
              </a:rPr>
              <a:t>registration</a:t>
            </a:r>
            <a:r>
              <a:rPr lang="en-US" sz="1750" spc="-50"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and</a:t>
            </a:r>
            <a:r>
              <a:rPr lang="en-US" sz="1750" spc="-25"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login</a:t>
            </a:r>
            <a:r>
              <a:rPr lang="en-US" sz="1750" spc="-40"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for</a:t>
            </a:r>
            <a:r>
              <a:rPr lang="en-US" sz="1750" spc="-35"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access.</a:t>
            </a:r>
            <a:r>
              <a:rPr lang="en-US" sz="1750" spc="-35"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A</a:t>
            </a:r>
            <a:r>
              <a:rPr lang="en-US" sz="1750" spc="-10" dirty="0">
                <a:solidFill>
                  <a:srgbClr val="E4DCE6"/>
                </a:solidFill>
                <a:latin typeface="Montserrat" panose="00000500000000000000" pitchFamily="2" charset="0"/>
                <a:cs typeface="Calibri"/>
              </a:rPr>
              <a:t> dedicated</a:t>
            </a:r>
            <a:r>
              <a:rPr lang="en-US" sz="1750" spc="-45" dirty="0">
                <a:solidFill>
                  <a:srgbClr val="E4DCE6"/>
                </a:solidFill>
                <a:latin typeface="Montserrat" panose="00000500000000000000" pitchFamily="2" charset="0"/>
                <a:cs typeface="Calibri"/>
              </a:rPr>
              <a:t> </a:t>
            </a:r>
            <a:r>
              <a:rPr lang="en-US" sz="1750" spc="-10" dirty="0">
                <a:solidFill>
                  <a:srgbClr val="E4DCE6"/>
                </a:solidFill>
                <a:latin typeface="Montserrat" panose="00000500000000000000" pitchFamily="2" charset="0"/>
                <a:cs typeface="Calibri"/>
              </a:rPr>
              <a:t>profile </a:t>
            </a:r>
            <a:r>
              <a:rPr lang="en-US" sz="1750" dirty="0">
                <a:solidFill>
                  <a:srgbClr val="E4DCE6"/>
                </a:solidFill>
                <a:latin typeface="Montserrat" panose="00000500000000000000" pitchFamily="2" charset="0"/>
                <a:cs typeface="Calibri"/>
              </a:rPr>
              <a:t>page</a:t>
            </a:r>
            <a:r>
              <a:rPr lang="en-US" sz="1750" spc="-60"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further</a:t>
            </a:r>
            <a:r>
              <a:rPr lang="en-US" sz="1750" spc="-55" dirty="0">
                <a:solidFill>
                  <a:srgbClr val="E4DCE6"/>
                </a:solidFill>
                <a:latin typeface="Montserrat" panose="00000500000000000000" pitchFamily="2" charset="0"/>
                <a:cs typeface="Calibri"/>
              </a:rPr>
              <a:t> </a:t>
            </a:r>
            <a:r>
              <a:rPr lang="en-US" sz="1750" spc="-10" dirty="0">
                <a:solidFill>
                  <a:srgbClr val="E4DCE6"/>
                </a:solidFill>
                <a:latin typeface="Montserrat" panose="00000500000000000000" pitchFamily="2" charset="0"/>
                <a:cs typeface="Calibri"/>
              </a:rPr>
              <a:t>confirms</a:t>
            </a:r>
            <a:r>
              <a:rPr lang="en-US" sz="1750" spc="-55"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the</a:t>
            </a:r>
            <a:r>
              <a:rPr lang="en-US" sz="1750" spc="-65"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user's</a:t>
            </a:r>
            <a:r>
              <a:rPr lang="en-US" sz="1750" spc="-55"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active</a:t>
            </a:r>
            <a:r>
              <a:rPr lang="en-US" sz="1750" spc="-55"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session</a:t>
            </a:r>
            <a:r>
              <a:rPr lang="en-US" sz="1750" spc="-65"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and</a:t>
            </a:r>
            <a:r>
              <a:rPr lang="en-US" sz="1750" spc="-60" dirty="0">
                <a:solidFill>
                  <a:srgbClr val="E4DCE6"/>
                </a:solidFill>
                <a:latin typeface="Montserrat" panose="00000500000000000000" pitchFamily="2" charset="0"/>
                <a:cs typeface="Calibri"/>
              </a:rPr>
              <a:t> </a:t>
            </a:r>
            <a:r>
              <a:rPr lang="en-US" sz="1750" dirty="0">
                <a:solidFill>
                  <a:srgbClr val="E4DCE6"/>
                </a:solidFill>
                <a:latin typeface="Montserrat" panose="00000500000000000000" pitchFamily="2" charset="0"/>
                <a:cs typeface="Calibri"/>
              </a:rPr>
              <a:t>personal</a:t>
            </a:r>
            <a:r>
              <a:rPr lang="en-US" sz="1750" spc="-55" dirty="0">
                <a:solidFill>
                  <a:srgbClr val="E4DCE6"/>
                </a:solidFill>
                <a:latin typeface="Montserrat" panose="00000500000000000000" pitchFamily="2" charset="0"/>
                <a:cs typeface="Calibri"/>
              </a:rPr>
              <a:t> </a:t>
            </a:r>
            <a:r>
              <a:rPr lang="en-US" sz="1750" spc="-10" dirty="0">
                <a:solidFill>
                  <a:srgbClr val="E4DCE6"/>
                </a:solidFill>
                <a:latin typeface="Montserrat" panose="00000500000000000000" pitchFamily="2" charset="0"/>
                <a:cs typeface="Calibri"/>
              </a:rPr>
              <a:t>details.</a:t>
            </a:r>
            <a:endParaRPr lang="en-US" sz="1750" dirty="0">
              <a:latin typeface="Montserrat" panose="00000500000000000000" pitchFamily="2" charset="0"/>
              <a:cs typeface="Calibri"/>
            </a:endParaRPr>
          </a:p>
        </p:txBody>
      </p:sp>
      <p:sp>
        <p:nvSpPr>
          <p:cNvPr id="5" name="object 5"/>
          <p:cNvSpPr txBox="1"/>
          <p:nvPr/>
        </p:nvSpPr>
        <p:spPr>
          <a:xfrm>
            <a:off x="766062" y="5691377"/>
            <a:ext cx="10726803" cy="725199"/>
          </a:xfrm>
          <a:prstGeom prst="rect">
            <a:avLst/>
          </a:prstGeom>
        </p:spPr>
        <p:txBody>
          <a:bodyPr vert="horz" wrap="square" lIns="0" tIns="12065" rIns="0" bIns="0" rtlCol="0">
            <a:spAutoFit/>
          </a:bodyPr>
          <a:lstStyle/>
          <a:p>
            <a:pPr marL="12700">
              <a:lnSpc>
                <a:spcPct val="100000"/>
              </a:lnSpc>
              <a:spcBef>
                <a:spcPts val="95"/>
              </a:spcBef>
              <a:tabLst>
                <a:tab pos="7192645" algn="l"/>
              </a:tabLst>
            </a:pPr>
            <a:r>
              <a:rPr sz="2150" b="1" dirty="0">
                <a:solidFill>
                  <a:srgbClr val="EDADF6"/>
                </a:solidFill>
                <a:latin typeface="CalibBricolage Grotesque Extra Boldri"/>
                <a:cs typeface="Calibri"/>
              </a:rPr>
              <a:t>Secure</a:t>
            </a:r>
            <a:r>
              <a:rPr sz="2150" b="1" spc="-65" dirty="0">
                <a:solidFill>
                  <a:srgbClr val="EDADF6"/>
                </a:solidFill>
                <a:latin typeface="CalibBricolage Grotesque Extra Boldri"/>
                <a:cs typeface="Calibri"/>
              </a:rPr>
              <a:t> </a:t>
            </a:r>
            <a:r>
              <a:rPr sz="2150" b="1" dirty="0">
                <a:solidFill>
                  <a:srgbClr val="EDADF6"/>
                </a:solidFill>
                <a:latin typeface="CalibBricolage Grotesque Extra Boldri"/>
                <a:cs typeface="Calibri"/>
              </a:rPr>
              <a:t>Login</a:t>
            </a:r>
            <a:r>
              <a:rPr sz="2150" b="1" spc="-60" dirty="0">
                <a:solidFill>
                  <a:srgbClr val="EDADF6"/>
                </a:solidFill>
                <a:latin typeface="CalibBricolage Grotesque Extra Boldri"/>
                <a:cs typeface="Calibri"/>
              </a:rPr>
              <a:t> </a:t>
            </a:r>
            <a:r>
              <a:rPr sz="2150" b="1" spc="-10" dirty="0">
                <a:solidFill>
                  <a:srgbClr val="EDADF6"/>
                </a:solidFill>
                <a:latin typeface="CalibBricolage Grotesque Extra Boldri"/>
                <a:cs typeface="Calibri"/>
              </a:rPr>
              <a:t>Interface</a:t>
            </a:r>
            <a:r>
              <a:rPr lang="en-US" sz="2150" b="1" spc="-10" dirty="0">
                <a:solidFill>
                  <a:srgbClr val="EDADF6"/>
                </a:solidFill>
                <a:latin typeface="Calibri"/>
                <a:cs typeface="Calibri"/>
              </a:rPr>
              <a:t>                                                                        </a:t>
            </a:r>
            <a:r>
              <a:rPr sz="2150" b="1" spc="-10" dirty="0">
                <a:solidFill>
                  <a:srgbClr val="EDADF6"/>
                </a:solidFill>
                <a:latin typeface="Bricolage Grotesque Extra Bold" panose="02000000000000000000" charset="0"/>
                <a:ea typeface="Bricolage Grotesque Extra Bold" panose="02000000000000000000" charset="0"/>
                <a:cs typeface="Bricolage Grotesque Extra Bold" panose="02000000000000000000" charset="0"/>
              </a:rPr>
              <a:t>Personalized</a:t>
            </a:r>
            <a:r>
              <a:rPr sz="2150" b="1" spc="-80" dirty="0">
                <a:solidFill>
                  <a:srgbClr val="EDADF6"/>
                </a:solidFill>
                <a:latin typeface="Bricolage Grotesque Extra Bold" panose="02000000000000000000" charset="0"/>
                <a:ea typeface="Bricolage Grotesque Extra Bold" panose="02000000000000000000" charset="0"/>
                <a:cs typeface="Bricolage Grotesque Extra Bold" panose="02000000000000000000" charset="0"/>
              </a:rPr>
              <a:t> </a:t>
            </a:r>
            <a:r>
              <a:rPr sz="2150" b="1" dirty="0">
                <a:solidFill>
                  <a:srgbClr val="EDADF6"/>
                </a:solidFill>
                <a:latin typeface="Bricolage Grotesque Extra Bold" panose="02000000000000000000" charset="0"/>
                <a:ea typeface="Bricolage Grotesque Extra Bold" panose="02000000000000000000" charset="0"/>
                <a:cs typeface="Bricolage Grotesque Extra Bold" panose="02000000000000000000" charset="0"/>
              </a:rPr>
              <a:t>Profile</a:t>
            </a:r>
            <a:r>
              <a:rPr sz="2150" b="1" spc="-95" dirty="0">
                <a:solidFill>
                  <a:srgbClr val="EDADF6"/>
                </a:solidFill>
                <a:latin typeface="Bricolage Grotesque Extra Bold" panose="02000000000000000000" charset="0"/>
                <a:ea typeface="Bricolage Grotesque Extra Bold" panose="02000000000000000000" charset="0"/>
                <a:cs typeface="Bricolage Grotesque Extra Bold" panose="02000000000000000000" charset="0"/>
              </a:rPr>
              <a:t> </a:t>
            </a:r>
            <a:r>
              <a:rPr sz="2150" b="1" spc="-20" dirty="0">
                <a:solidFill>
                  <a:srgbClr val="EDADF6"/>
                </a:solidFill>
                <a:latin typeface="Bricolage Grotesque Extra Bold" panose="02000000000000000000" charset="0"/>
                <a:ea typeface="Bricolage Grotesque Extra Bold" panose="02000000000000000000" charset="0"/>
                <a:cs typeface="Bricolage Grotesque Extra Bold" panose="02000000000000000000" charset="0"/>
              </a:rPr>
              <a:t>Page</a:t>
            </a:r>
            <a:endParaRPr sz="2150" b="1" dirty="0">
              <a:latin typeface="Bricolage Grotesque Extra Bold" panose="02000000000000000000" charset="0"/>
              <a:ea typeface="Bricolage Grotesque Extra Bold" panose="02000000000000000000" charset="0"/>
              <a:cs typeface="Bricolage Grotesque Extra Bold" panose="02000000000000000000" charset="0"/>
            </a:endParaRPr>
          </a:p>
          <a:p>
            <a:pPr>
              <a:lnSpc>
                <a:spcPct val="100000"/>
              </a:lnSpc>
              <a:spcBef>
                <a:spcPts val="405"/>
              </a:spcBef>
            </a:pPr>
            <a:endParaRPr sz="2150" dirty="0">
              <a:latin typeface="Calibri"/>
              <a:cs typeface="Calibri"/>
            </a:endParaRPr>
          </a:p>
        </p:txBody>
      </p:sp>
      <p:sp>
        <p:nvSpPr>
          <p:cNvPr id="11" name="TextBox 10">
            <a:extLst>
              <a:ext uri="{FF2B5EF4-FFF2-40B4-BE49-F238E27FC236}">
                <a16:creationId xmlns:a16="http://schemas.microsoft.com/office/drawing/2014/main" id="{086DD069-91B5-4299-9F3A-B615D62D4495}"/>
              </a:ext>
            </a:extLst>
          </p:cNvPr>
          <p:cNvSpPr txBox="1"/>
          <p:nvPr/>
        </p:nvSpPr>
        <p:spPr>
          <a:xfrm>
            <a:off x="650240" y="6288511"/>
            <a:ext cx="7315200" cy="776879"/>
          </a:xfrm>
          <a:prstGeom prst="rect">
            <a:avLst/>
          </a:prstGeom>
          <a:noFill/>
        </p:spPr>
        <p:txBody>
          <a:bodyPr wrap="square">
            <a:spAutoFit/>
          </a:bodyPr>
          <a:lstStyle/>
          <a:p>
            <a:pPr marL="0" indent="0" algn="l">
              <a:lnSpc>
                <a:spcPts val="2800"/>
              </a:lnSpc>
              <a:buNone/>
            </a:pPr>
            <a:r>
              <a:rPr lang="en-US" sz="1750" dirty="0">
                <a:solidFill>
                  <a:srgbClr val="E5DCE6"/>
                </a:solidFill>
                <a:latin typeface="Montserrat" pitchFamily="34" charset="0"/>
                <a:ea typeface="Montserrat" pitchFamily="34" charset="-122"/>
                <a:cs typeface="Montserrat" pitchFamily="34" charset="-120"/>
              </a:rPr>
              <a:t>Designed for intuitive use while ensuring robust security measures.</a:t>
            </a:r>
            <a:endParaRPr lang="en-US" sz="1750" dirty="0"/>
          </a:p>
        </p:txBody>
      </p:sp>
      <p:sp>
        <p:nvSpPr>
          <p:cNvPr id="13" name="TextBox 12">
            <a:extLst>
              <a:ext uri="{FF2B5EF4-FFF2-40B4-BE49-F238E27FC236}">
                <a16:creationId xmlns:a16="http://schemas.microsoft.com/office/drawing/2014/main" id="{A0CCC778-C360-415F-9EE7-3029E37DE2AD}"/>
              </a:ext>
            </a:extLst>
          </p:cNvPr>
          <p:cNvSpPr txBox="1"/>
          <p:nvPr/>
        </p:nvSpPr>
        <p:spPr>
          <a:xfrm>
            <a:off x="7581392" y="6028136"/>
            <a:ext cx="7315200" cy="776879"/>
          </a:xfrm>
          <a:prstGeom prst="rect">
            <a:avLst/>
          </a:prstGeom>
          <a:noFill/>
        </p:spPr>
        <p:txBody>
          <a:bodyPr wrap="square">
            <a:spAutoFit/>
          </a:bodyPr>
          <a:lstStyle/>
          <a:p>
            <a:pPr marL="0" indent="0" algn="l">
              <a:lnSpc>
                <a:spcPts val="2800"/>
              </a:lnSpc>
              <a:buNone/>
            </a:pPr>
            <a:r>
              <a:rPr lang="en-US" sz="1800" dirty="0">
                <a:solidFill>
                  <a:srgbClr val="E5DCE6"/>
                </a:solidFill>
                <a:latin typeface="Montserrat" pitchFamily="34" charset="0"/>
                <a:ea typeface="Montserrat" pitchFamily="34" charset="-122"/>
                <a:cs typeface="Montserrat" pitchFamily="34" charset="-120"/>
              </a:rPr>
              <a:t>Confirms successful authentication and provides a personalized user experience.</a:t>
            </a:r>
            <a:endParaRPr lang="en-US" sz="1800" dirty="0"/>
          </a:p>
        </p:txBody>
      </p:sp>
      <p:pic>
        <p:nvPicPr>
          <p:cNvPr id="14" name="Image 1" descr="preencoded.png">
            <a:extLst>
              <a:ext uri="{FF2B5EF4-FFF2-40B4-BE49-F238E27FC236}">
                <a16:creationId xmlns:a16="http://schemas.microsoft.com/office/drawing/2014/main" id="{943E89CE-5702-4B1B-B666-F5DF5E7B6DAB}"/>
              </a:ext>
            </a:extLst>
          </p:cNvPr>
          <p:cNvPicPr>
            <a:picLocks noChangeAspect="1"/>
          </p:cNvPicPr>
          <p:nvPr/>
        </p:nvPicPr>
        <p:blipFill>
          <a:blip r:embed="rId2"/>
          <a:stretch>
            <a:fillRect/>
          </a:stretch>
        </p:blipFill>
        <p:spPr>
          <a:xfrm>
            <a:off x="7696200" y="2606945"/>
            <a:ext cx="6266140" cy="2866787"/>
          </a:xfrm>
          <a:prstGeom prst="rect">
            <a:avLst/>
          </a:prstGeom>
        </p:spPr>
      </p:pic>
      <p:pic>
        <p:nvPicPr>
          <p:cNvPr id="15" name="Image 0" descr="preencoded.png">
            <a:extLst>
              <a:ext uri="{FF2B5EF4-FFF2-40B4-BE49-F238E27FC236}">
                <a16:creationId xmlns:a16="http://schemas.microsoft.com/office/drawing/2014/main" id="{528D59FA-49A8-4335-8A3C-FDCF7B0B0CB1}"/>
              </a:ext>
            </a:extLst>
          </p:cNvPr>
          <p:cNvPicPr>
            <a:picLocks noChangeAspect="1"/>
          </p:cNvPicPr>
          <p:nvPr/>
        </p:nvPicPr>
        <p:blipFill>
          <a:blip r:embed="rId3"/>
          <a:stretch>
            <a:fillRect/>
          </a:stretch>
        </p:blipFill>
        <p:spPr>
          <a:xfrm>
            <a:off x="876021" y="2606945"/>
            <a:ext cx="6266140" cy="286678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72159" y="667562"/>
            <a:ext cx="8345805" cy="1452245"/>
          </a:xfrm>
          <a:prstGeom prst="rect">
            <a:avLst/>
          </a:prstGeom>
        </p:spPr>
        <p:txBody>
          <a:bodyPr vert="horz" wrap="square" lIns="0" tIns="12065" rIns="0" bIns="0" rtlCol="0">
            <a:spAutoFit/>
          </a:bodyPr>
          <a:lstStyle/>
          <a:p>
            <a:pPr marL="18415" marR="5080" indent="-6350">
              <a:lnSpc>
                <a:spcPct val="105200"/>
              </a:lnSpc>
              <a:spcBef>
                <a:spcPts val="95"/>
              </a:spcBef>
            </a:pPr>
            <a:r>
              <a:rPr lang="en-US" sz="4450" b="1" dirty="0">
                <a:latin typeface="Bricolage Grotesque Extra BoldBricolage Grotesque Extra Bold"/>
              </a:rPr>
              <a:t>UI</a:t>
            </a:r>
            <a:r>
              <a:rPr lang="en-US" sz="4450" b="1" spc="-65" dirty="0">
                <a:latin typeface="Bricolage Grotesque Extra BoldBricolage Grotesque Extra Bold"/>
              </a:rPr>
              <a:t> </a:t>
            </a:r>
            <a:r>
              <a:rPr lang="en-US" sz="4450" b="1" dirty="0">
                <a:latin typeface="Bricolage Grotesque Extra BoldBricolage Grotesque Extra Bold"/>
              </a:rPr>
              <a:t>Showcase:</a:t>
            </a:r>
            <a:r>
              <a:rPr lang="en-US" sz="4450" b="1" spc="-60" dirty="0">
                <a:latin typeface="Bricolage Grotesque Extra BoldBricolage Grotesque Extra Bold"/>
              </a:rPr>
              <a:t> </a:t>
            </a:r>
            <a:r>
              <a:rPr lang="en-US" sz="4450" b="1" dirty="0">
                <a:latin typeface="Bricolage Grotesque Extra BoldBricolage Grotesque Extra Bold"/>
              </a:rPr>
              <a:t>The</a:t>
            </a:r>
            <a:r>
              <a:rPr lang="en-US" sz="4450" b="1" spc="-65" dirty="0">
                <a:latin typeface="Bricolage Grotesque Extra BoldBricolage Grotesque Extra Bold"/>
              </a:rPr>
              <a:t> </a:t>
            </a:r>
            <a:r>
              <a:rPr lang="en-US" sz="4450" b="1" dirty="0">
                <a:latin typeface="Bricolage Grotesque Extra BoldBricolage Grotesque Extra Bold"/>
              </a:rPr>
              <a:t>Detector</a:t>
            </a:r>
            <a:r>
              <a:rPr lang="en-US" sz="4450" b="1" spc="-70" dirty="0">
                <a:latin typeface="Bricolage Grotesque Extra BoldBricolage Grotesque Extra Bold"/>
              </a:rPr>
              <a:t> </a:t>
            </a:r>
            <a:r>
              <a:rPr lang="en-US" sz="4450" b="1" dirty="0">
                <a:latin typeface="Bricolage Grotesque Extra BoldBricolage Grotesque Extra Bold"/>
              </a:rPr>
              <a:t>in</a:t>
            </a:r>
            <a:r>
              <a:rPr lang="en-US" sz="4450" b="1" spc="-65" dirty="0">
                <a:latin typeface="Bricolage Grotesque Extra BoldBricolage Grotesque Extra Bold"/>
              </a:rPr>
              <a:t> </a:t>
            </a:r>
            <a:r>
              <a:rPr lang="en-US" sz="4450" b="1" spc="-10" dirty="0">
                <a:latin typeface="Bricolage Grotesque Extra BoldBricolage Grotesque Extra Bold"/>
              </a:rPr>
              <a:t>Action (FAKE)</a:t>
            </a:r>
            <a:endParaRPr lang="en-US" sz="4450" b="1" dirty="0">
              <a:latin typeface="Bricolage Grotesque Extra BoldBricolage Grotesque Extra Bold"/>
            </a:endParaRPr>
          </a:p>
        </p:txBody>
      </p:sp>
      <p:sp>
        <p:nvSpPr>
          <p:cNvPr id="10" name="TextBox 9">
            <a:extLst>
              <a:ext uri="{FF2B5EF4-FFF2-40B4-BE49-F238E27FC236}">
                <a16:creationId xmlns:a16="http://schemas.microsoft.com/office/drawing/2014/main" id="{B5547A2E-8719-4C6F-BCD8-334CDAE56E83}"/>
              </a:ext>
            </a:extLst>
          </p:cNvPr>
          <p:cNvSpPr txBox="1"/>
          <p:nvPr/>
        </p:nvSpPr>
        <p:spPr>
          <a:xfrm>
            <a:off x="838200" y="2722693"/>
            <a:ext cx="7315200" cy="1543115"/>
          </a:xfrm>
          <a:prstGeom prst="rect">
            <a:avLst/>
          </a:prstGeom>
          <a:noFill/>
        </p:spPr>
        <p:txBody>
          <a:bodyPr wrap="square">
            <a:spAutoFit/>
          </a:bodyPr>
          <a:lstStyle/>
          <a:p>
            <a:pPr marL="0" indent="0" algn="l">
              <a:lnSpc>
                <a:spcPts val="2850"/>
              </a:lnSpc>
              <a:buNone/>
            </a:pPr>
            <a:r>
              <a:rPr lang="en-US" sz="1800" dirty="0">
                <a:solidFill>
                  <a:srgbClr val="E5DCE6"/>
                </a:solidFill>
                <a:latin typeface="Montserrat" pitchFamily="34" charset="0"/>
                <a:ea typeface="Montserrat" pitchFamily="34" charset="-122"/>
                <a:cs typeface="Montserrat" pitchFamily="34" charset="-120"/>
              </a:rPr>
              <a:t>When a user uploads a potentially forged image, our </a:t>
            </a:r>
            <a:r>
              <a:rPr lang="en-US" sz="1800" b="1" dirty="0">
                <a:solidFill>
                  <a:srgbClr val="E5DCE6"/>
                </a:solidFill>
                <a:latin typeface="Montserrat" pitchFamily="34" charset="0"/>
                <a:ea typeface="Montserrat" pitchFamily="34" charset="-122"/>
                <a:cs typeface="Montserrat" pitchFamily="34" charset="-120"/>
              </a:rPr>
              <a:t>Hybrid AI</a:t>
            </a:r>
            <a:r>
              <a:rPr lang="en-US" sz="1800" dirty="0">
                <a:solidFill>
                  <a:srgbClr val="E5DCE6"/>
                </a:solidFill>
                <a:latin typeface="Montserrat" pitchFamily="34" charset="0"/>
                <a:ea typeface="Montserrat" pitchFamily="34" charset="-122"/>
                <a:cs typeface="Montserrat" pitchFamily="34" charset="-120"/>
              </a:rPr>
              <a:t> swiftly analyzes it. The frontend promptly receives the "Fake" verdict from the API and displays a clear, color-coded warning to alert the user of potential fraud.</a:t>
            </a:r>
            <a:endParaRPr lang="en-US" sz="1800" dirty="0"/>
          </a:p>
        </p:txBody>
      </p:sp>
      <p:sp>
        <p:nvSpPr>
          <p:cNvPr id="12" name="TextBox 11">
            <a:extLst>
              <a:ext uri="{FF2B5EF4-FFF2-40B4-BE49-F238E27FC236}">
                <a16:creationId xmlns:a16="http://schemas.microsoft.com/office/drawing/2014/main" id="{1D25B64B-EA9F-4DE6-B84F-AA3E52C1C379}"/>
              </a:ext>
            </a:extLst>
          </p:cNvPr>
          <p:cNvSpPr txBox="1"/>
          <p:nvPr/>
        </p:nvSpPr>
        <p:spPr>
          <a:xfrm>
            <a:off x="838200" y="4800600"/>
            <a:ext cx="7315200" cy="1543115"/>
          </a:xfrm>
          <a:prstGeom prst="rect">
            <a:avLst/>
          </a:prstGeom>
          <a:noFill/>
        </p:spPr>
        <p:txBody>
          <a:bodyPr wrap="square">
            <a:spAutoFit/>
          </a:bodyPr>
          <a:lstStyle/>
          <a:p>
            <a:pPr marL="0" indent="0" algn="l">
              <a:lnSpc>
                <a:spcPts val="2850"/>
              </a:lnSpc>
              <a:buNone/>
            </a:pPr>
            <a:r>
              <a:rPr lang="en-US" sz="1800" dirty="0">
                <a:solidFill>
                  <a:srgbClr val="E5DCE6"/>
                </a:solidFill>
                <a:latin typeface="Montserrat" pitchFamily="34" charset="0"/>
                <a:ea typeface="Montserrat" pitchFamily="34" charset="-122"/>
                <a:cs typeface="Montserrat" pitchFamily="34" charset="-120"/>
              </a:rPr>
              <a:t>The intuitive design ensures that critical information is conveyed instantly, empowering users to make informed decisions and prevent financial losses due to fraudulent transactions.</a:t>
            </a:r>
            <a:endParaRPr lang="en-US" sz="1800" dirty="0"/>
          </a:p>
        </p:txBody>
      </p:sp>
      <p:pic>
        <p:nvPicPr>
          <p:cNvPr id="13" name="Image 0" descr="preencoded.png">
            <a:extLst>
              <a:ext uri="{FF2B5EF4-FFF2-40B4-BE49-F238E27FC236}">
                <a16:creationId xmlns:a16="http://schemas.microsoft.com/office/drawing/2014/main" id="{C5B48CAD-D83B-471B-8437-F22EDF97BAA8}"/>
              </a:ext>
            </a:extLst>
          </p:cNvPr>
          <p:cNvPicPr>
            <a:picLocks noChangeAspect="1"/>
          </p:cNvPicPr>
          <p:nvPr/>
        </p:nvPicPr>
        <p:blipFill>
          <a:blip r:embed="rId2"/>
          <a:stretch>
            <a:fillRect/>
          </a:stretch>
        </p:blipFill>
        <p:spPr>
          <a:xfrm>
            <a:off x="7889189" y="2722693"/>
            <a:ext cx="6649932" cy="379525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F30756A-9222-4086-BEE6-F4AB52F559C7}"/>
              </a:ext>
            </a:extLst>
          </p:cNvPr>
          <p:cNvSpPr txBox="1"/>
          <p:nvPr/>
        </p:nvSpPr>
        <p:spPr>
          <a:xfrm>
            <a:off x="990600" y="1295400"/>
            <a:ext cx="7315200" cy="1481881"/>
          </a:xfrm>
          <a:prstGeom prst="rect">
            <a:avLst/>
          </a:prstGeom>
          <a:noFill/>
        </p:spPr>
        <p:txBody>
          <a:bodyPr wrap="square">
            <a:spAutoFit/>
          </a:bodyPr>
          <a:lstStyle/>
          <a:p>
            <a:pPr marL="0" indent="0" algn="l">
              <a:lnSpc>
                <a:spcPts val="5550"/>
              </a:lnSpc>
              <a:buNone/>
            </a:pPr>
            <a:r>
              <a:rPr lang="en-US" sz="4450" b="1" dirty="0">
                <a:solidFill>
                  <a:srgbClr val="EEAEF6"/>
                </a:solidFill>
                <a:latin typeface="Bricolage Grotesque Extra Bold" pitchFamily="34" charset="0"/>
                <a:ea typeface="Bricolage Grotesque Extra Bold" pitchFamily="34" charset="-122"/>
                <a:cs typeface="Bricolage Grotesque Extra Bold" pitchFamily="34" charset="-120"/>
              </a:rPr>
              <a:t>UI Showcase: The Detector in Action (REAL)</a:t>
            </a:r>
            <a:endParaRPr lang="en-US" sz="4450" dirty="0"/>
          </a:p>
        </p:txBody>
      </p:sp>
      <p:sp>
        <p:nvSpPr>
          <p:cNvPr id="7" name="TextBox 6">
            <a:extLst>
              <a:ext uri="{FF2B5EF4-FFF2-40B4-BE49-F238E27FC236}">
                <a16:creationId xmlns:a16="http://schemas.microsoft.com/office/drawing/2014/main" id="{116C47FF-3AEB-45E9-826D-C7904F94FB46}"/>
              </a:ext>
            </a:extLst>
          </p:cNvPr>
          <p:cNvSpPr txBox="1"/>
          <p:nvPr/>
        </p:nvSpPr>
        <p:spPr>
          <a:xfrm>
            <a:off x="998706" y="3124200"/>
            <a:ext cx="7315200" cy="1543115"/>
          </a:xfrm>
          <a:prstGeom prst="rect">
            <a:avLst/>
          </a:prstGeom>
          <a:noFill/>
        </p:spPr>
        <p:txBody>
          <a:bodyPr wrap="square">
            <a:spAutoFit/>
          </a:bodyPr>
          <a:lstStyle/>
          <a:p>
            <a:pPr marL="0" indent="0" algn="l">
              <a:lnSpc>
                <a:spcPts val="2850"/>
              </a:lnSpc>
              <a:buNone/>
            </a:pPr>
            <a:r>
              <a:rPr lang="en-US" sz="1800">
                <a:solidFill>
                  <a:srgbClr val="E5DCE6"/>
                </a:solidFill>
                <a:latin typeface="Montserrat" pitchFamily="34" charset="0"/>
                <a:ea typeface="Montserrat" pitchFamily="34" charset="-122"/>
                <a:cs typeface="Montserrat" pitchFamily="34" charset="-120"/>
              </a:rPr>
              <a:t>Beyond identifying fraudulent screenshots, our system is rigorously trained to validate genuine images. This capability not only confirms the model's accuracy but also builds essential user trust in its reliability and effectiveness.</a:t>
            </a:r>
            <a:endParaRPr lang="en-US" sz="1800" dirty="0"/>
          </a:p>
        </p:txBody>
      </p:sp>
      <p:sp>
        <p:nvSpPr>
          <p:cNvPr id="9" name="TextBox 8">
            <a:extLst>
              <a:ext uri="{FF2B5EF4-FFF2-40B4-BE49-F238E27FC236}">
                <a16:creationId xmlns:a16="http://schemas.microsoft.com/office/drawing/2014/main" id="{75C0B92A-CF9F-44FF-9624-89656EA5DA70}"/>
              </a:ext>
            </a:extLst>
          </p:cNvPr>
          <p:cNvSpPr txBox="1"/>
          <p:nvPr/>
        </p:nvSpPr>
        <p:spPr>
          <a:xfrm>
            <a:off x="1008434" y="5014234"/>
            <a:ext cx="7315200" cy="1171218"/>
          </a:xfrm>
          <a:prstGeom prst="rect">
            <a:avLst/>
          </a:prstGeom>
          <a:noFill/>
        </p:spPr>
        <p:txBody>
          <a:bodyPr wrap="square">
            <a:spAutoFit/>
          </a:bodyPr>
          <a:lstStyle/>
          <a:p>
            <a:pPr marL="0" indent="0" algn="l">
              <a:lnSpc>
                <a:spcPts val="2850"/>
              </a:lnSpc>
              <a:buNone/>
            </a:pPr>
            <a:r>
              <a:rPr lang="en-US" sz="1800" dirty="0">
                <a:solidFill>
                  <a:srgbClr val="E5DCE6"/>
                </a:solidFill>
                <a:latin typeface="Montserrat" pitchFamily="34" charset="0"/>
                <a:ea typeface="Montserrat" pitchFamily="34" charset="-122"/>
                <a:cs typeface="Montserrat" pitchFamily="34" charset="-120"/>
              </a:rPr>
              <a:t>A clear "REAL" verdict reassures users, demonstrating the system's ability to distinguish between authentic and fabricated content with high precision.</a:t>
            </a:r>
            <a:endParaRPr lang="en-US" sz="1800" dirty="0"/>
          </a:p>
        </p:txBody>
      </p:sp>
      <p:pic>
        <p:nvPicPr>
          <p:cNvPr id="10" name="Image 0" descr="preencoded.png">
            <a:extLst>
              <a:ext uri="{FF2B5EF4-FFF2-40B4-BE49-F238E27FC236}">
                <a16:creationId xmlns:a16="http://schemas.microsoft.com/office/drawing/2014/main" id="{67BC8DEF-A159-4921-A0D5-A1D9137A40E0}"/>
              </a:ext>
            </a:extLst>
          </p:cNvPr>
          <p:cNvPicPr>
            <a:picLocks noChangeAspect="1"/>
          </p:cNvPicPr>
          <p:nvPr/>
        </p:nvPicPr>
        <p:blipFill>
          <a:blip r:embed="rId2"/>
          <a:stretch>
            <a:fillRect/>
          </a:stretch>
        </p:blipFill>
        <p:spPr>
          <a:xfrm>
            <a:off x="8313906" y="3143996"/>
            <a:ext cx="5911562" cy="3437422"/>
          </a:xfrm>
          <a:prstGeom prst="rect">
            <a:avLst/>
          </a:prstGeom>
        </p:spPr>
      </p:pic>
    </p:spTree>
    <p:extLst>
      <p:ext uri="{BB962C8B-B14F-4D97-AF65-F5344CB8AC3E}">
        <p14:creationId xmlns:p14="http://schemas.microsoft.com/office/powerpoint/2010/main" val="2741931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898955" y="0"/>
            <a:ext cx="7482840" cy="8229600"/>
            <a:chOff x="7078980" y="-1"/>
            <a:chExt cx="7482840" cy="8229600"/>
          </a:xfrm>
        </p:grpSpPr>
        <p:pic>
          <p:nvPicPr>
            <p:cNvPr id="3" name="object 3"/>
            <p:cNvPicPr/>
            <p:nvPr/>
          </p:nvPicPr>
          <p:blipFill>
            <a:blip r:embed="rId2" cstate="print"/>
            <a:stretch>
              <a:fillRect/>
            </a:stretch>
          </p:blipFill>
          <p:spPr>
            <a:xfrm>
              <a:off x="12839700" y="7748902"/>
              <a:ext cx="1722119" cy="411478"/>
            </a:xfrm>
            <a:prstGeom prst="rect">
              <a:avLst/>
            </a:prstGeom>
          </p:spPr>
        </p:pic>
        <p:pic>
          <p:nvPicPr>
            <p:cNvPr id="4" name="object 4"/>
            <p:cNvPicPr/>
            <p:nvPr/>
          </p:nvPicPr>
          <p:blipFill>
            <a:blip r:embed="rId3" cstate="print"/>
            <a:stretch>
              <a:fillRect/>
            </a:stretch>
          </p:blipFill>
          <p:spPr>
            <a:xfrm>
              <a:off x="7078980" y="-1"/>
              <a:ext cx="5760720" cy="8229598"/>
            </a:xfrm>
            <a:prstGeom prst="rect">
              <a:avLst/>
            </a:prstGeom>
          </p:spPr>
        </p:pic>
      </p:grpSp>
      <p:sp>
        <p:nvSpPr>
          <p:cNvPr id="6" name="object 6"/>
          <p:cNvSpPr txBox="1">
            <a:spLocks noGrp="1"/>
          </p:cNvSpPr>
          <p:nvPr>
            <p:ph type="title"/>
          </p:nvPr>
        </p:nvSpPr>
        <p:spPr>
          <a:xfrm>
            <a:off x="601408" y="795275"/>
            <a:ext cx="6713792" cy="581569"/>
          </a:xfrm>
          <a:prstGeom prst="rect">
            <a:avLst/>
          </a:prstGeom>
        </p:spPr>
        <p:txBody>
          <a:bodyPr vert="horz" wrap="square" lIns="0" tIns="12065" rIns="0" bIns="0" rtlCol="0">
            <a:spAutoFit/>
          </a:bodyPr>
          <a:lstStyle/>
          <a:p>
            <a:pPr marL="12700">
              <a:lnSpc>
                <a:spcPct val="100000"/>
              </a:lnSpc>
              <a:spcBef>
                <a:spcPts val="95"/>
              </a:spcBef>
            </a:pPr>
            <a:r>
              <a:rPr sz="3700" b="1" dirty="0">
                <a:latin typeface="Bricolage Grotesque Extra BoldBricolage Grotesque Extra Bold"/>
              </a:rPr>
              <a:t>Conclusion</a:t>
            </a:r>
            <a:r>
              <a:rPr sz="3700" b="1" spc="-114" dirty="0">
                <a:latin typeface="Bricolage Grotesque Extra BoldBricolage Grotesque Extra Bold"/>
              </a:rPr>
              <a:t> </a:t>
            </a:r>
            <a:r>
              <a:rPr sz="3700" b="1" dirty="0">
                <a:latin typeface="Bricolage Grotesque Extra BoldBricolage Grotesque Extra Bold"/>
              </a:rPr>
              <a:t>&amp;</a:t>
            </a:r>
            <a:r>
              <a:rPr sz="3700" b="1" spc="-120" dirty="0">
                <a:latin typeface="Bricolage Grotesque Extra BoldBricolage Grotesque Extra Bold"/>
              </a:rPr>
              <a:t> </a:t>
            </a:r>
            <a:r>
              <a:rPr sz="3700" b="1" dirty="0">
                <a:latin typeface="Bricolage Grotesque Extra BoldBricolage Grotesque Extra Bold"/>
              </a:rPr>
              <a:t>Key</a:t>
            </a:r>
            <a:r>
              <a:rPr sz="3700" b="1" spc="-120" dirty="0">
                <a:latin typeface="Bricolage Grotesque Extra BoldBricolage Grotesque Extra Bold"/>
              </a:rPr>
              <a:t> </a:t>
            </a:r>
            <a:r>
              <a:rPr sz="3700" b="1" spc="-10" dirty="0">
                <a:latin typeface="Bricolage Grotesque Extra BoldBricolage Grotesque Extra Bold"/>
              </a:rPr>
              <a:t>Challenges</a:t>
            </a:r>
            <a:endParaRPr sz="3700" b="1" dirty="0">
              <a:latin typeface="Bricolage Grotesque Extra BoldBricolage Grotesque Extra Bold"/>
            </a:endParaRPr>
          </a:p>
        </p:txBody>
      </p:sp>
      <p:grpSp>
        <p:nvGrpSpPr>
          <p:cNvPr id="11" name="object 3">
            <a:extLst>
              <a:ext uri="{FF2B5EF4-FFF2-40B4-BE49-F238E27FC236}">
                <a16:creationId xmlns:a16="http://schemas.microsoft.com/office/drawing/2014/main" id="{735308C3-5E3A-4C97-8918-3526095A0574}"/>
              </a:ext>
            </a:extLst>
          </p:cNvPr>
          <p:cNvGrpSpPr/>
          <p:nvPr/>
        </p:nvGrpSpPr>
        <p:grpSpPr>
          <a:xfrm>
            <a:off x="457200" y="2593017"/>
            <a:ext cx="8074723" cy="5081117"/>
            <a:chOff x="663575" y="0"/>
            <a:chExt cx="7818120" cy="4033520"/>
          </a:xfrm>
        </p:grpSpPr>
        <p:sp>
          <p:nvSpPr>
            <p:cNvPr id="12" name="object 4">
              <a:extLst>
                <a:ext uri="{FF2B5EF4-FFF2-40B4-BE49-F238E27FC236}">
                  <a16:creationId xmlns:a16="http://schemas.microsoft.com/office/drawing/2014/main" id="{ADA981E6-82D8-4432-A8AA-CBFE971E2AE5}"/>
                </a:ext>
              </a:extLst>
            </p:cNvPr>
            <p:cNvSpPr/>
            <p:nvPr/>
          </p:nvSpPr>
          <p:spPr>
            <a:xfrm>
              <a:off x="663575" y="0"/>
              <a:ext cx="7818120" cy="4033520"/>
            </a:xfrm>
            <a:custGeom>
              <a:avLst/>
              <a:gdLst/>
              <a:ahLst/>
              <a:cxnLst/>
              <a:rect l="l" t="t" r="r" b="b"/>
              <a:pathLst>
                <a:path w="7818120" h="4033520">
                  <a:moveTo>
                    <a:pt x="7818120" y="0"/>
                  </a:moveTo>
                  <a:lnTo>
                    <a:pt x="3909060" y="0"/>
                  </a:lnTo>
                  <a:lnTo>
                    <a:pt x="0" y="0"/>
                  </a:lnTo>
                  <a:lnTo>
                    <a:pt x="0" y="2257933"/>
                  </a:lnTo>
                  <a:lnTo>
                    <a:pt x="0" y="3954018"/>
                  </a:lnTo>
                  <a:lnTo>
                    <a:pt x="6248" y="3984980"/>
                  </a:lnTo>
                  <a:lnTo>
                    <a:pt x="23279" y="4010253"/>
                  </a:lnTo>
                  <a:lnTo>
                    <a:pt x="48552" y="4027284"/>
                  </a:lnTo>
                  <a:lnTo>
                    <a:pt x="79514" y="4033520"/>
                  </a:lnTo>
                  <a:lnTo>
                    <a:pt x="7738618" y="4033520"/>
                  </a:lnTo>
                  <a:lnTo>
                    <a:pt x="7769568" y="4027284"/>
                  </a:lnTo>
                  <a:lnTo>
                    <a:pt x="7794841" y="4010253"/>
                  </a:lnTo>
                  <a:lnTo>
                    <a:pt x="7811871" y="3984980"/>
                  </a:lnTo>
                  <a:lnTo>
                    <a:pt x="7818120" y="3954018"/>
                  </a:lnTo>
                  <a:lnTo>
                    <a:pt x="7818120" y="2337435"/>
                  </a:lnTo>
                  <a:lnTo>
                    <a:pt x="7818120" y="0"/>
                  </a:lnTo>
                  <a:close/>
                </a:path>
              </a:pathLst>
            </a:custGeom>
            <a:solidFill>
              <a:srgbClr val="282C5E"/>
            </a:solidFill>
          </p:spPr>
          <p:txBody>
            <a:bodyPr wrap="square" lIns="0" tIns="0" rIns="0" bIns="0" rtlCol="0"/>
            <a:lstStyle/>
            <a:p>
              <a:endParaRPr/>
            </a:p>
          </p:txBody>
        </p:sp>
        <p:sp>
          <p:nvSpPr>
            <p:cNvPr id="13" name="object 5">
              <a:extLst>
                <a:ext uri="{FF2B5EF4-FFF2-40B4-BE49-F238E27FC236}">
                  <a16:creationId xmlns:a16="http://schemas.microsoft.com/office/drawing/2014/main" id="{A0563B6C-3125-4388-9C06-86219A2EB361}"/>
                </a:ext>
              </a:extLst>
            </p:cNvPr>
            <p:cNvSpPr/>
            <p:nvPr/>
          </p:nvSpPr>
          <p:spPr>
            <a:xfrm>
              <a:off x="4572635" y="0"/>
              <a:ext cx="22860" cy="2337435"/>
            </a:xfrm>
            <a:custGeom>
              <a:avLst/>
              <a:gdLst/>
              <a:ahLst/>
              <a:cxnLst/>
              <a:rect l="l" t="t" r="r" b="b"/>
              <a:pathLst>
                <a:path w="22860" h="2337435">
                  <a:moveTo>
                    <a:pt x="22860" y="0"/>
                  </a:moveTo>
                  <a:lnTo>
                    <a:pt x="0" y="0"/>
                  </a:lnTo>
                  <a:lnTo>
                    <a:pt x="0" y="2332990"/>
                  </a:lnTo>
                  <a:lnTo>
                    <a:pt x="3162" y="2332990"/>
                  </a:lnTo>
                  <a:lnTo>
                    <a:pt x="3162" y="2337435"/>
                  </a:lnTo>
                  <a:lnTo>
                    <a:pt x="19685" y="2337435"/>
                  </a:lnTo>
                  <a:lnTo>
                    <a:pt x="19685" y="2332990"/>
                  </a:lnTo>
                  <a:lnTo>
                    <a:pt x="22860" y="2332990"/>
                  </a:lnTo>
                  <a:lnTo>
                    <a:pt x="22860" y="0"/>
                  </a:lnTo>
                  <a:close/>
                </a:path>
              </a:pathLst>
            </a:custGeom>
            <a:solidFill>
              <a:srgbClr val="414677"/>
            </a:solidFill>
          </p:spPr>
          <p:txBody>
            <a:bodyPr wrap="square" lIns="0" tIns="0" rIns="0" bIns="0" rtlCol="0"/>
            <a:lstStyle/>
            <a:p>
              <a:endParaRPr/>
            </a:p>
          </p:txBody>
        </p:sp>
        <p:sp>
          <p:nvSpPr>
            <p:cNvPr id="14" name="object 6">
              <a:extLst>
                <a:ext uri="{FF2B5EF4-FFF2-40B4-BE49-F238E27FC236}">
                  <a16:creationId xmlns:a16="http://schemas.microsoft.com/office/drawing/2014/main" id="{EC55EE71-93E1-4DEB-8180-05B82145E931}"/>
                </a:ext>
              </a:extLst>
            </p:cNvPr>
            <p:cNvSpPr/>
            <p:nvPr/>
          </p:nvSpPr>
          <p:spPr>
            <a:xfrm>
              <a:off x="663575" y="2337435"/>
              <a:ext cx="7818120" cy="1696085"/>
            </a:xfrm>
            <a:custGeom>
              <a:avLst/>
              <a:gdLst/>
              <a:ahLst/>
              <a:cxnLst/>
              <a:rect l="l" t="t" r="r" b="b"/>
              <a:pathLst>
                <a:path w="7818120" h="1696085">
                  <a:moveTo>
                    <a:pt x="7818120" y="0"/>
                  </a:moveTo>
                  <a:lnTo>
                    <a:pt x="0" y="0"/>
                  </a:lnTo>
                  <a:lnTo>
                    <a:pt x="0" y="1696085"/>
                  </a:lnTo>
                  <a:lnTo>
                    <a:pt x="7818120" y="1696085"/>
                  </a:lnTo>
                  <a:lnTo>
                    <a:pt x="7818120" y="0"/>
                  </a:lnTo>
                  <a:close/>
                </a:path>
              </a:pathLst>
            </a:custGeom>
            <a:solidFill>
              <a:srgbClr val="282C5E"/>
            </a:solidFill>
          </p:spPr>
          <p:txBody>
            <a:bodyPr wrap="square" lIns="0" tIns="0" rIns="0" bIns="0" rtlCol="0"/>
            <a:lstStyle/>
            <a:p>
              <a:endParaRPr/>
            </a:p>
          </p:txBody>
        </p:sp>
        <p:sp>
          <p:nvSpPr>
            <p:cNvPr id="15" name="object 7">
              <a:extLst>
                <a:ext uri="{FF2B5EF4-FFF2-40B4-BE49-F238E27FC236}">
                  <a16:creationId xmlns:a16="http://schemas.microsoft.com/office/drawing/2014/main" id="{658DEE57-CA01-4B84-8495-5D75596A077E}"/>
                </a:ext>
              </a:extLst>
            </p:cNvPr>
            <p:cNvSpPr/>
            <p:nvPr/>
          </p:nvSpPr>
          <p:spPr>
            <a:xfrm>
              <a:off x="663575" y="2337435"/>
              <a:ext cx="7818120" cy="22860"/>
            </a:xfrm>
            <a:custGeom>
              <a:avLst/>
              <a:gdLst/>
              <a:ahLst/>
              <a:cxnLst/>
              <a:rect l="l" t="t" r="r" b="b"/>
              <a:pathLst>
                <a:path w="7818120" h="22860">
                  <a:moveTo>
                    <a:pt x="7813040" y="0"/>
                  </a:moveTo>
                  <a:lnTo>
                    <a:pt x="11429" y="0"/>
                  </a:lnTo>
                  <a:lnTo>
                    <a:pt x="5118" y="0"/>
                  </a:lnTo>
                  <a:lnTo>
                    <a:pt x="0" y="5079"/>
                  </a:lnTo>
                  <a:lnTo>
                    <a:pt x="0" y="17779"/>
                  </a:lnTo>
                  <a:lnTo>
                    <a:pt x="5118" y="22860"/>
                  </a:lnTo>
                  <a:lnTo>
                    <a:pt x="7813040" y="22860"/>
                  </a:lnTo>
                  <a:lnTo>
                    <a:pt x="7818120" y="17779"/>
                  </a:lnTo>
                  <a:lnTo>
                    <a:pt x="7818120" y="5079"/>
                  </a:lnTo>
                  <a:lnTo>
                    <a:pt x="7813040" y="0"/>
                  </a:lnTo>
                  <a:close/>
                </a:path>
              </a:pathLst>
            </a:custGeom>
            <a:solidFill>
              <a:srgbClr val="414677"/>
            </a:solidFill>
          </p:spPr>
          <p:txBody>
            <a:bodyPr wrap="square" lIns="0" tIns="0" rIns="0" bIns="0" rtlCol="0"/>
            <a:lstStyle/>
            <a:p>
              <a:endParaRPr/>
            </a:p>
          </p:txBody>
        </p:sp>
      </p:grpSp>
      <p:sp>
        <p:nvSpPr>
          <p:cNvPr id="17" name="TextBox 16">
            <a:extLst>
              <a:ext uri="{FF2B5EF4-FFF2-40B4-BE49-F238E27FC236}">
                <a16:creationId xmlns:a16="http://schemas.microsoft.com/office/drawing/2014/main" id="{053E417A-B7E6-4B06-BE5B-3BF9E6090AC0}"/>
              </a:ext>
            </a:extLst>
          </p:cNvPr>
          <p:cNvSpPr txBox="1"/>
          <p:nvPr/>
        </p:nvSpPr>
        <p:spPr>
          <a:xfrm>
            <a:off x="457200" y="5903008"/>
            <a:ext cx="10744200" cy="1771126"/>
          </a:xfrm>
          <a:prstGeom prst="rect">
            <a:avLst/>
          </a:prstGeom>
          <a:noFill/>
        </p:spPr>
        <p:txBody>
          <a:bodyPr wrap="square">
            <a:spAutoFit/>
          </a:bodyPr>
          <a:lstStyle/>
          <a:p>
            <a:pPr marL="12700" marR="3071495">
              <a:lnSpc>
                <a:spcPct val="148100"/>
              </a:lnSpc>
              <a:spcBef>
                <a:spcPts val="100"/>
              </a:spcBef>
            </a:pPr>
            <a:r>
              <a:rPr lang="en-US" sz="1800" b="1" dirty="0">
                <a:solidFill>
                  <a:srgbClr val="E4DCE6"/>
                </a:solidFill>
                <a:latin typeface="Calibri"/>
                <a:cs typeface="Calibri"/>
              </a:rPr>
              <a:t>Complex</a:t>
            </a:r>
            <a:r>
              <a:rPr lang="en-US" sz="1800" b="1" spc="-80" dirty="0">
                <a:solidFill>
                  <a:srgbClr val="E4DCE6"/>
                </a:solidFill>
                <a:latin typeface="Calibri"/>
                <a:cs typeface="Calibri"/>
              </a:rPr>
              <a:t> </a:t>
            </a:r>
            <a:r>
              <a:rPr lang="en-US" sz="1800" b="1" spc="-10" dirty="0">
                <a:solidFill>
                  <a:srgbClr val="E4DCE6"/>
                </a:solidFill>
                <a:latin typeface="Calibri"/>
                <a:cs typeface="Calibri"/>
              </a:rPr>
              <a:t>System</a:t>
            </a:r>
            <a:r>
              <a:rPr lang="en-US" sz="1800" b="1" spc="-80" dirty="0">
                <a:solidFill>
                  <a:srgbClr val="E4DCE6"/>
                </a:solidFill>
                <a:latin typeface="Calibri"/>
                <a:cs typeface="Calibri"/>
              </a:rPr>
              <a:t> </a:t>
            </a:r>
            <a:r>
              <a:rPr lang="en-US" sz="1800" b="1" spc="-10" dirty="0">
                <a:solidFill>
                  <a:srgbClr val="E4DCE6"/>
                </a:solidFill>
                <a:latin typeface="Calibri"/>
                <a:cs typeface="Calibri"/>
              </a:rPr>
              <a:t>Integration </a:t>
            </a:r>
            <a:endParaRPr lang="en-US" b="1" spc="-10" dirty="0">
              <a:solidFill>
                <a:srgbClr val="E4DCE6"/>
              </a:solidFill>
              <a:latin typeface="Calibri"/>
              <a:cs typeface="Calibri"/>
            </a:endParaRPr>
          </a:p>
          <a:p>
            <a:pPr marL="12700" marR="3071495" algn="l">
              <a:lnSpc>
                <a:spcPct val="148100"/>
              </a:lnSpc>
              <a:spcBef>
                <a:spcPts val="100"/>
              </a:spcBef>
            </a:pPr>
            <a:r>
              <a:rPr lang="en-US" sz="1400" dirty="0">
                <a:solidFill>
                  <a:srgbClr val="E5DCE6"/>
                </a:solidFill>
                <a:latin typeface="Montserrat" pitchFamily="34" charset="0"/>
                <a:ea typeface="Montserrat" pitchFamily="34" charset="-122"/>
                <a:cs typeface="Montserrat" pitchFamily="34" charset="-120"/>
              </a:rPr>
              <a:t>The most formidable task involved making four distinct systems—CNN, OCR, Flask Backend, and JavaScript Frontend—communicate flawlessly to deliver a single, instantaneous verdict.</a:t>
            </a:r>
            <a:endParaRPr lang="en-US" sz="1400" dirty="0"/>
          </a:p>
          <a:p>
            <a:pPr marL="12700" marR="3071495">
              <a:lnSpc>
                <a:spcPct val="148100"/>
              </a:lnSpc>
              <a:spcBef>
                <a:spcPts val="100"/>
              </a:spcBef>
            </a:pPr>
            <a:endParaRPr lang="en-US" sz="1400" dirty="0">
              <a:latin typeface="Calibri"/>
              <a:cs typeface="Calibri"/>
            </a:endParaRPr>
          </a:p>
        </p:txBody>
      </p:sp>
      <p:sp>
        <p:nvSpPr>
          <p:cNvPr id="19" name="TextBox 18">
            <a:extLst>
              <a:ext uri="{FF2B5EF4-FFF2-40B4-BE49-F238E27FC236}">
                <a16:creationId xmlns:a16="http://schemas.microsoft.com/office/drawing/2014/main" id="{F1FEFD2E-054E-4D64-B7D9-F951CE59F48E}"/>
              </a:ext>
            </a:extLst>
          </p:cNvPr>
          <p:cNvSpPr txBox="1"/>
          <p:nvPr/>
        </p:nvSpPr>
        <p:spPr>
          <a:xfrm>
            <a:off x="601408" y="3415108"/>
            <a:ext cx="3526122" cy="2215094"/>
          </a:xfrm>
          <a:prstGeom prst="rect">
            <a:avLst/>
          </a:prstGeom>
          <a:noFill/>
        </p:spPr>
        <p:txBody>
          <a:bodyPr wrap="square">
            <a:spAutoFit/>
          </a:bodyPr>
          <a:lstStyle/>
          <a:p>
            <a:pPr marL="0" indent="0" algn="just">
              <a:lnSpc>
                <a:spcPts val="2350"/>
              </a:lnSpc>
              <a:buNone/>
            </a:pPr>
            <a:r>
              <a:rPr lang="en-US" sz="1450" dirty="0">
                <a:solidFill>
                  <a:srgbClr val="E5DCE6"/>
                </a:solidFill>
                <a:latin typeface="Montserrat" pitchFamily="34" charset="0"/>
                <a:ea typeface="Montserrat" pitchFamily="34" charset="-122"/>
                <a:cs typeface="Montserrat" pitchFamily="34" charset="-120"/>
              </a:rPr>
              <a:t>The project seamlessly integrates a </a:t>
            </a:r>
            <a:r>
              <a:rPr lang="en-US" sz="1450" b="1" dirty="0">
                <a:solidFill>
                  <a:srgbClr val="E5DCE6"/>
                </a:solidFill>
                <a:latin typeface="Montserrat" pitchFamily="34" charset="0"/>
                <a:ea typeface="Montserrat" pitchFamily="34" charset="-122"/>
                <a:cs typeface="Montserrat" pitchFamily="34" charset="-120"/>
              </a:rPr>
              <a:t>CNN (</a:t>
            </a:r>
            <a:r>
              <a:rPr lang="en-US" sz="1450" b="1" dirty="0" err="1">
                <a:solidFill>
                  <a:srgbClr val="E5DCE6"/>
                </a:solidFill>
                <a:latin typeface="Montserrat" pitchFamily="34" charset="0"/>
                <a:ea typeface="Montserrat" pitchFamily="34" charset="-122"/>
                <a:cs typeface="Montserrat" pitchFamily="34" charset="-120"/>
              </a:rPr>
              <a:t>PyTorch</a:t>
            </a:r>
            <a:r>
              <a:rPr lang="en-US" sz="1450" b="1" dirty="0">
                <a:solidFill>
                  <a:srgbClr val="E5DCE6"/>
                </a:solidFill>
                <a:latin typeface="Montserrat" pitchFamily="34" charset="0"/>
                <a:ea typeface="Montserrat" pitchFamily="34" charset="-122"/>
                <a:cs typeface="Montserrat" pitchFamily="34" charset="-120"/>
              </a:rPr>
              <a:t>)</a:t>
            </a:r>
            <a:r>
              <a:rPr lang="en-US" sz="1450" dirty="0">
                <a:solidFill>
                  <a:srgbClr val="E5DCE6"/>
                </a:solidFill>
                <a:latin typeface="Montserrat" pitchFamily="34" charset="0"/>
                <a:ea typeface="Montserrat" pitchFamily="34" charset="-122"/>
                <a:cs typeface="Montserrat" pitchFamily="34" charset="-120"/>
              </a:rPr>
              <a:t> for image analysis, an </a:t>
            </a:r>
            <a:r>
              <a:rPr lang="en-US" sz="1450" b="1" dirty="0">
                <a:solidFill>
                  <a:srgbClr val="E5DCE6"/>
                </a:solidFill>
                <a:latin typeface="Montserrat" pitchFamily="34" charset="0"/>
                <a:ea typeface="Montserrat" pitchFamily="34" charset="-122"/>
                <a:cs typeface="Montserrat" pitchFamily="34" charset="-120"/>
              </a:rPr>
              <a:t>OCR (Tesseract)</a:t>
            </a:r>
            <a:r>
              <a:rPr lang="en-US" sz="1450" dirty="0">
                <a:solidFill>
                  <a:srgbClr val="E5DCE6"/>
                </a:solidFill>
                <a:latin typeface="Montserrat" pitchFamily="34" charset="0"/>
                <a:ea typeface="Montserrat" pitchFamily="34" charset="-122"/>
                <a:cs typeface="Montserrat" pitchFamily="34" charset="-120"/>
              </a:rPr>
              <a:t> for text extraction, a secure </a:t>
            </a:r>
            <a:r>
              <a:rPr lang="en-US" sz="1450" b="1" dirty="0">
                <a:solidFill>
                  <a:srgbClr val="E5DCE6"/>
                </a:solidFill>
                <a:latin typeface="Montserrat" pitchFamily="34" charset="0"/>
                <a:ea typeface="Montserrat" pitchFamily="34" charset="-122"/>
                <a:cs typeface="Montserrat" pitchFamily="34" charset="-120"/>
              </a:rPr>
              <a:t>Flask backend</a:t>
            </a:r>
            <a:r>
              <a:rPr lang="en-US" sz="1450" dirty="0">
                <a:solidFill>
                  <a:srgbClr val="E5DCE6"/>
                </a:solidFill>
                <a:latin typeface="Montserrat" pitchFamily="34" charset="0"/>
                <a:ea typeface="Montserrat" pitchFamily="34" charset="-122"/>
                <a:cs typeface="Montserrat" pitchFamily="34" charset="-120"/>
              </a:rPr>
              <a:t>, and a modern </a:t>
            </a:r>
            <a:r>
              <a:rPr lang="en-US" sz="1450" b="1" dirty="0">
                <a:solidFill>
                  <a:srgbClr val="E5DCE6"/>
                </a:solidFill>
                <a:latin typeface="Montserrat" pitchFamily="34" charset="0"/>
                <a:ea typeface="Montserrat" pitchFamily="34" charset="-122"/>
                <a:cs typeface="Montserrat" pitchFamily="34" charset="-120"/>
              </a:rPr>
              <a:t>Bootstrap UI</a:t>
            </a:r>
            <a:r>
              <a:rPr lang="en-US" sz="1450" dirty="0">
                <a:solidFill>
                  <a:srgbClr val="E5DCE6"/>
                </a:solidFill>
                <a:latin typeface="Montserrat" pitchFamily="34" charset="0"/>
                <a:ea typeface="Montserrat" pitchFamily="34" charset="-122"/>
                <a:cs typeface="Montserrat" pitchFamily="34" charset="-120"/>
              </a:rPr>
              <a:t>, demonstrating robust system architecture.</a:t>
            </a:r>
            <a:endParaRPr lang="en-US" sz="1450" dirty="0"/>
          </a:p>
        </p:txBody>
      </p:sp>
      <p:sp>
        <p:nvSpPr>
          <p:cNvPr id="21" name="TextBox 20">
            <a:extLst>
              <a:ext uri="{FF2B5EF4-FFF2-40B4-BE49-F238E27FC236}">
                <a16:creationId xmlns:a16="http://schemas.microsoft.com/office/drawing/2014/main" id="{BAC29C38-4811-4A86-A79B-521F2F1A4B04}"/>
              </a:ext>
            </a:extLst>
          </p:cNvPr>
          <p:cNvSpPr txBox="1"/>
          <p:nvPr/>
        </p:nvSpPr>
        <p:spPr>
          <a:xfrm>
            <a:off x="4518172" y="3480998"/>
            <a:ext cx="3858435" cy="1599540"/>
          </a:xfrm>
          <a:prstGeom prst="rect">
            <a:avLst/>
          </a:prstGeom>
          <a:noFill/>
        </p:spPr>
        <p:txBody>
          <a:bodyPr wrap="square">
            <a:spAutoFit/>
          </a:bodyPr>
          <a:lstStyle/>
          <a:p>
            <a:pPr marL="0" indent="0" algn="l">
              <a:lnSpc>
                <a:spcPts val="2350"/>
              </a:lnSpc>
              <a:buNone/>
            </a:pPr>
            <a:r>
              <a:rPr lang="en-US" sz="1450" dirty="0">
                <a:solidFill>
                  <a:srgbClr val="E5DCE6"/>
                </a:solidFill>
                <a:latin typeface="Montserrat" pitchFamily="34" charset="0"/>
                <a:ea typeface="Montserrat" pitchFamily="34" charset="-122"/>
                <a:cs typeface="Montserrat" pitchFamily="34" charset="-120"/>
              </a:rPr>
              <a:t>A major challenge was the absence of public datasets. We addressed this by meticulously building our own comprehensive dataset from scratch, a critical step for model training.</a:t>
            </a:r>
            <a:endParaRPr lang="en-US" sz="1450" dirty="0"/>
          </a:p>
        </p:txBody>
      </p:sp>
      <p:sp>
        <p:nvSpPr>
          <p:cNvPr id="23" name="TextBox 22">
            <a:extLst>
              <a:ext uri="{FF2B5EF4-FFF2-40B4-BE49-F238E27FC236}">
                <a16:creationId xmlns:a16="http://schemas.microsoft.com/office/drawing/2014/main" id="{984F7939-CD1F-4A3F-8550-5C1695D29FDB}"/>
              </a:ext>
            </a:extLst>
          </p:cNvPr>
          <p:cNvSpPr txBox="1"/>
          <p:nvPr/>
        </p:nvSpPr>
        <p:spPr>
          <a:xfrm>
            <a:off x="533169" y="2859644"/>
            <a:ext cx="8365786" cy="367280"/>
          </a:xfrm>
          <a:prstGeom prst="rect">
            <a:avLst/>
          </a:prstGeom>
          <a:noFill/>
        </p:spPr>
        <p:txBody>
          <a:bodyPr wrap="square">
            <a:spAutoFit/>
          </a:bodyPr>
          <a:lstStyle/>
          <a:p>
            <a:pPr marL="0" indent="0" algn="l">
              <a:lnSpc>
                <a:spcPts val="230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Integrated Hybrid AI Solution</a:t>
            </a:r>
            <a:endParaRPr lang="en-US" sz="1800" dirty="0"/>
          </a:p>
        </p:txBody>
      </p:sp>
      <p:sp>
        <p:nvSpPr>
          <p:cNvPr id="25" name="TextBox 24">
            <a:extLst>
              <a:ext uri="{FF2B5EF4-FFF2-40B4-BE49-F238E27FC236}">
                <a16:creationId xmlns:a16="http://schemas.microsoft.com/office/drawing/2014/main" id="{ED40E41F-8BF0-407A-B889-3C5A1FECA68C}"/>
              </a:ext>
            </a:extLst>
          </p:cNvPr>
          <p:cNvSpPr txBox="1"/>
          <p:nvPr/>
        </p:nvSpPr>
        <p:spPr>
          <a:xfrm>
            <a:off x="4542274" y="2859644"/>
            <a:ext cx="8190688" cy="367280"/>
          </a:xfrm>
          <a:prstGeom prst="rect">
            <a:avLst/>
          </a:prstGeom>
          <a:noFill/>
        </p:spPr>
        <p:txBody>
          <a:bodyPr wrap="square">
            <a:spAutoFit/>
          </a:bodyPr>
          <a:lstStyle/>
          <a:p>
            <a:pPr marL="0" indent="0" algn="l">
              <a:lnSpc>
                <a:spcPts val="230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Overcoming Data Scarcity</a:t>
            </a:r>
            <a:endParaRPr lang="en-US" sz="1800" dirty="0"/>
          </a:p>
        </p:txBody>
      </p:sp>
      <p:sp>
        <p:nvSpPr>
          <p:cNvPr id="27" name="TextBox 26">
            <a:extLst>
              <a:ext uri="{FF2B5EF4-FFF2-40B4-BE49-F238E27FC236}">
                <a16:creationId xmlns:a16="http://schemas.microsoft.com/office/drawing/2014/main" id="{5AC87387-0EE8-43D6-AC7F-4D07CA6B9407}"/>
              </a:ext>
            </a:extLst>
          </p:cNvPr>
          <p:cNvSpPr txBox="1"/>
          <p:nvPr/>
        </p:nvSpPr>
        <p:spPr>
          <a:xfrm>
            <a:off x="457201" y="1375544"/>
            <a:ext cx="7696200" cy="676211"/>
          </a:xfrm>
          <a:prstGeom prst="rect">
            <a:avLst/>
          </a:prstGeom>
          <a:noFill/>
        </p:spPr>
        <p:txBody>
          <a:bodyPr wrap="square">
            <a:spAutoFit/>
          </a:bodyPr>
          <a:lstStyle/>
          <a:p>
            <a:pPr marL="0" indent="0" algn="l">
              <a:lnSpc>
                <a:spcPts val="2350"/>
              </a:lnSpc>
              <a:buNone/>
            </a:pPr>
            <a:r>
              <a:rPr lang="en-US" sz="1450" dirty="0">
                <a:solidFill>
                  <a:srgbClr val="E5DCE6"/>
                </a:solidFill>
                <a:latin typeface="Montserrat" pitchFamily="34" charset="0"/>
                <a:ea typeface="Montserrat" pitchFamily="34" charset="-122"/>
                <a:cs typeface="Montserrat" pitchFamily="34" charset="-120"/>
              </a:rPr>
              <a:t>We successfully designed and built a </a:t>
            </a:r>
            <a:r>
              <a:rPr lang="en-US" sz="1450" b="1" dirty="0">
                <a:solidFill>
                  <a:srgbClr val="E5DCE6"/>
                </a:solidFill>
                <a:latin typeface="Montserrat" pitchFamily="34" charset="0"/>
                <a:ea typeface="Montserrat" pitchFamily="34" charset="-122"/>
                <a:cs typeface="Montserrat" pitchFamily="34" charset="-120"/>
              </a:rPr>
              <a:t>secure, full-stack, hybrid AI</a:t>
            </a:r>
            <a:r>
              <a:rPr lang="en-US" sz="1450" dirty="0">
                <a:solidFill>
                  <a:srgbClr val="E5DCE6"/>
                </a:solidFill>
                <a:latin typeface="Montserrat" pitchFamily="34" charset="0"/>
                <a:ea typeface="Montserrat" pitchFamily="34" charset="-122"/>
                <a:cs typeface="Montserrat" pitchFamily="34" charset="-120"/>
              </a:rPr>
              <a:t> application that offers a practical solution to a significant real-world fraud problem.</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930029" y="2698342"/>
            <a:ext cx="2631440" cy="612775"/>
          </a:xfrm>
          <a:prstGeom prst="rect">
            <a:avLst/>
          </a:prstGeom>
        </p:spPr>
        <p:txBody>
          <a:bodyPr vert="horz" wrap="square" lIns="0" tIns="12700" rIns="0" bIns="0" rtlCol="0">
            <a:spAutoFit/>
          </a:bodyPr>
          <a:lstStyle/>
          <a:p>
            <a:pPr marL="12700">
              <a:lnSpc>
                <a:spcPct val="100000"/>
              </a:lnSpc>
              <a:spcBef>
                <a:spcPts val="100"/>
              </a:spcBef>
            </a:pPr>
            <a:r>
              <a:rPr sz="3850" dirty="0"/>
              <a:t>Future</a:t>
            </a:r>
            <a:r>
              <a:rPr sz="3850" spc="-150" dirty="0"/>
              <a:t> </a:t>
            </a:r>
            <a:r>
              <a:rPr sz="3850" spc="-10" dirty="0"/>
              <a:t>Scope</a:t>
            </a:r>
            <a:endParaRPr sz="3850" dirty="0"/>
          </a:p>
        </p:txBody>
      </p:sp>
      <p:sp>
        <p:nvSpPr>
          <p:cNvPr id="10" name="object 10"/>
          <p:cNvSpPr txBox="1"/>
          <p:nvPr/>
        </p:nvSpPr>
        <p:spPr>
          <a:xfrm>
            <a:off x="941378" y="3460723"/>
            <a:ext cx="13155622" cy="243656"/>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E4DCE6"/>
                </a:solidFill>
                <a:latin typeface="Montserrat" panose="00000500000000000000" pitchFamily="2" charset="0"/>
                <a:cs typeface="Calibri"/>
              </a:rPr>
              <a:t>Our</a:t>
            </a:r>
            <a:r>
              <a:rPr sz="1500" spc="-25"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vision</a:t>
            </a:r>
            <a:r>
              <a:rPr sz="1500" spc="-35"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for</a:t>
            </a:r>
            <a:r>
              <a:rPr sz="1500" spc="-25"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the</a:t>
            </a:r>
            <a:r>
              <a:rPr sz="1500" spc="-25"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UPI</a:t>
            </a:r>
            <a:r>
              <a:rPr sz="1500" spc="-35"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fraud</a:t>
            </a:r>
            <a:r>
              <a:rPr sz="1500" spc="-25" dirty="0">
                <a:solidFill>
                  <a:srgbClr val="E4DCE6"/>
                </a:solidFill>
                <a:latin typeface="Montserrat" panose="00000500000000000000" pitchFamily="2" charset="0"/>
                <a:cs typeface="Calibri"/>
              </a:rPr>
              <a:t> </a:t>
            </a:r>
            <a:r>
              <a:rPr sz="1500" spc="-10" dirty="0">
                <a:solidFill>
                  <a:srgbClr val="E4DCE6"/>
                </a:solidFill>
                <a:latin typeface="Montserrat" panose="00000500000000000000" pitchFamily="2" charset="0"/>
                <a:cs typeface="Calibri"/>
              </a:rPr>
              <a:t>detection</a:t>
            </a:r>
            <a:r>
              <a:rPr sz="1500" spc="-25" dirty="0">
                <a:solidFill>
                  <a:srgbClr val="E4DCE6"/>
                </a:solidFill>
                <a:latin typeface="Montserrat" panose="00000500000000000000" pitchFamily="2" charset="0"/>
                <a:cs typeface="Calibri"/>
              </a:rPr>
              <a:t> </a:t>
            </a:r>
            <a:r>
              <a:rPr sz="1500" spc="-20" dirty="0">
                <a:solidFill>
                  <a:srgbClr val="E4DCE6"/>
                </a:solidFill>
                <a:latin typeface="Montserrat" panose="00000500000000000000" pitchFamily="2" charset="0"/>
                <a:cs typeface="Calibri"/>
              </a:rPr>
              <a:t>system</a:t>
            </a:r>
            <a:r>
              <a:rPr sz="1500" spc="-30"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includes</a:t>
            </a:r>
            <a:r>
              <a:rPr sz="1500" spc="-30" dirty="0">
                <a:solidFill>
                  <a:srgbClr val="E4DCE6"/>
                </a:solidFill>
                <a:latin typeface="Montserrat" panose="00000500000000000000" pitchFamily="2" charset="0"/>
                <a:cs typeface="Calibri"/>
              </a:rPr>
              <a:t> </a:t>
            </a:r>
            <a:r>
              <a:rPr sz="1500" spc="-10" dirty="0">
                <a:solidFill>
                  <a:srgbClr val="E4DCE6"/>
                </a:solidFill>
                <a:latin typeface="Montserrat" panose="00000500000000000000" pitchFamily="2" charset="0"/>
                <a:cs typeface="Calibri"/>
              </a:rPr>
              <a:t>exciting</a:t>
            </a:r>
            <a:r>
              <a:rPr sz="1500" spc="-25" dirty="0">
                <a:solidFill>
                  <a:srgbClr val="E4DCE6"/>
                </a:solidFill>
                <a:latin typeface="Montserrat" panose="00000500000000000000" pitchFamily="2" charset="0"/>
                <a:cs typeface="Calibri"/>
              </a:rPr>
              <a:t> </a:t>
            </a:r>
            <a:r>
              <a:rPr sz="1500" spc="-10" dirty="0">
                <a:solidFill>
                  <a:srgbClr val="E4DCE6"/>
                </a:solidFill>
                <a:latin typeface="Montserrat" panose="00000500000000000000" pitchFamily="2" charset="0"/>
                <a:cs typeface="Calibri"/>
              </a:rPr>
              <a:t>advancements</a:t>
            </a:r>
            <a:r>
              <a:rPr sz="1500" spc="-40"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to</a:t>
            </a:r>
            <a:r>
              <a:rPr sz="1500" spc="-30"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further</a:t>
            </a:r>
            <a:r>
              <a:rPr sz="1500" spc="-25"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enhance</a:t>
            </a:r>
            <a:r>
              <a:rPr sz="1500" spc="-25"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its</a:t>
            </a:r>
            <a:r>
              <a:rPr sz="1500" spc="-30" dirty="0">
                <a:solidFill>
                  <a:srgbClr val="E4DCE6"/>
                </a:solidFill>
                <a:latin typeface="Montserrat" panose="00000500000000000000" pitchFamily="2" charset="0"/>
                <a:cs typeface="Calibri"/>
              </a:rPr>
              <a:t> </a:t>
            </a:r>
            <a:r>
              <a:rPr sz="1500" spc="-10" dirty="0">
                <a:solidFill>
                  <a:srgbClr val="E4DCE6"/>
                </a:solidFill>
                <a:latin typeface="Montserrat" panose="00000500000000000000" pitchFamily="2" charset="0"/>
                <a:cs typeface="Calibri"/>
              </a:rPr>
              <a:t>capabilities</a:t>
            </a:r>
            <a:r>
              <a:rPr sz="1500" spc="-30"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and</a:t>
            </a:r>
            <a:r>
              <a:rPr sz="1500" spc="-25" dirty="0">
                <a:solidFill>
                  <a:srgbClr val="E4DCE6"/>
                </a:solidFill>
                <a:latin typeface="Montserrat" panose="00000500000000000000" pitchFamily="2" charset="0"/>
                <a:cs typeface="Calibri"/>
              </a:rPr>
              <a:t> </a:t>
            </a:r>
            <a:r>
              <a:rPr sz="1500" spc="-10" dirty="0">
                <a:solidFill>
                  <a:srgbClr val="E4DCE6"/>
                </a:solidFill>
                <a:latin typeface="Montserrat" panose="00000500000000000000" pitchFamily="2" charset="0"/>
                <a:cs typeface="Calibri"/>
              </a:rPr>
              <a:t>accessibility.</a:t>
            </a:r>
            <a:endParaRPr sz="1500" dirty="0">
              <a:latin typeface="Montserrat" panose="00000500000000000000" pitchFamily="2" charset="0"/>
              <a:cs typeface="Calibri"/>
            </a:endParaRPr>
          </a:p>
        </p:txBody>
      </p:sp>
      <p:sp>
        <p:nvSpPr>
          <p:cNvPr id="11" name="object 11"/>
          <p:cNvSpPr txBox="1"/>
          <p:nvPr/>
        </p:nvSpPr>
        <p:spPr>
          <a:xfrm>
            <a:off x="941378" y="5056394"/>
            <a:ext cx="4033212" cy="1619418"/>
          </a:xfrm>
          <a:prstGeom prst="rect">
            <a:avLst/>
          </a:prstGeom>
        </p:spPr>
        <p:txBody>
          <a:bodyPr vert="horz" wrap="square" lIns="0" tIns="12065" rIns="0" bIns="0" rtlCol="0">
            <a:spAutoFit/>
          </a:bodyPr>
          <a:lstStyle/>
          <a:p>
            <a:pPr marL="12700">
              <a:lnSpc>
                <a:spcPct val="100000"/>
              </a:lnSpc>
              <a:spcBef>
                <a:spcPts val="95"/>
              </a:spcBef>
            </a:pPr>
            <a:r>
              <a:rPr sz="1900" b="1" dirty="0">
                <a:solidFill>
                  <a:srgbClr val="E4DCE6"/>
                </a:solidFill>
                <a:latin typeface="Bricolage Grotesque Extra BoldBricolage Grotesque Extra Bold"/>
                <a:cs typeface="Calibri"/>
              </a:rPr>
              <a:t>Live</a:t>
            </a:r>
            <a:r>
              <a:rPr sz="1900" b="1" spc="-45" dirty="0">
                <a:solidFill>
                  <a:srgbClr val="E4DCE6"/>
                </a:solidFill>
                <a:latin typeface="Bricolage Grotesque Extra BoldBricolage Grotesque Extra Bold"/>
                <a:cs typeface="Calibri"/>
              </a:rPr>
              <a:t> </a:t>
            </a:r>
            <a:r>
              <a:rPr sz="1900" b="1" dirty="0">
                <a:solidFill>
                  <a:srgbClr val="E4DCE6"/>
                </a:solidFill>
                <a:latin typeface="Bricolage Grotesque Extra BoldBricolage Grotesque Extra Bold"/>
                <a:cs typeface="Calibri"/>
              </a:rPr>
              <a:t>API</a:t>
            </a:r>
            <a:r>
              <a:rPr sz="1900" b="1" spc="-45" dirty="0">
                <a:solidFill>
                  <a:srgbClr val="E4DCE6"/>
                </a:solidFill>
                <a:latin typeface="Bricolage Grotesque Extra BoldBricolage Grotesque Extra Bold"/>
                <a:cs typeface="Calibri"/>
              </a:rPr>
              <a:t> </a:t>
            </a:r>
            <a:r>
              <a:rPr sz="1900" b="1" spc="-20" dirty="0">
                <a:solidFill>
                  <a:srgbClr val="E4DCE6"/>
                </a:solidFill>
                <a:latin typeface="Bricolage Grotesque Extra BoldBricolage Grotesque Extra Bold"/>
                <a:cs typeface="Calibri"/>
              </a:rPr>
              <a:t>Check</a:t>
            </a:r>
            <a:endParaRPr sz="1900" b="1" dirty="0">
              <a:latin typeface="Bricolage Grotesque Extra BoldBricolage Grotesque Extra Bold"/>
              <a:cs typeface="Calibri"/>
            </a:endParaRPr>
          </a:p>
          <a:p>
            <a:pPr marL="18415" marR="5080" indent="-6350">
              <a:lnSpc>
                <a:spcPct val="139100"/>
              </a:lnSpc>
              <a:spcBef>
                <a:spcPts val="465"/>
              </a:spcBef>
            </a:pPr>
            <a:r>
              <a:rPr sz="1500" spc="-10" dirty="0">
                <a:solidFill>
                  <a:srgbClr val="E4DCE6"/>
                </a:solidFill>
                <a:latin typeface="Montserrat" panose="00000500000000000000" pitchFamily="2" charset="0"/>
                <a:cs typeface="Calibri"/>
              </a:rPr>
              <a:t>Integrate</a:t>
            </a:r>
            <a:r>
              <a:rPr sz="1500" spc="-35"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with</a:t>
            </a:r>
            <a:r>
              <a:rPr sz="1500" spc="-20"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bank</a:t>
            </a:r>
            <a:r>
              <a:rPr sz="1500" spc="-20"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APIs</a:t>
            </a:r>
            <a:r>
              <a:rPr sz="1500" spc="-30"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or</a:t>
            </a:r>
            <a:r>
              <a:rPr sz="1500" spc="-20" dirty="0">
                <a:solidFill>
                  <a:srgbClr val="E4DCE6"/>
                </a:solidFill>
                <a:latin typeface="Montserrat" panose="00000500000000000000" pitchFamily="2" charset="0"/>
                <a:cs typeface="Calibri"/>
              </a:rPr>
              <a:t> </a:t>
            </a:r>
            <a:r>
              <a:rPr sz="1500" spc="-10" dirty="0">
                <a:solidFill>
                  <a:srgbClr val="E4DCE6"/>
                </a:solidFill>
                <a:latin typeface="Montserrat" panose="00000500000000000000" pitchFamily="2" charset="0"/>
                <a:cs typeface="Calibri"/>
              </a:rPr>
              <a:t>third-</a:t>
            </a:r>
            <a:r>
              <a:rPr sz="1500" dirty="0">
                <a:solidFill>
                  <a:srgbClr val="E4DCE6"/>
                </a:solidFill>
                <a:latin typeface="Montserrat" panose="00000500000000000000" pitchFamily="2" charset="0"/>
                <a:cs typeface="Calibri"/>
              </a:rPr>
              <a:t>party</a:t>
            </a:r>
            <a:r>
              <a:rPr sz="1500" spc="-20"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services</a:t>
            </a:r>
            <a:r>
              <a:rPr sz="1500" spc="-30" dirty="0">
                <a:solidFill>
                  <a:srgbClr val="E4DCE6"/>
                </a:solidFill>
                <a:latin typeface="Montserrat" panose="00000500000000000000" pitchFamily="2" charset="0"/>
                <a:cs typeface="Calibri"/>
              </a:rPr>
              <a:t> </a:t>
            </a:r>
            <a:r>
              <a:rPr sz="1500" spc="-25" dirty="0">
                <a:solidFill>
                  <a:srgbClr val="E4DCE6"/>
                </a:solidFill>
                <a:latin typeface="Montserrat" panose="00000500000000000000" pitchFamily="2" charset="0"/>
                <a:cs typeface="Calibri"/>
              </a:rPr>
              <a:t>to </a:t>
            </a:r>
            <a:r>
              <a:rPr sz="1500" spc="-10" dirty="0">
                <a:solidFill>
                  <a:srgbClr val="E4DCE6"/>
                </a:solidFill>
                <a:latin typeface="Montserrat" panose="00000500000000000000" pitchFamily="2" charset="0"/>
                <a:cs typeface="Calibri"/>
              </a:rPr>
              <a:t>perform</a:t>
            </a:r>
            <a:r>
              <a:rPr sz="1500" spc="-30"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live</a:t>
            </a:r>
            <a:r>
              <a:rPr sz="1500" spc="-35"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checks</a:t>
            </a:r>
            <a:r>
              <a:rPr sz="1500" spc="-40"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on</a:t>
            </a:r>
            <a:r>
              <a:rPr sz="1500" spc="-25" dirty="0">
                <a:solidFill>
                  <a:srgbClr val="E4DCE6"/>
                </a:solidFill>
                <a:latin typeface="Montserrat" panose="00000500000000000000" pitchFamily="2" charset="0"/>
                <a:cs typeface="Calibri"/>
              </a:rPr>
              <a:t> </a:t>
            </a:r>
            <a:r>
              <a:rPr sz="1500" spc="-10" dirty="0">
                <a:solidFill>
                  <a:srgbClr val="E4DCE6"/>
                </a:solidFill>
                <a:latin typeface="Montserrat" panose="00000500000000000000" pitchFamily="2" charset="0"/>
                <a:cs typeface="Calibri"/>
              </a:rPr>
              <a:t>extracted</a:t>
            </a:r>
            <a:r>
              <a:rPr sz="1500" spc="-30" dirty="0">
                <a:solidFill>
                  <a:srgbClr val="E4DCE6"/>
                </a:solidFill>
                <a:latin typeface="Montserrat" panose="00000500000000000000" pitchFamily="2" charset="0"/>
                <a:cs typeface="Calibri"/>
              </a:rPr>
              <a:t> </a:t>
            </a:r>
            <a:r>
              <a:rPr sz="1500" spc="-10" dirty="0">
                <a:solidFill>
                  <a:srgbClr val="E4DCE6"/>
                </a:solidFill>
                <a:latin typeface="Montserrat" panose="00000500000000000000" pitchFamily="2" charset="0"/>
                <a:cs typeface="Calibri"/>
              </a:rPr>
              <a:t>UTR/Transaction </a:t>
            </a:r>
            <a:r>
              <a:rPr sz="1500" dirty="0">
                <a:solidFill>
                  <a:srgbClr val="E4DCE6"/>
                </a:solidFill>
                <a:latin typeface="Montserrat" panose="00000500000000000000" pitchFamily="2" charset="0"/>
                <a:cs typeface="Calibri"/>
              </a:rPr>
              <a:t>IDs,</a:t>
            </a:r>
            <a:r>
              <a:rPr sz="1500" spc="-15" dirty="0">
                <a:solidFill>
                  <a:srgbClr val="E4DCE6"/>
                </a:solidFill>
                <a:latin typeface="Montserrat" panose="00000500000000000000" pitchFamily="2" charset="0"/>
                <a:cs typeface="Calibri"/>
              </a:rPr>
              <a:t> </a:t>
            </a:r>
            <a:r>
              <a:rPr sz="1500" dirty="0">
                <a:solidFill>
                  <a:srgbClr val="E4DCE6"/>
                </a:solidFill>
                <a:latin typeface="Montserrat" panose="00000500000000000000" pitchFamily="2" charset="0"/>
                <a:cs typeface="Calibri"/>
              </a:rPr>
              <a:t>verifying</a:t>
            </a:r>
            <a:r>
              <a:rPr sz="1500" spc="-10" dirty="0">
                <a:solidFill>
                  <a:srgbClr val="E4DCE6"/>
                </a:solidFill>
                <a:latin typeface="Montserrat" panose="00000500000000000000" pitchFamily="2" charset="0"/>
                <a:cs typeface="Calibri"/>
              </a:rPr>
              <a:t> transaction</a:t>
            </a:r>
            <a:r>
              <a:rPr sz="1500" spc="-15" dirty="0">
                <a:solidFill>
                  <a:srgbClr val="E4DCE6"/>
                </a:solidFill>
                <a:latin typeface="Montserrat" panose="00000500000000000000" pitchFamily="2" charset="0"/>
                <a:cs typeface="Calibri"/>
              </a:rPr>
              <a:t> </a:t>
            </a:r>
            <a:r>
              <a:rPr sz="1500" spc="-10" dirty="0">
                <a:solidFill>
                  <a:srgbClr val="E4DCE6"/>
                </a:solidFill>
                <a:latin typeface="Montserrat" panose="00000500000000000000" pitchFamily="2" charset="0"/>
                <a:cs typeface="Calibri"/>
              </a:rPr>
              <a:t>authenticity </a:t>
            </a:r>
            <a:r>
              <a:rPr sz="1500" dirty="0">
                <a:solidFill>
                  <a:srgbClr val="E4DCE6"/>
                </a:solidFill>
                <a:latin typeface="Montserrat" panose="00000500000000000000" pitchFamily="2" charset="0"/>
                <a:cs typeface="Calibri"/>
              </a:rPr>
              <a:t>in</a:t>
            </a:r>
            <a:r>
              <a:rPr sz="1500" spc="-20" dirty="0">
                <a:solidFill>
                  <a:srgbClr val="E4DCE6"/>
                </a:solidFill>
                <a:latin typeface="Montserrat" panose="00000500000000000000" pitchFamily="2" charset="0"/>
                <a:cs typeface="Calibri"/>
              </a:rPr>
              <a:t> </a:t>
            </a:r>
            <a:r>
              <a:rPr sz="1500" spc="-10" dirty="0">
                <a:solidFill>
                  <a:srgbClr val="E4DCE6"/>
                </a:solidFill>
                <a:latin typeface="Montserrat" panose="00000500000000000000" pitchFamily="2" charset="0"/>
                <a:cs typeface="Calibri"/>
              </a:rPr>
              <a:t>real- time.</a:t>
            </a:r>
            <a:endParaRPr sz="1500" dirty="0">
              <a:latin typeface="Montserrat" panose="00000500000000000000" pitchFamily="2" charset="0"/>
              <a:cs typeface="Calibri"/>
            </a:endParaRPr>
          </a:p>
        </p:txBody>
      </p:sp>
      <p:sp>
        <p:nvSpPr>
          <p:cNvPr id="12" name="object 12"/>
          <p:cNvSpPr txBox="1"/>
          <p:nvPr/>
        </p:nvSpPr>
        <p:spPr>
          <a:xfrm>
            <a:off x="5414771" y="5051530"/>
            <a:ext cx="3544570" cy="1972720"/>
          </a:xfrm>
          <a:prstGeom prst="rect">
            <a:avLst/>
          </a:prstGeom>
        </p:spPr>
        <p:txBody>
          <a:bodyPr vert="horz" wrap="square" lIns="0" tIns="12065" rIns="0" bIns="0" rtlCol="0">
            <a:spAutoFit/>
          </a:bodyPr>
          <a:lstStyle/>
          <a:p>
            <a:pPr marL="12700">
              <a:lnSpc>
                <a:spcPct val="100000"/>
              </a:lnSpc>
              <a:spcBef>
                <a:spcPts val="95"/>
              </a:spcBef>
            </a:pPr>
            <a:r>
              <a:rPr lang="en-US" sz="1900" b="1" spc="-10" dirty="0">
                <a:solidFill>
                  <a:srgbClr val="E4DCE6"/>
                </a:solidFill>
                <a:latin typeface="Bricolage Grotesque Extra BoldBricolage Grotesque Extra Bold"/>
                <a:cs typeface="Calibri"/>
              </a:rPr>
              <a:t>Native</a:t>
            </a:r>
            <a:r>
              <a:rPr lang="en-US" sz="1900" b="1" spc="-60" dirty="0">
                <a:solidFill>
                  <a:srgbClr val="E4DCE6"/>
                </a:solidFill>
                <a:latin typeface="Bricolage Grotesque Extra BoldBricolage Grotesque Extra Bold"/>
                <a:cs typeface="Calibri"/>
              </a:rPr>
              <a:t> </a:t>
            </a:r>
            <a:r>
              <a:rPr lang="en-US" sz="1900" b="1" dirty="0">
                <a:solidFill>
                  <a:srgbClr val="E4DCE6"/>
                </a:solidFill>
                <a:latin typeface="Bricolage Grotesque Extra BoldBricolage Grotesque Extra Bold"/>
                <a:cs typeface="Calibri"/>
              </a:rPr>
              <a:t>Mobile</a:t>
            </a:r>
            <a:r>
              <a:rPr lang="en-US" sz="1900" b="1" spc="-50" dirty="0">
                <a:solidFill>
                  <a:srgbClr val="E4DCE6"/>
                </a:solidFill>
                <a:latin typeface="Bricolage Grotesque Extra BoldBricolage Grotesque Extra Bold"/>
                <a:cs typeface="Calibri"/>
              </a:rPr>
              <a:t> </a:t>
            </a:r>
            <a:r>
              <a:rPr lang="en-US" sz="1900" b="1" spc="-25" dirty="0">
                <a:solidFill>
                  <a:srgbClr val="E4DCE6"/>
                </a:solidFill>
                <a:latin typeface="Bricolage Grotesque Extra BoldBricolage Grotesque Extra Bold"/>
                <a:cs typeface="Calibri"/>
              </a:rPr>
              <a:t>App</a:t>
            </a:r>
            <a:endParaRPr lang="en-US" sz="1900" b="1" dirty="0">
              <a:latin typeface="Bricolage Grotesque Extra BoldBricolage Grotesque Extra Bold"/>
              <a:cs typeface="Calibri"/>
            </a:endParaRPr>
          </a:p>
          <a:p>
            <a:pPr marL="18415" marR="5080" indent="-6350">
              <a:lnSpc>
                <a:spcPct val="139000"/>
              </a:lnSpc>
              <a:spcBef>
                <a:spcPts val="465"/>
              </a:spcBef>
            </a:pPr>
            <a:r>
              <a:rPr lang="en-US" sz="1500" spc="-10" dirty="0">
                <a:solidFill>
                  <a:srgbClr val="E4DCE6"/>
                </a:solidFill>
                <a:latin typeface="Montserrat" panose="00000500000000000000" pitchFamily="2" charset="0"/>
                <a:cs typeface="Calibri"/>
              </a:rPr>
              <a:t>Develop</a:t>
            </a:r>
            <a:r>
              <a:rPr lang="en-US" sz="1500" spc="-30" dirty="0">
                <a:solidFill>
                  <a:srgbClr val="E4DCE6"/>
                </a:solidFill>
                <a:latin typeface="Montserrat" panose="00000500000000000000" pitchFamily="2" charset="0"/>
                <a:cs typeface="Calibri"/>
              </a:rPr>
              <a:t> </a:t>
            </a:r>
            <a:r>
              <a:rPr lang="en-US" sz="1500" dirty="0">
                <a:solidFill>
                  <a:srgbClr val="E4DCE6"/>
                </a:solidFill>
                <a:latin typeface="Montserrat" panose="00000500000000000000" pitchFamily="2" charset="0"/>
                <a:cs typeface="Calibri"/>
              </a:rPr>
              <a:t>a</a:t>
            </a:r>
            <a:r>
              <a:rPr lang="en-US" sz="1500" spc="-30" dirty="0">
                <a:solidFill>
                  <a:srgbClr val="E4DCE6"/>
                </a:solidFill>
                <a:latin typeface="Montserrat" panose="00000500000000000000" pitchFamily="2" charset="0"/>
                <a:cs typeface="Calibri"/>
              </a:rPr>
              <a:t> </a:t>
            </a:r>
            <a:r>
              <a:rPr lang="en-US" sz="1500" dirty="0">
                <a:solidFill>
                  <a:srgbClr val="E4DCE6"/>
                </a:solidFill>
                <a:latin typeface="Montserrat" panose="00000500000000000000" pitchFamily="2" charset="0"/>
                <a:cs typeface="Calibri"/>
              </a:rPr>
              <a:t>fast</a:t>
            </a:r>
            <a:r>
              <a:rPr lang="en-US" sz="1500" spc="-30" dirty="0">
                <a:solidFill>
                  <a:srgbClr val="E4DCE6"/>
                </a:solidFill>
                <a:latin typeface="Montserrat" panose="00000500000000000000" pitchFamily="2" charset="0"/>
                <a:cs typeface="Calibri"/>
              </a:rPr>
              <a:t> </a:t>
            </a:r>
            <a:r>
              <a:rPr lang="en-US" sz="1500" dirty="0">
                <a:solidFill>
                  <a:srgbClr val="E4DCE6"/>
                </a:solidFill>
                <a:latin typeface="Montserrat" panose="00000500000000000000" pitchFamily="2" charset="0"/>
                <a:cs typeface="Calibri"/>
              </a:rPr>
              <a:t>and</a:t>
            </a:r>
            <a:r>
              <a:rPr lang="en-US" sz="1500" spc="-30" dirty="0">
                <a:solidFill>
                  <a:srgbClr val="E4DCE6"/>
                </a:solidFill>
                <a:latin typeface="Montserrat" panose="00000500000000000000" pitchFamily="2" charset="0"/>
                <a:cs typeface="Calibri"/>
              </a:rPr>
              <a:t> </a:t>
            </a:r>
            <a:r>
              <a:rPr lang="en-US" sz="1500" spc="-10" dirty="0">
                <a:solidFill>
                  <a:srgbClr val="E4DCE6"/>
                </a:solidFill>
                <a:latin typeface="Montserrat" panose="00000500000000000000" pitchFamily="2" charset="0"/>
                <a:cs typeface="Calibri"/>
              </a:rPr>
              <a:t>intuitive</a:t>
            </a:r>
            <a:r>
              <a:rPr lang="en-US" sz="1500" spc="-35" dirty="0">
                <a:solidFill>
                  <a:srgbClr val="E4DCE6"/>
                </a:solidFill>
                <a:latin typeface="Montserrat" panose="00000500000000000000" pitchFamily="2" charset="0"/>
                <a:cs typeface="Calibri"/>
              </a:rPr>
              <a:t> </a:t>
            </a:r>
            <a:r>
              <a:rPr lang="en-US" sz="1500" dirty="0">
                <a:solidFill>
                  <a:srgbClr val="E4DCE6"/>
                </a:solidFill>
                <a:latin typeface="Montserrat" panose="00000500000000000000" pitchFamily="2" charset="0"/>
                <a:cs typeface="Calibri"/>
              </a:rPr>
              <a:t>native</a:t>
            </a:r>
            <a:r>
              <a:rPr lang="en-US" sz="1500" spc="-35" dirty="0">
                <a:solidFill>
                  <a:srgbClr val="E4DCE6"/>
                </a:solidFill>
                <a:latin typeface="Montserrat" panose="00000500000000000000" pitchFamily="2" charset="0"/>
                <a:cs typeface="Calibri"/>
              </a:rPr>
              <a:t> </a:t>
            </a:r>
            <a:r>
              <a:rPr lang="en-US" sz="1500" spc="-10" dirty="0">
                <a:solidFill>
                  <a:srgbClr val="E4DCE6"/>
                </a:solidFill>
                <a:latin typeface="Montserrat" panose="00000500000000000000" pitchFamily="2" charset="0"/>
                <a:cs typeface="Calibri"/>
              </a:rPr>
              <a:t>application </a:t>
            </a:r>
            <a:r>
              <a:rPr lang="en-US" sz="1500" dirty="0">
                <a:solidFill>
                  <a:srgbClr val="E4DCE6"/>
                </a:solidFill>
                <a:latin typeface="Montserrat" panose="00000500000000000000" pitchFamily="2" charset="0"/>
                <a:cs typeface="Calibri"/>
              </a:rPr>
              <a:t>for</a:t>
            </a:r>
            <a:r>
              <a:rPr lang="en-US" sz="1500" spc="-35" dirty="0">
                <a:solidFill>
                  <a:srgbClr val="E4DCE6"/>
                </a:solidFill>
                <a:latin typeface="Montserrat" panose="00000500000000000000" pitchFamily="2" charset="0"/>
                <a:cs typeface="Calibri"/>
              </a:rPr>
              <a:t> </a:t>
            </a:r>
            <a:r>
              <a:rPr lang="en-US" sz="1500" dirty="0">
                <a:solidFill>
                  <a:srgbClr val="E4DCE6"/>
                </a:solidFill>
                <a:latin typeface="Montserrat" panose="00000500000000000000" pitchFamily="2" charset="0"/>
                <a:cs typeface="Calibri"/>
              </a:rPr>
              <a:t>Android</a:t>
            </a:r>
            <a:r>
              <a:rPr lang="en-US" sz="1500" spc="-25" dirty="0">
                <a:solidFill>
                  <a:srgbClr val="E4DCE6"/>
                </a:solidFill>
                <a:latin typeface="Montserrat" panose="00000500000000000000" pitchFamily="2" charset="0"/>
                <a:cs typeface="Calibri"/>
              </a:rPr>
              <a:t> </a:t>
            </a:r>
            <a:r>
              <a:rPr lang="en-US" sz="1500" dirty="0">
                <a:solidFill>
                  <a:srgbClr val="E4DCE6"/>
                </a:solidFill>
                <a:latin typeface="Montserrat" panose="00000500000000000000" pitchFamily="2" charset="0"/>
                <a:cs typeface="Calibri"/>
              </a:rPr>
              <a:t>and</a:t>
            </a:r>
            <a:r>
              <a:rPr lang="en-US" sz="1500" spc="-30" dirty="0">
                <a:solidFill>
                  <a:srgbClr val="E4DCE6"/>
                </a:solidFill>
                <a:latin typeface="Montserrat" panose="00000500000000000000" pitchFamily="2" charset="0"/>
                <a:cs typeface="Calibri"/>
              </a:rPr>
              <a:t> </a:t>
            </a:r>
            <a:r>
              <a:rPr lang="en-US" sz="1500" dirty="0">
                <a:solidFill>
                  <a:srgbClr val="E4DCE6"/>
                </a:solidFill>
                <a:latin typeface="Montserrat" panose="00000500000000000000" pitchFamily="2" charset="0"/>
                <a:cs typeface="Calibri"/>
              </a:rPr>
              <a:t>iOS,</a:t>
            </a:r>
            <a:r>
              <a:rPr lang="en-US" sz="1500" spc="-35" dirty="0">
                <a:solidFill>
                  <a:srgbClr val="E4DCE6"/>
                </a:solidFill>
                <a:latin typeface="Montserrat" panose="00000500000000000000" pitchFamily="2" charset="0"/>
                <a:cs typeface="Calibri"/>
              </a:rPr>
              <a:t> </a:t>
            </a:r>
            <a:r>
              <a:rPr lang="en-US" sz="1500" dirty="0">
                <a:solidFill>
                  <a:srgbClr val="E4DCE6"/>
                </a:solidFill>
                <a:latin typeface="Montserrat" panose="00000500000000000000" pitchFamily="2" charset="0"/>
                <a:cs typeface="Calibri"/>
              </a:rPr>
              <a:t>enabling</a:t>
            </a:r>
            <a:r>
              <a:rPr lang="en-US" sz="1500" spc="-30" dirty="0">
                <a:solidFill>
                  <a:srgbClr val="E4DCE6"/>
                </a:solidFill>
                <a:latin typeface="Montserrat" panose="00000500000000000000" pitchFamily="2" charset="0"/>
                <a:cs typeface="Calibri"/>
              </a:rPr>
              <a:t> </a:t>
            </a:r>
            <a:r>
              <a:rPr lang="en-US" sz="1500" spc="-10" dirty="0">
                <a:solidFill>
                  <a:srgbClr val="E4DCE6"/>
                </a:solidFill>
                <a:latin typeface="Montserrat" panose="00000500000000000000" pitchFamily="2" charset="0"/>
                <a:cs typeface="Calibri"/>
              </a:rPr>
              <a:t>merchants</a:t>
            </a:r>
            <a:r>
              <a:rPr lang="en-US" sz="1500" spc="-35" dirty="0">
                <a:solidFill>
                  <a:srgbClr val="E4DCE6"/>
                </a:solidFill>
                <a:latin typeface="Montserrat" panose="00000500000000000000" pitchFamily="2" charset="0"/>
                <a:cs typeface="Calibri"/>
              </a:rPr>
              <a:t> </a:t>
            </a:r>
            <a:r>
              <a:rPr lang="en-US" sz="1500" spc="-25" dirty="0">
                <a:solidFill>
                  <a:srgbClr val="E4DCE6"/>
                </a:solidFill>
                <a:latin typeface="Montserrat" panose="00000500000000000000" pitchFamily="2" charset="0"/>
                <a:cs typeface="Calibri"/>
              </a:rPr>
              <a:t>to </a:t>
            </a:r>
            <a:r>
              <a:rPr lang="en-US" sz="1500" spc="-10" dirty="0">
                <a:solidFill>
                  <a:srgbClr val="E4DCE6"/>
                </a:solidFill>
                <a:latin typeface="Montserrat" panose="00000500000000000000" pitchFamily="2" charset="0"/>
                <a:cs typeface="Calibri"/>
              </a:rPr>
              <a:t>utilize</a:t>
            </a:r>
            <a:r>
              <a:rPr lang="en-US" sz="1500" spc="-25" dirty="0">
                <a:solidFill>
                  <a:srgbClr val="E4DCE6"/>
                </a:solidFill>
                <a:latin typeface="Montserrat" panose="00000500000000000000" pitchFamily="2" charset="0"/>
                <a:cs typeface="Calibri"/>
              </a:rPr>
              <a:t> </a:t>
            </a:r>
            <a:r>
              <a:rPr lang="en-US" sz="1500" dirty="0">
                <a:solidFill>
                  <a:srgbClr val="E4DCE6"/>
                </a:solidFill>
                <a:latin typeface="Montserrat" panose="00000500000000000000" pitchFamily="2" charset="0"/>
                <a:cs typeface="Calibri"/>
              </a:rPr>
              <a:t>the</a:t>
            </a:r>
            <a:r>
              <a:rPr lang="en-US" sz="1500" spc="-25" dirty="0">
                <a:solidFill>
                  <a:srgbClr val="E4DCE6"/>
                </a:solidFill>
                <a:latin typeface="Montserrat" panose="00000500000000000000" pitchFamily="2" charset="0"/>
                <a:cs typeface="Calibri"/>
              </a:rPr>
              <a:t> </a:t>
            </a:r>
            <a:r>
              <a:rPr lang="en-US" sz="1500" dirty="0">
                <a:solidFill>
                  <a:srgbClr val="E4DCE6"/>
                </a:solidFill>
                <a:latin typeface="Montserrat" panose="00000500000000000000" pitchFamily="2" charset="0"/>
                <a:cs typeface="Calibri"/>
              </a:rPr>
              <a:t>tool</a:t>
            </a:r>
            <a:r>
              <a:rPr lang="en-US" sz="1500" spc="-10" dirty="0">
                <a:solidFill>
                  <a:srgbClr val="E4DCE6"/>
                </a:solidFill>
                <a:latin typeface="Montserrat" panose="00000500000000000000" pitchFamily="2" charset="0"/>
                <a:cs typeface="Calibri"/>
              </a:rPr>
              <a:t> on-the-</a:t>
            </a:r>
            <a:r>
              <a:rPr lang="en-US" sz="1500" dirty="0">
                <a:solidFill>
                  <a:srgbClr val="E4DCE6"/>
                </a:solidFill>
                <a:latin typeface="Montserrat" panose="00000500000000000000" pitchFamily="2" charset="0"/>
                <a:cs typeface="Calibri"/>
              </a:rPr>
              <a:t>go</a:t>
            </a:r>
            <a:r>
              <a:rPr lang="en-US" sz="1500" spc="-20" dirty="0">
                <a:solidFill>
                  <a:srgbClr val="E4DCE6"/>
                </a:solidFill>
                <a:latin typeface="Montserrat" panose="00000500000000000000" pitchFamily="2" charset="0"/>
                <a:cs typeface="Calibri"/>
              </a:rPr>
              <a:t> </a:t>
            </a:r>
            <a:r>
              <a:rPr lang="en-US" sz="1500" dirty="0">
                <a:solidFill>
                  <a:srgbClr val="E4DCE6"/>
                </a:solidFill>
                <a:latin typeface="Montserrat" panose="00000500000000000000" pitchFamily="2" charset="0"/>
                <a:cs typeface="Calibri"/>
              </a:rPr>
              <a:t>for</a:t>
            </a:r>
            <a:r>
              <a:rPr lang="en-US" sz="1500" spc="-15" dirty="0">
                <a:solidFill>
                  <a:srgbClr val="E4DCE6"/>
                </a:solidFill>
                <a:latin typeface="Montserrat" panose="00000500000000000000" pitchFamily="2" charset="0"/>
                <a:cs typeface="Calibri"/>
              </a:rPr>
              <a:t> </a:t>
            </a:r>
            <a:r>
              <a:rPr lang="en-US" sz="1500" spc="-10" dirty="0">
                <a:solidFill>
                  <a:srgbClr val="E4DCE6"/>
                </a:solidFill>
                <a:latin typeface="Montserrat" panose="00000500000000000000" pitchFamily="2" charset="0"/>
                <a:cs typeface="Calibri"/>
              </a:rPr>
              <a:t>instant</a:t>
            </a:r>
            <a:r>
              <a:rPr lang="en-US" sz="1500" spc="-15" dirty="0">
                <a:solidFill>
                  <a:srgbClr val="E4DCE6"/>
                </a:solidFill>
                <a:latin typeface="Montserrat" panose="00000500000000000000" pitchFamily="2" charset="0"/>
                <a:cs typeface="Calibri"/>
              </a:rPr>
              <a:t> </a:t>
            </a:r>
            <a:r>
              <a:rPr lang="en-US" sz="1500" spc="-10" dirty="0">
                <a:solidFill>
                  <a:srgbClr val="E4DCE6"/>
                </a:solidFill>
                <a:latin typeface="Montserrat" panose="00000500000000000000" pitchFamily="2" charset="0"/>
                <a:cs typeface="Calibri"/>
              </a:rPr>
              <a:t>fraud</a:t>
            </a:r>
            <a:endParaRPr lang="en-US" sz="1500" dirty="0">
              <a:latin typeface="Montserrat" panose="00000500000000000000" pitchFamily="2" charset="0"/>
              <a:cs typeface="Calibri"/>
            </a:endParaRPr>
          </a:p>
          <a:p>
            <a:pPr marL="18415">
              <a:lnSpc>
                <a:spcPct val="100000"/>
              </a:lnSpc>
              <a:spcBef>
                <a:spcPts val="710"/>
              </a:spcBef>
            </a:pPr>
            <a:r>
              <a:rPr lang="en-US" sz="1500" spc="-10" dirty="0">
                <a:solidFill>
                  <a:srgbClr val="E4DCE6"/>
                </a:solidFill>
                <a:latin typeface="Montserrat" panose="00000500000000000000" pitchFamily="2" charset="0"/>
                <a:cs typeface="Calibri"/>
              </a:rPr>
              <a:t>detection.</a:t>
            </a:r>
            <a:endParaRPr lang="en-US" sz="1500" dirty="0">
              <a:latin typeface="Montserrat" panose="00000500000000000000" pitchFamily="2" charset="0"/>
              <a:cs typeface="Calibri"/>
            </a:endParaRPr>
          </a:p>
        </p:txBody>
      </p:sp>
      <p:sp>
        <p:nvSpPr>
          <p:cNvPr id="14" name="object 14"/>
          <p:cNvSpPr txBox="1"/>
          <p:nvPr/>
        </p:nvSpPr>
        <p:spPr>
          <a:xfrm>
            <a:off x="9704545" y="5049909"/>
            <a:ext cx="3870961" cy="1903021"/>
          </a:xfrm>
          <a:prstGeom prst="rect">
            <a:avLst/>
          </a:prstGeom>
        </p:spPr>
        <p:txBody>
          <a:bodyPr vert="horz" wrap="square" lIns="0" tIns="12700" rIns="0" bIns="0" rtlCol="0">
            <a:spAutoFit/>
          </a:bodyPr>
          <a:lstStyle/>
          <a:p>
            <a:pPr algn="l">
              <a:lnSpc>
                <a:spcPts val="2450"/>
              </a:lnSpc>
            </a:pPr>
            <a:r>
              <a:rPr lang="en-US" sz="1900" b="1" spc="-10" dirty="0">
                <a:solidFill>
                  <a:srgbClr val="E4DCE6"/>
                </a:solidFill>
                <a:latin typeface="Bricolage Grotesque Extra BoldBricolage Grotesque Extra Bold"/>
                <a:cs typeface="Calibri"/>
              </a:rPr>
              <a:t>Continuous</a:t>
            </a:r>
            <a:r>
              <a:rPr lang="en-US" sz="1900" b="1" spc="-35" dirty="0">
                <a:solidFill>
                  <a:srgbClr val="E4DCE6"/>
                </a:solidFill>
                <a:latin typeface="Bricolage Grotesque Extra BoldBricolage Grotesque Extra Bold"/>
                <a:cs typeface="Calibri"/>
              </a:rPr>
              <a:t> </a:t>
            </a:r>
            <a:r>
              <a:rPr lang="en-US" sz="1900" b="1" dirty="0">
                <a:solidFill>
                  <a:srgbClr val="E4DCE6"/>
                </a:solidFill>
                <a:latin typeface="Bricolage Grotesque Extra BoldBricolage Grotesque Extra Bold"/>
                <a:cs typeface="Calibri"/>
              </a:rPr>
              <a:t>Learning</a:t>
            </a:r>
            <a:r>
              <a:rPr lang="en-US" sz="1900" b="1" spc="-30" dirty="0">
                <a:solidFill>
                  <a:srgbClr val="E4DCE6"/>
                </a:solidFill>
                <a:latin typeface="Bricolage Grotesque Extra BoldBricolage Grotesque Extra Bold"/>
                <a:cs typeface="Calibri"/>
              </a:rPr>
              <a:t> </a:t>
            </a:r>
            <a:r>
              <a:rPr lang="en-US" sz="1900" b="1" spc="-10" dirty="0">
                <a:solidFill>
                  <a:srgbClr val="E4DCE6"/>
                </a:solidFill>
                <a:latin typeface="Bricolage Grotesque Extra BoldBricolage Grotesque Extra Bold"/>
                <a:cs typeface="Calibri"/>
              </a:rPr>
              <a:t>Mechanism</a:t>
            </a:r>
            <a:endParaRPr lang="en-US" sz="1900" b="1" dirty="0">
              <a:solidFill>
                <a:srgbClr val="E5DCE6"/>
              </a:solidFill>
              <a:latin typeface="Bricolage Grotesque Extra BoldBricolage Grotesque Extra Bold"/>
              <a:ea typeface="Montserrat" pitchFamily="34" charset="-122"/>
              <a:cs typeface="Montserrat" pitchFamily="34" charset="-120"/>
            </a:endParaRPr>
          </a:p>
          <a:p>
            <a:pPr marL="0" indent="0" algn="l">
              <a:lnSpc>
                <a:spcPts val="2450"/>
              </a:lnSpc>
              <a:buNone/>
            </a:pPr>
            <a:r>
              <a:rPr lang="en-US" sz="1500" dirty="0">
                <a:solidFill>
                  <a:srgbClr val="E5DCE6"/>
                </a:solidFill>
                <a:latin typeface="Montserrat" pitchFamily="34" charset="0"/>
                <a:ea typeface="Montserrat" pitchFamily="34" charset="-122"/>
                <a:cs typeface="Montserrat" pitchFamily="34" charset="-120"/>
              </a:rPr>
              <a:t>Implement a "Report New Fake" feature, allowing users to submit new forged images. This feedback loop will continuously retrain and improve the AI model's accuracy over time.</a:t>
            </a:r>
            <a:endParaRPr lang="en-US" sz="1500" dirty="0"/>
          </a:p>
        </p:txBody>
      </p:sp>
      <p:grpSp>
        <p:nvGrpSpPr>
          <p:cNvPr id="15" name="object 15"/>
          <p:cNvGrpSpPr/>
          <p:nvPr/>
        </p:nvGrpSpPr>
        <p:grpSpPr>
          <a:xfrm>
            <a:off x="782669" y="4103405"/>
            <a:ext cx="4290060" cy="588010"/>
            <a:chOff x="684530" y="4533519"/>
            <a:chExt cx="4290060" cy="588010"/>
          </a:xfrm>
        </p:grpSpPr>
        <p:sp>
          <p:nvSpPr>
            <p:cNvPr id="16" name="object 16"/>
            <p:cNvSpPr/>
            <p:nvPr/>
          </p:nvSpPr>
          <p:spPr>
            <a:xfrm>
              <a:off x="684530" y="4533519"/>
              <a:ext cx="4290060" cy="588010"/>
            </a:xfrm>
            <a:custGeom>
              <a:avLst/>
              <a:gdLst/>
              <a:ahLst/>
              <a:cxnLst/>
              <a:rect l="l" t="t" r="r" b="b"/>
              <a:pathLst>
                <a:path w="4290060" h="588010">
                  <a:moveTo>
                    <a:pt x="3995801" y="0"/>
                  </a:moveTo>
                  <a:lnTo>
                    <a:pt x="294119" y="0"/>
                  </a:lnTo>
                  <a:lnTo>
                    <a:pt x="246409" y="3846"/>
                  </a:lnTo>
                  <a:lnTo>
                    <a:pt x="201151" y="14982"/>
                  </a:lnTo>
                  <a:lnTo>
                    <a:pt x="158950" y="32805"/>
                  </a:lnTo>
                  <a:lnTo>
                    <a:pt x="120412" y="56709"/>
                  </a:lnTo>
                  <a:lnTo>
                    <a:pt x="86142" y="86090"/>
                  </a:lnTo>
                  <a:lnTo>
                    <a:pt x="56745" y="120344"/>
                  </a:lnTo>
                  <a:lnTo>
                    <a:pt x="32827" y="158866"/>
                  </a:lnTo>
                  <a:lnTo>
                    <a:pt x="14993" y="201054"/>
                  </a:lnTo>
                  <a:lnTo>
                    <a:pt x="3849" y="246301"/>
                  </a:lnTo>
                  <a:lnTo>
                    <a:pt x="0" y="294004"/>
                  </a:lnTo>
                  <a:lnTo>
                    <a:pt x="3849" y="341677"/>
                  </a:lnTo>
                  <a:lnTo>
                    <a:pt x="14993" y="386907"/>
                  </a:lnTo>
                  <a:lnTo>
                    <a:pt x="32827" y="429087"/>
                  </a:lnTo>
                  <a:lnTo>
                    <a:pt x="56745" y="467610"/>
                  </a:lnTo>
                  <a:lnTo>
                    <a:pt x="86142" y="501872"/>
                  </a:lnTo>
                  <a:lnTo>
                    <a:pt x="120412" y="531264"/>
                  </a:lnTo>
                  <a:lnTo>
                    <a:pt x="158950" y="555180"/>
                  </a:lnTo>
                  <a:lnTo>
                    <a:pt x="201151" y="573014"/>
                  </a:lnTo>
                  <a:lnTo>
                    <a:pt x="246409" y="584160"/>
                  </a:lnTo>
                  <a:lnTo>
                    <a:pt x="294119" y="588009"/>
                  </a:lnTo>
                  <a:lnTo>
                    <a:pt x="3995801" y="588009"/>
                  </a:lnTo>
                  <a:lnTo>
                    <a:pt x="4043507" y="584160"/>
                  </a:lnTo>
                  <a:lnTo>
                    <a:pt x="4088765" y="573014"/>
                  </a:lnTo>
                  <a:lnTo>
                    <a:pt x="4130966" y="555180"/>
                  </a:lnTo>
                  <a:lnTo>
                    <a:pt x="4169506" y="531264"/>
                  </a:lnTo>
                  <a:lnTo>
                    <a:pt x="4203779" y="501872"/>
                  </a:lnTo>
                  <a:lnTo>
                    <a:pt x="4233179" y="467610"/>
                  </a:lnTo>
                  <a:lnTo>
                    <a:pt x="4257100" y="429087"/>
                  </a:lnTo>
                  <a:lnTo>
                    <a:pt x="4274936" y="386907"/>
                  </a:lnTo>
                  <a:lnTo>
                    <a:pt x="4286082" y="341677"/>
                  </a:lnTo>
                  <a:lnTo>
                    <a:pt x="4289933" y="294004"/>
                  </a:lnTo>
                  <a:lnTo>
                    <a:pt x="4286082" y="246301"/>
                  </a:lnTo>
                  <a:lnTo>
                    <a:pt x="4274936" y="201054"/>
                  </a:lnTo>
                  <a:lnTo>
                    <a:pt x="4257100" y="158866"/>
                  </a:lnTo>
                  <a:lnTo>
                    <a:pt x="4233179" y="120344"/>
                  </a:lnTo>
                  <a:lnTo>
                    <a:pt x="4203779" y="86090"/>
                  </a:lnTo>
                  <a:lnTo>
                    <a:pt x="4169506" y="56709"/>
                  </a:lnTo>
                  <a:lnTo>
                    <a:pt x="4130966" y="32805"/>
                  </a:lnTo>
                  <a:lnTo>
                    <a:pt x="4088765" y="14982"/>
                  </a:lnTo>
                  <a:lnTo>
                    <a:pt x="4043507" y="3846"/>
                  </a:lnTo>
                  <a:lnTo>
                    <a:pt x="3995801" y="0"/>
                  </a:lnTo>
                  <a:close/>
                </a:path>
              </a:pathLst>
            </a:custGeom>
            <a:solidFill>
              <a:srgbClr val="282C5E"/>
            </a:solidFill>
          </p:spPr>
          <p:txBody>
            <a:bodyPr wrap="square" lIns="0" tIns="0" rIns="0" bIns="0" rtlCol="0"/>
            <a:lstStyle/>
            <a:p>
              <a:endParaRPr/>
            </a:p>
          </p:txBody>
        </p:sp>
        <p:pic>
          <p:nvPicPr>
            <p:cNvPr id="17" name="object 17"/>
            <p:cNvPicPr/>
            <p:nvPr/>
          </p:nvPicPr>
          <p:blipFill>
            <a:blip r:embed="rId2" cstate="print"/>
            <a:stretch>
              <a:fillRect/>
            </a:stretch>
          </p:blipFill>
          <p:spPr>
            <a:xfrm>
              <a:off x="2698622" y="4684649"/>
              <a:ext cx="64643" cy="186054"/>
            </a:xfrm>
            <a:prstGeom prst="rect">
              <a:avLst/>
            </a:prstGeom>
          </p:spPr>
        </p:pic>
      </p:grpSp>
      <p:grpSp>
        <p:nvGrpSpPr>
          <p:cNvPr id="18" name="object 18"/>
          <p:cNvGrpSpPr/>
          <p:nvPr/>
        </p:nvGrpSpPr>
        <p:grpSpPr>
          <a:xfrm>
            <a:off x="5170804" y="4116944"/>
            <a:ext cx="4288790" cy="588010"/>
            <a:chOff x="5171059" y="4533519"/>
            <a:chExt cx="4288790" cy="588010"/>
          </a:xfrm>
        </p:grpSpPr>
        <p:sp>
          <p:nvSpPr>
            <p:cNvPr id="19" name="object 19"/>
            <p:cNvSpPr/>
            <p:nvPr/>
          </p:nvSpPr>
          <p:spPr>
            <a:xfrm>
              <a:off x="5171059" y="4533519"/>
              <a:ext cx="4288790" cy="588010"/>
            </a:xfrm>
            <a:custGeom>
              <a:avLst/>
              <a:gdLst/>
              <a:ahLst/>
              <a:cxnLst/>
              <a:rect l="l" t="t" r="r" b="b"/>
              <a:pathLst>
                <a:path w="4288790" h="588010">
                  <a:moveTo>
                    <a:pt x="3994149" y="0"/>
                  </a:moveTo>
                  <a:lnTo>
                    <a:pt x="294131" y="0"/>
                  </a:lnTo>
                  <a:lnTo>
                    <a:pt x="246425" y="3846"/>
                  </a:lnTo>
                  <a:lnTo>
                    <a:pt x="201168" y="14982"/>
                  </a:lnTo>
                  <a:lnTo>
                    <a:pt x="158966" y="32805"/>
                  </a:lnTo>
                  <a:lnTo>
                    <a:pt x="120426" y="56709"/>
                  </a:lnTo>
                  <a:lnTo>
                    <a:pt x="86153" y="86090"/>
                  </a:lnTo>
                  <a:lnTo>
                    <a:pt x="56753" y="120344"/>
                  </a:lnTo>
                  <a:lnTo>
                    <a:pt x="32832" y="158866"/>
                  </a:lnTo>
                  <a:lnTo>
                    <a:pt x="14996" y="201054"/>
                  </a:lnTo>
                  <a:lnTo>
                    <a:pt x="3850" y="246301"/>
                  </a:lnTo>
                  <a:lnTo>
                    <a:pt x="0" y="294004"/>
                  </a:lnTo>
                  <a:lnTo>
                    <a:pt x="3850" y="341677"/>
                  </a:lnTo>
                  <a:lnTo>
                    <a:pt x="14996" y="386907"/>
                  </a:lnTo>
                  <a:lnTo>
                    <a:pt x="32832" y="429087"/>
                  </a:lnTo>
                  <a:lnTo>
                    <a:pt x="56753" y="467610"/>
                  </a:lnTo>
                  <a:lnTo>
                    <a:pt x="86153" y="501872"/>
                  </a:lnTo>
                  <a:lnTo>
                    <a:pt x="120426" y="531264"/>
                  </a:lnTo>
                  <a:lnTo>
                    <a:pt x="158966" y="555180"/>
                  </a:lnTo>
                  <a:lnTo>
                    <a:pt x="201167" y="573014"/>
                  </a:lnTo>
                  <a:lnTo>
                    <a:pt x="246425" y="584160"/>
                  </a:lnTo>
                  <a:lnTo>
                    <a:pt x="294131" y="588009"/>
                  </a:lnTo>
                  <a:lnTo>
                    <a:pt x="3994149" y="588009"/>
                  </a:lnTo>
                  <a:lnTo>
                    <a:pt x="4041856" y="584160"/>
                  </a:lnTo>
                  <a:lnTo>
                    <a:pt x="4087114" y="573014"/>
                  </a:lnTo>
                  <a:lnTo>
                    <a:pt x="4129315" y="555180"/>
                  </a:lnTo>
                  <a:lnTo>
                    <a:pt x="4167855" y="531264"/>
                  </a:lnTo>
                  <a:lnTo>
                    <a:pt x="4202128" y="501872"/>
                  </a:lnTo>
                  <a:lnTo>
                    <a:pt x="4231528" y="467610"/>
                  </a:lnTo>
                  <a:lnTo>
                    <a:pt x="4255449" y="429087"/>
                  </a:lnTo>
                  <a:lnTo>
                    <a:pt x="4273285" y="386907"/>
                  </a:lnTo>
                  <a:lnTo>
                    <a:pt x="4284431" y="341677"/>
                  </a:lnTo>
                  <a:lnTo>
                    <a:pt x="4288282" y="294004"/>
                  </a:lnTo>
                  <a:lnTo>
                    <a:pt x="4284431" y="246301"/>
                  </a:lnTo>
                  <a:lnTo>
                    <a:pt x="4273285" y="201054"/>
                  </a:lnTo>
                  <a:lnTo>
                    <a:pt x="4255449" y="158866"/>
                  </a:lnTo>
                  <a:lnTo>
                    <a:pt x="4231528" y="120344"/>
                  </a:lnTo>
                  <a:lnTo>
                    <a:pt x="4202128" y="86090"/>
                  </a:lnTo>
                  <a:lnTo>
                    <a:pt x="4167855" y="56709"/>
                  </a:lnTo>
                  <a:lnTo>
                    <a:pt x="4129315" y="32805"/>
                  </a:lnTo>
                  <a:lnTo>
                    <a:pt x="4087113" y="14982"/>
                  </a:lnTo>
                  <a:lnTo>
                    <a:pt x="4041856" y="3846"/>
                  </a:lnTo>
                  <a:lnTo>
                    <a:pt x="3994149" y="0"/>
                  </a:lnTo>
                  <a:close/>
                </a:path>
              </a:pathLst>
            </a:custGeom>
            <a:solidFill>
              <a:srgbClr val="282C5E"/>
            </a:solidFill>
          </p:spPr>
          <p:txBody>
            <a:bodyPr wrap="square" lIns="0" tIns="0" rIns="0" bIns="0" rtlCol="0"/>
            <a:lstStyle/>
            <a:p>
              <a:endParaRPr/>
            </a:p>
          </p:txBody>
        </p:sp>
        <p:pic>
          <p:nvPicPr>
            <p:cNvPr id="20" name="object 20"/>
            <p:cNvPicPr/>
            <p:nvPr/>
          </p:nvPicPr>
          <p:blipFill>
            <a:blip r:embed="rId3" cstate="print"/>
            <a:stretch>
              <a:fillRect/>
            </a:stretch>
          </p:blipFill>
          <p:spPr>
            <a:xfrm>
              <a:off x="7187311" y="4683125"/>
              <a:ext cx="130810" cy="187578"/>
            </a:xfrm>
            <a:prstGeom prst="rect">
              <a:avLst/>
            </a:prstGeom>
          </p:spPr>
        </p:pic>
      </p:grpSp>
      <p:pic>
        <p:nvPicPr>
          <p:cNvPr id="21" name="object 21"/>
          <p:cNvPicPr/>
          <p:nvPr/>
        </p:nvPicPr>
        <p:blipFill>
          <a:blip r:embed="rId4" cstate="print"/>
          <a:stretch>
            <a:fillRect/>
          </a:stretch>
        </p:blipFill>
        <p:spPr>
          <a:xfrm>
            <a:off x="0" y="0"/>
            <a:ext cx="14630399" cy="2567940"/>
          </a:xfrm>
          <a:prstGeom prst="rect">
            <a:avLst/>
          </a:prstGeom>
        </p:spPr>
      </p:pic>
      <p:grpSp>
        <p:nvGrpSpPr>
          <p:cNvPr id="22" name="object 22"/>
          <p:cNvGrpSpPr/>
          <p:nvPr/>
        </p:nvGrpSpPr>
        <p:grpSpPr>
          <a:xfrm>
            <a:off x="9557671" y="4090855"/>
            <a:ext cx="4290060" cy="588010"/>
            <a:chOff x="9655936" y="4533519"/>
            <a:chExt cx="4290060" cy="588010"/>
          </a:xfrm>
        </p:grpSpPr>
        <p:sp>
          <p:nvSpPr>
            <p:cNvPr id="23" name="object 23"/>
            <p:cNvSpPr/>
            <p:nvPr/>
          </p:nvSpPr>
          <p:spPr>
            <a:xfrm>
              <a:off x="9655936" y="4533519"/>
              <a:ext cx="4290060" cy="588010"/>
            </a:xfrm>
            <a:custGeom>
              <a:avLst/>
              <a:gdLst/>
              <a:ahLst/>
              <a:cxnLst/>
              <a:rect l="l" t="t" r="r" b="b"/>
              <a:pathLst>
                <a:path w="4290059" h="588010">
                  <a:moveTo>
                    <a:pt x="3995801" y="0"/>
                  </a:moveTo>
                  <a:lnTo>
                    <a:pt x="294132" y="0"/>
                  </a:lnTo>
                  <a:lnTo>
                    <a:pt x="246425" y="3846"/>
                  </a:lnTo>
                  <a:lnTo>
                    <a:pt x="201168" y="14982"/>
                  </a:lnTo>
                  <a:lnTo>
                    <a:pt x="158966" y="32805"/>
                  </a:lnTo>
                  <a:lnTo>
                    <a:pt x="120426" y="56709"/>
                  </a:lnTo>
                  <a:lnTo>
                    <a:pt x="86153" y="86090"/>
                  </a:lnTo>
                  <a:lnTo>
                    <a:pt x="56753" y="120344"/>
                  </a:lnTo>
                  <a:lnTo>
                    <a:pt x="32832" y="158866"/>
                  </a:lnTo>
                  <a:lnTo>
                    <a:pt x="14996" y="201054"/>
                  </a:lnTo>
                  <a:lnTo>
                    <a:pt x="3850" y="246301"/>
                  </a:lnTo>
                  <a:lnTo>
                    <a:pt x="0" y="294004"/>
                  </a:lnTo>
                  <a:lnTo>
                    <a:pt x="3850" y="341677"/>
                  </a:lnTo>
                  <a:lnTo>
                    <a:pt x="14996" y="386907"/>
                  </a:lnTo>
                  <a:lnTo>
                    <a:pt x="32832" y="429087"/>
                  </a:lnTo>
                  <a:lnTo>
                    <a:pt x="56753" y="467610"/>
                  </a:lnTo>
                  <a:lnTo>
                    <a:pt x="86153" y="501872"/>
                  </a:lnTo>
                  <a:lnTo>
                    <a:pt x="120426" y="531264"/>
                  </a:lnTo>
                  <a:lnTo>
                    <a:pt x="158966" y="555180"/>
                  </a:lnTo>
                  <a:lnTo>
                    <a:pt x="201168" y="573014"/>
                  </a:lnTo>
                  <a:lnTo>
                    <a:pt x="246425" y="584160"/>
                  </a:lnTo>
                  <a:lnTo>
                    <a:pt x="294132" y="588009"/>
                  </a:lnTo>
                  <a:lnTo>
                    <a:pt x="3995801" y="588009"/>
                  </a:lnTo>
                  <a:lnTo>
                    <a:pt x="4043507" y="584160"/>
                  </a:lnTo>
                  <a:lnTo>
                    <a:pt x="4088765" y="573014"/>
                  </a:lnTo>
                  <a:lnTo>
                    <a:pt x="4130966" y="555180"/>
                  </a:lnTo>
                  <a:lnTo>
                    <a:pt x="4169506" y="531264"/>
                  </a:lnTo>
                  <a:lnTo>
                    <a:pt x="4203779" y="501872"/>
                  </a:lnTo>
                  <a:lnTo>
                    <a:pt x="4233179" y="467610"/>
                  </a:lnTo>
                  <a:lnTo>
                    <a:pt x="4257100" y="429087"/>
                  </a:lnTo>
                  <a:lnTo>
                    <a:pt x="4274936" y="386907"/>
                  </a:lnTo>
                  <a:lnTo>
                    <a:pt x="4286082" y="341677"/>
                  </a:lnTo>
                  <a:lnTo>
                    <a:pt x="4289933" y="294004"/>
                  </a:lnTo>
                  <a:lnTo>
                    <a:pt x="4286082" y="246301"/>
                  </a:lnTo>
                  <a:lnTo>
                    <a:pt x="4274936" y="201054"/>
                  </a:lnTo>
                  <a:lnTo>
                    <a:pt x="4257100" y="158866"/>
                  </a:lnTo>
                  <a:lnTo>
                    <a:pt x="4233179" y="120344"/>
                  </a:lnTo>
                  <a:lnTo>
                    <a:pt x="4203779" y="86090"/>
                  </a:lnTo>
                  <a:lnTo>
                    <a:pt x="4169506" y="56709"/>
                  </a:lnTo>
                  <a:lnTo>
                    <a:pt x="4130966" y="32805"/>
                  </a:lnTo>
                  <a:lnTo>
                    <a:pt x="4088765" y="14982"/>
                  </a:lnTo>
                  <a:lnTo>
                    <a:pt x="4043507" y="3846"/>
                  </a:lnTo>
                  <a:lnTo>
                    <a:pt x="3995801" y="0"/>
                  </a:lnTo>
                  <a:close/>
                </a:path>
              </a:pathLst>
            </a:custGeom>
            <a:solidFill>
              <a:srgbClr val="282C5E"/>
            </a:solidFill>
          </p:spPr>
          <p:txBody>
            <a:bodyPr wrap="square" lIns="0" tIns="0" rIns="0" bIns="0" rtlCol="0"/>
            <a:lstStyle/>
            <a:p>
              <a:endParaRPr/>
            </a:p>
          </p:txBody>
        </p:sp>
        <p:pic>
          <p:nvPicPr>
            <p:cNvPr id="24" name="object 24"/>
            <p:cNvPicPr/>
            <p:nvPr/>
          </p:nvPicPr>
          <p:blipFill>
            <a:blip r:embed="rId5" cstate="print"/>
            <a:stretch>
              <a:fillRect/>
            </a:stretch>
          </p:blipFill>
          <p:spPr>
            <a:xfrm>
              <a:off x="11671045" y="4683125"/>
              <a:ext cx="134493" cy="190246"/>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F39A3C0-A433-458A-9B38-CF2E75008F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206" y="141941"/>
            <a:ext cx="14135987" cy="7945717"/>
          </a:xfrm>
          <a:prstGeom prst="rect">
            <a:avLst/>
          </a:prstGeom>
          <a:ln>
            <a:noFill/>
          </a:ln>
          <a:effectLst>
            <a:softEdge rad="112500"/>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229</TotalTime>
  <Words>1958</Words>
  <Application>Microsoft Office PowerPoint</Application>
  <PresentationFormat>Custom</PresentationFormat>
  <Paragraphs>143</Paragraphs>
  <Slides>18</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Malgun Gothic</vt:lpstr>
      <vt:lpstr>Bricolage Grotesque Extra Bold</vt:lpstr>
      <vt:lpstr>Bricolage Grotesque Extra BoldBricolage Grotesque Extra Bold</vt:lpstr>
      <vt:lpstr>CalibBricolage Grotesque Extra Boldri</vt:lpstr>
      <vt:lpstr>Calibri</vt:lpstr>
      <vt:lpstr>Consolas</vt:lpstr>
      <vt:lpstr>Montserrat</vt:lpstr>
      <vt:lpstr>Office Theme</vt:lpstr>
      <vt:lpstr>UPI - FRAUD DETECTION Securing Digital Payments in India</vt:lpstr>
      <vt:lpstr>The Challenge The Problem: A Real-World Threat</vt:lpstr>
      <vt:lpstr>Understanding the Vulnerability  The "Security Gap" We Found</vt:lpstr>
      <vt:lpstr>Our Solution: "UPI-Shield" A Secure, Full-Stack Web Application with a Hybrid AI Engine</vt:lpstr>
      <vt:lpstr>PowerPoint Presentation</vt:lpstr>
      <vt:lpstr>The "Hybrid Brain" - Part 1: The CNN</vt:lpstr>
      <vt:lpstr>The "Hybrid Brain" - Part 2: The OCR</vt:lpstr>
      <vt:lpstr>Phase 1: Data Pipeline &amp; Training.</vt:lpstr>
      <vt:lpstr>The Application's Backbone </vt:lpstr>
      <vt:lpstr>Phase 2: Security &amp; Authentication This is not just a demo. It's a secure application.</vt:lpstr>
      <vt:lpstr>PowerPoint Presentation</vt:lpstr>
      <vt:lpstr>Phase 2: The User-Centric "Face" (Frontend)</vt:lpstr>
      <vt:lpstr>UI Showcase: Secure Login &amp; Profile</vt:lpstr>
      <vt:lpstr>UI Showcase: The Detector in Action (FAKE)</vt:lpstr>
      <vt:lpstr>PowerPoint Presentation</vt:lpstr>
      <vt:lpstr>Conclusion &amp; Key Challenges</vt:lpstr>
      <vt:lpstr>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UPI - FRAUD DETECTION Securing Digital Payments in India</dc:title>
  <dc:creator>Smiley .</dc:creator>
  <cp:lastModifiedBy>G. jeevan</cp:lastModifiedBy>
  <cp:revision>16</cp:revision>
  <dcterms:created xsi:type="dcterms:W3CDTF">2025-11-17T05:31:05Z</dcterms:created>
  <dcterms:modified xsi:type="dcterms:W3CDTF">2025-11-17T09:55:42Z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2025-11-17T00:00:00Z</vt:filetime>
  </property>
  <property fmtid="{D5CDD505-2E9C-101B-9397-08002B2CF9AE}" pid="3" name="Creator">
    <vt:lpwstr>Microsoft® Word 2021</vt:lpwstr>
  </property>
  <property fmtid="{D5CDD505-2E9C-101B-9397-08002B2CF9AE}" pid="4" name="LastSaved">
    <vt:filetime>2025-11-17T00:00:00Z</vt:filetime>
  </property>
  <property fmtid="{D5CDD505-2E9C-101B-9397-08002B2CF9AE}" pid="5" name="Producer">
    <vt:lpwstr>Microsoft® Word 2021</vt:lpwstr>
  </property>
</Properties>
</file>